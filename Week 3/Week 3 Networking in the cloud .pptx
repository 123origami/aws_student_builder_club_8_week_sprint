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agalin" charset="1" panose="00000500000000000000"/>
      <p:regular r:id="rId16"/>
    </p:embeddedFont>
    <p:embeddedFont>
      <p:font typeface="Inter Bold" charset="1" panose="02000503000000020004"/>
      <p:regular r:id="rId17"/>
    </p:embeddedFont>
    <p:embeddedFont>
      <p:font typeface="Inter Italics" charset="1" panose="02000503000000020004"/>
      <p:regular r:id="rId18"/>
    </p:embeddedFont>
    <p:embeddedFont>
      <p:font typeface="Anton" charset="1" panose="00000500000000000000"/>
      <p:regular r:id="rId19"/>
    </p:embeddedFont>
    <p:embeddedFont>
      <p:font typeface="Antic" charset="1" panose="00000000000000000000"/>
      <p:regular r:id="rId20"/>
    </p:embeddedFont>
    <p:embeddedFont>
      <p:font typeface="Sigher" charset="1" panose="00000000000000000000"/>
      <p:regular r:id="rId21"/>
    </p:embeddedFont>
    <p:embeddedFont>
      <p:font typeface="Antic Bol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18.png" Type="http://schemas.openxmlformats.org/officeDocument/2006/relationships/image"/><Relationship Id="rId14" Target="../media/image19.svg" Type="http://schemas.openxmlformats.org/officeDocument/2006/relationships/image"/><Relationship Id="rId2" Target="../media/image7.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sp>
        <p:nvSpPr>
          <p:cNvPr name="Freeform 2" id="2"/>
          <p:cNvSpPr/>
          <p:nvPr/>
        </p:nvSpPr>
        <p:spPr>
          <a:xfrm flipH="false" flipV="false" rot="0">
            <a:off x="-1491015"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75228" y="-6376749"/>
            <a:ext cx="8266243" cy="8266243"/>
          </a:xfrm>
          <a:custGeom>
            <a:avLst/>
            <a:gdLst/>
            <a:ahLst/>
            <a:cxnLst/>
            <a:rect r="r" b="b" t="t" l="l"/>
            <a:pathLst>
              <a:path h="8266243" w="8266243">
                <a:moveTo>
                  <a:pt x="0" y="0"/>
                </a:moveTo>
                <a:lnTo>
                  <a:pt x="8266242" y="0"/>
                </a:lnTo>
                <a:lnTo>
                  <a:pt x="8266242"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041470"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26946" y="2246728"/>
            <a:ext cx="2315166" cy="3492046"/>
          </a:xfrm>
          <a:custGeom>
            <a:avLst/>
            <a:gdLst/>
            <a:ahLst/>
            <a:cxnLst/>
            <a:rect r="r" b="b" t="t" l="l"/>
            <a:pathLst>
              <a:path h="3492046" w="2315166">
                <a:moveTo>
                  <a:pt x="0" y="0"/>
                </a:moveTo>
                <a:lnTo>
                  <a:pt x="2315165" y="0"/>
                </a:lnTo>
                <a:lnTo>
                  <a:pt x="2315165" y="3492046"/>
                </a:lnTo>
                <a:lnTo>
                  <a:pt x="0" y="34920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4071" y="2373278"/>
            <a:ext cx="1980905" cy="2477110"/>
          </a:xfrm>
          <a:prstGeom prst="rect">
            <a:avLst/>
          </a:prstGeom>
        </p:spPr>
        <p:txBody>
          <a:bodyPr anchor="t" rtlCol="false" tIns="0" lIns="0" bIns="0" rIns="0">
            <a:spAutoFit/>
          </a:bodyPr>
          <a:lstStyle/>
          <a:p>
            <a:pPr algn="ctr">
              <a:lnSpc>
                <a:spcPts val="9939"/>
              </a:lnSpc>
            </a:pPr>
            <a:r>
              <a:rPr lang="en-US" sz="7098">
                <a:solidFill>
                  <a:srgbClr val="000000"/>
                </a:solidFill>
                <a:latin typeface="Gagalin"/>
                <a:ea typeface="Gagalin"/>
                <a:cs typeface="Gagalin"/>
                <a:sym typeface="Gagalin"/>
              </a:rPr>
              <a:t>week</a:t>
            </a:r>
          </a:p>
          <a:p>
            <a:pPr algn="ctr">
              <a:lnSpc>
                <a:spcPts val="9939"/>
              </a:lnSpc>
            </a:pPr>
            <a:r>
              <a:rPr lang="en-US" sz="7098">
                <a:solidFill>
                  <a:srgbClr val="000000"/>
                </a:solidFill>
                <a:latin typeface="Gagalin"/>
                <a:ea typeface="Gagalin"/>
                <a:cs typeface="Gagalin"/>
                <a:sym typeface="Gagalin"/>
              </a:rPr>
              <a:t>3</a:t>
            </a:r>
          </a:p>
        </p:txBody>
      </p:sp>
      <p:sp>
        <p:nvSpPr>
          <p:cNvPr name="Freeform 7" id="7"/>
          <p:cNvSpPr/>
          <p:nvPr/>
        </p:nvSpPr>
        <p:spPr>
          <a:xfrm flipH="false" flipV="false" rot="0">
            <a:off x="2642111" y="3992751"/>
            <a:ext cx="15162552" cy="3611442"/>
          </a:xfrm>
          <a:custGeom>
            <a:avLst/>
            <a:gdLst/>
            <a:ahLst/>
            <a:cxnLst/>
            <a:rect r="r" b="b" t="t" l="l"/>
            <a:pathLst>
              <a:path h="3611442" w="15162552">
                <a:moveTo>
                  <a:pt x="0" y="0"/>
                </a:moveTo>
                <a:lnTo>
                  <a:pt x="15162552" y="0"/>
                </a:lnTo>
                <a:lnTo>
                  <a:pt x="15162552" y="3611442"/>
                </a:lnTo>
                <a:lnTo>
                  <a:pt x="0" y="3611442"/>
                </a:lnTo>
                <a:lnTo>
                  <a:pt x="0" y="0"/>
                </a:lnTo>
                <a:close/>
              </a:path>
            </a:pathLst>
          </a:custGeom>
          <a:blipFill>
            <a:blip r:embed="rId6">
              <a:extLst>
                <a:ext uri="{96DAC541-7B7A-43D3-8B79-37D633B846F1}">
                  <asvg:svgBlip xmlns:asvg="http://schemas.microsoft.com/office/drawing/2016/SVG/main" r:embed="rId7"/>
                </a:ext>
              </a:extLst>
            </a:blip>
            <a:stretch>
              <a:fillRect l="-80" t="0" r="-80" b="0"/>
            </a:stretch>
          </a:blipFill>
        </p:spPr>
      </p:sp>
      <p:sp>
        <p:nvSpPr>
          <p:cNvPr name="TextBox 8" id="8"/>
          <p:cNvSpPr txBox="true"/>
          <p:nvPr/>
        </p:nvSpPr>
        <p:spPr>
          <a:xfrm rot="0">
            <a:off x="3887772" y="1848860"/>
            <a:ext cx="12768272" cy="5060950"/>
          </a:xfrm>
          <a:prstGeom prst="rect">
            <a:avLst/>
          </a:prstGeom>
        </p:spPr>
        <p:txBody>
          <a:bodyPr anchor="t" rtlCol="false" tIns="0" lIns="0" bIns="0" rIns="0">
            <a:spAutoFit/>
          </a:bodyPr>
          <a:lstStyle/>
          <a:p>
            <a:pPr algn="ctr">
              <a:lnSpc>
                <a:spcPts val="20300"/>
              </a:lnSpc>
            </a:pPr>
            <a:r>
              <a:rPr lang="en-US" sz="14500">
                <a:solidFill>
                  <a:srgbClr val="FDA104"/>
                </a:solidFill>
                <a:latin typeface="Gagalin"/>
                <a:ea typeface="Gagalin"/>
                <a:cs typeface="Gagalin"/>
                <a:sym typeface="Gagalin"/>
              </a:rPr>
              <a:t>NETWORKING</a:t>
            </a:r>
            <a:r>
              <a:rPr lang="en-US" sz="14500">
                <a:solidFill>
                  <a:srgbClr val="FDA104"/>
                </a:solidFill>
                <a:latin typeface="Gagalin"/>
                <a:ea typeface="Gagalin"/>
                <a:cs typeface="Gagalin"/>
                <a:sym typeface="Gagalin"/>
              </a:rPr>
              <a:t>:</a:t>
            </a:r>
          </a:p>
          <a:p>
            <a:pPr algn="ctr">
              <a:lnSpc>
                <a:spcPts val="20300"/>
              </a:lnSpc>
            </a:pPr>
            <a:r>
              <a:rPr lang="en-US" sz="14500">
                <a:solidFill>
                  <a:srgbClr val="FFFFFF"/>
                </a:solidFill>
                <a:latin typeface="Gagalin"/>
                <a:ea typeface="Gagalin"/>
                <a:cs typeface="Gagalin"/>
                <a:sym typeface="Gagalin"/>
              </a:rPr>
              <a:t>AWS VPC</a:t>
            </a:r>
          </a:p>
        </p:txBody>
      </p:sp>
      <p:sp>
        <p:nvSpPr>
          <p:cNvPr name="TextBox 9" id="9"/>
          <p:cNvSpPr txBox="true"/>
          <p:nvPr/>
        </p:nvSpPr>
        <p:spPr>
          <a:xfrm rot="0">
            <a:off x="623306" y="5538740"/>
            <a:ext cx="2018805" cy="2034035"/>
          </a:xfrm>
          <a:prstGeom prst="rect">
            <a:avLst/>
          </a:prstGeom>
        </p:spPr>
        <p:txBody>
          <a:bodyPr anchor="t" rtlCol="false" tIns="0" lIns="0" bIns="0" rIns="0">
            <a:spAutoFit/>
          </a:bodyPr>
          <a:lstStyle/>
          <a:p>
            <a:pPr algn="ctr">
              <a:lnSpc>
                <a:spcPts val="7811"/>
              </a:lnSpc>
            </a:pPr>
            <a:r>
              <a:rPr lang="en-US" sz="5578">
                <a:solidFill>
                  <a:srgbClr val="FFFFFF"/>
                </a:solidFill>
                <a:latin typeface="Gagalin"/>
                <a:ea typeface="Gagalin"/>
                <a:cs typeface="Gagalin"/>
                <a:sym typeface="Gagalin"/>
              </a:rPr>
              <a:t>CLOUD </a:t>
            </a:r>
          </a:p>
          <a:p>
            <a:pPr algn="ctr">
              <a:lnSpc>
                <a:spcPts val="7811"/>
              </a:lnSpc>
            </a:pPr>
          </a:p>
        </p:txBody>
      </p:sp>
      <p:sp>
        <p:nvSpPr>
          <p:cNvPr name="TextBox 10" id="10"/>
          <p:cNvSpPr txBox="true"/>
          <p:nvPr/>
        </p:nvSpPr>
        <p:spPr>
          <a:xfrm rot="0">
            <a:off x="604256" y="6382045"/>
            <a:ext cx="1825371" cy="2034026"/>
          </a:xfrm>
          <a:prstGeom prst="rect">
            <a:avLst/>
          </a:prstGeom>
        </p:spPr>
        <p:txBody>
          <a:bodyPr anchor="t" rtlCol="false" tIns="0" lIns="0" bIns="0" rIns="0">
            <a:spAutoFit/>
          </a:bodyPr>
          <a:lstStyle/>
          <a:p>
            <a:pPr algn="ctr">
              <a:lnSpc>
                <a:spcPts val="7811"/>
              </a:lnSpc>
            </a:pPr>
            <a:r>
              <a:rPr lang="en-US" sz="5578">
                <a:solidFill>
                  <a:srgbClr val="FDA104"/>
                </a:solidFill>
                <a:latin typeface="Gagalin"/>
                <a:ea typeface="Gagalin"/>
                <a:cs typeface="Gagalin"/>
                <a:sym typeface="Gagalin"/>
              </a:rPr>
              <a:t>FORGE</a:t>
            </a:r>
          </a:p>
          <a:p>
            <a:pPr algn="ctr">
              <a:lnSpc>
                <a:spcPts val="7811"/>
              </a:lnSpc>
            </a:pPr>
          </a:p>
        </p:txBody>
      </p:sp>
      <p:sp>
        <p:nvSpPr>
          <p:cNvPr name="TextBox 11" id="11"/>
          <p:cNvSpPr txBox="true"/>
          <p:nvPr/>
        </p:nvSpPr>
        <p:spPr>
          <a:xfrm rot="0">
            <a:off x="-1002992" y="-100012"/>
            <a:ext cx="8884891" cy="580711"/>
          </a:xfrm>
          <a:prstGeom prst="rect">
            <a:avLst/>
          </a:prstGeom>
        </p:spPr>
        <p:txBody>
          <a:bodyPr anchor="t" rtlCol="false" tIns="0" lIns="0" bIns="0" rIns="0">
            <a:spAutoFit/>
          </a:bodyPr>
          <a:lstStyle/>
          <a:p>
            <a:pPr algn="ctr">
              <a:lnSpc>
                <a:spcPts val="4480"/>
              </a:lnSpc>
            </a:pPr>
            <a:r>
              <a:rPr lang="en-US" sz="3200" b="true">
                <a:solidFill>
                  <a:srgbClr val="FDA104"/>
                </a:solidFill>
                <a:latin typeface="Inter Bold"/>
                <a:ea typeface="Inter Bold"/>
                <a:cs typeface="Inter Bold"/>
                <a:sym typeface="Inter Bold"/>
              </a:rPr>
              <a:t>AWS STUDENT BUILDER GROUP</a:t>
            </a:r>
          </a:p>
        </p:txBody>
      </p:sp>
      <p:sp>
        <p:nvSpPr>
          <p:cNvPr name="TextBox 12" id="12"/>
          <p:cNvSpPr txBox="true"/>
          <p:nvPr/>
        </p:nvSpPr>
        <p:spPr>
          <a:xfrm rot="0">
            <a:off x="921458" y="413861"/>
            <a:ext cx="5667785" cy="424967"/>
          </a:xfrm>
          <a:prstGeom prst="rect">
            <a:avLst/>
          </a:prstGeom>
        </p:spPr>
        <p:txBody>
          <a:bodyPr anchor="t" rtlCol="false" tIns="0" lIns="0" bIns="0" rIns="0">
            <a:spAutoFit/>
          </a:bodyPr>
          <a:lstStyle/>
          <a:p>
            <a:pPr algn="ctr">
              <a:lnSpc>
                <a:spcPts val="3220"/>
              </a:lnSpc>
            </a:pPr>
            <a:r>
              <a:rPr lang="en-US" sz="2300" i="true">
                <a:solidFill>
                  <a:srgbClr val="FDA104"/>
                </a:solidFill>
                <a:latin typeface="Inter Italics"/>
                <a:ea typeface="Inter Italics"/>
                <a:cs typeface="Inter Italics"/>
                <a:sym typeface="Inter Italics"/>
              </a:rPr>
              <a:t>EGERTON UNIVERSITY</a:t>
            </a:r>
          </a:p>
        </p:txBody>
      </p:sp>
      <p:sp>
        <p:nvSpPr>
          <p:cNvPr name="TextBox 13" id="13"/>
          <p:cNvSpPr txBox="true"/>
          <p:nvPr/>
        </p:nvSpPr>
        <p:spPr>
          <a:xfrm rot="0">
            <a:off x="1991058" y="876300"/>
            <a:ext cx="2896791" cy="682628"/>
          </a:xfrm>
          <a:prstGeom prst="rect">
            <a:avLst/>
          </a:prstGeom>
        </p:spPr>
        <p:txBody>
          <a:bodyPr anchor="t" rtlCol="false" tIns="0" lIns="0" bIns="0" rIns="0">
            <a:spAutoFit/>
          </a:bodyPr>
          <a:lstStyle/>
          <a:p>
            <a:pPr algn="ctr">
              <a:lnSpc>
                <a:spcPts val="4900"/>
              </a:lnSpc>
            </a:pPr>
            <a:r>
              <a:rPr lang="en-US" sz="3500">
                <a:solidFill>
                  <a:srgbClr val="4D4D4D"/>
                </a:solidFill>
                <a:latin typeface="Anton"/>
                <a:ea typeface="Anton"/>
                <a:cs typeface="Anton"/>
                <a:sym typeface="Anton"/>
              </a:rPr>
              <a:t>PRESENTS</a:t>
            </a:r>
          </a:p>
        </p:txBody>
      </p:sp>
      <p:sp>
        <p:nvSpPr>
          <p:cNvPr name="TextBox 14" id="14"/>
          <p:cNvSpPr txBox="true"/>
          <p:nvPr/>
        </p:nvSpPr>
        <p:spPr>
          <a:xfrm rot="0">
            <a:off x="14360119" y="9201150"/>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5" id="15"/>
          <p:cNvSpPr txBox="true"/>
          <p:nvPr/>
        </p:nvSpPr>
        <p:spPr>
          <a:xfrm rot="0">
            <a:off x="3242172" y="9181176"/>
            <a:ext cx="1730425"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25th June 2026</a:t>
            </a:r>
          </a:p>
        </p:txBody>
      </p:sp>
      <p:sp>
        <p:nvSpPr>
          <p:cNvPr name="TextBox 16" id="16"/>
          <p:cNvSpPr txBox="true"/>
          <p:nvPr/>
        </p:nvSpPr>
        <p:spPr>
          <a:xfrm rot="0">
            <a:off x="0" y="9201150"/>
            <a:ext cx="2642111"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Ephy Kimotho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sp>
        <p:nvSpPr>
          <p:cNvPr name="TextBox 4" id="4"/>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Freeform 5" id="5"/>
          <p:cNvSpPr/>
          <p:nvPr/>
        </p:nvSpPr>
        <p:spPr>
          <a:xfrm flipH="false" flipV="false" rot="0">
            <a:off x="954386" y="2004184"/>
            <a:ext cx="7920342" cy="7273109"/>
          </a:xfrm>
          <a:custGeom>
            <a:avLst/>
            <a:gdLst/>
            <a:ahLst/>
            <a:cxnLst/>
            <a:rect r="r" b="b" t="t" l="l"/>
            <a:pathLst>
              <a:path h="7273109" w="7920342">
                <a:moveTo>
                  <a:pt x="0" y="0"/>
                </a:moveTo>
                <a:lnTo>
                  <a:pt x="7920342" y="0"/>
                </a:lnTo>
                <a:lnTo>
                  <a:pt x="7920342"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914867" y="1771650"/>
            <a:ext cx="38100" cy="7524693"/>
            <a:chOff x="0" y="0"/>
            <a:chExt cx="50800" cy="10032924"/>
          </a:xfrm>
        </p:grpSpPr>
        <p:sp>
          <p:nvSpPr>
            <p:cNvPr name="Freeform 7" id="7"/>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8" id="8"/>
          <p:cNvGrpSpPr/>
          <p:nvPr/>
        </p:nvGrpSpPr>
        <p:grpSpPr>
          <a:xfrm rot="0">
            <a:off x="636137" y="2254625"/>
            <a:ext cx="38100" cy="7524693"/>
            <a:chOff x="0" y="0"/>
            <a:chExt cx="50800" cy="10032924"/>
          </a:xfrm>
        </p:grpSpPr>
        <p:sp>
          <p:nvSpPr>
            <p:cNvPr name="Freeform 9" id="9"/>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0" id="10"/>
          <p:cNvGrpSpPr/>
          <p:nvPr/>
        </p:nvGrpSpPr>
        <p:grpSpPr>
          <a:xfrm rot="0">
            <a:off x="226028" y="1495425"/>
            <a:ext cx="17297400" cy="38100"/>
            <a:chOff x="0" y="0"/>
            <a:chExt cx="23063200" cy="50800"/>
          </a:xfrm>
        </p:grpSpPr>
        <p:sp>
          <p:nvSpPr>
            <p:cNvPr name="Freeform 11" id="11"/>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grpSp>
        <p:nvGrpSpPr>
          <p:cNvPr name="Group 12" id="12"/>
          <p:cNvGrpSpPr/>
          <p:nvPr/>
        </p:nvGrpSpPr>
        <p:grpSpPr>
          <a:xfrm rot="0">
            <a:off x="9831353" y="1771650"/>
            <a:ext cx="38100" cy="7524693"/>
            <a:chOff x="0" y="0"/>
            <a:chExt cx="50800" cy="10032924"/>
          </a:xfrm>
        </p:grpSpPr>
        <p:sp>
          <p:nvSpPr>
            <p:cNvPr name="Freeform 13" id="13"/>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4" id="14"/>
          <p:cNvGrpSpPr/>
          <p:nvPr/>
        </p:nvGrpSpPr>
        <p:grpSpPr>
          <a:xfrm rot="0">
            <a:off x="9552622" y="2254625"/>
            <a:ext cx="38100" cy="7524693"/>
            <a:chOff x="0" y="0"/>
            <a:chExt cx="50800" cy="10032924"/>
          </a:xfrm>
        </p:grpSpPr>
        <p:sp>
          <p:nvSpPr>
            <p:cNvPr name="Freeform 15" id="15"/>
            <p:cNvSpPr/>
            <p:nvPr/>
          </p:nvSpPr>
          <p:spPr>
            <a:xfrm flipH="false" flipV="false" rot="0">
              <a:off x="0" y="0"/>
              <a:ext cx="50800" cy="10032873"/>
            </a:xfrm>
            <a:custGeom>
              <a:avLst/>
              <a:gdLst/>
              <a:ahLst/>
              <a:cxnLst/>
              <a:rect r="r" b="b" t="t" l="l"/>
              <a:pathLst>
                <a:path h="10032873" w="50800">
                  <a:moveTo>
                    <a:pt x="0" y="10032873"/>
                  </a:moveTo>
                  <a:lnTo>
                    <a:pt x="50800" y="0"/>
                  </a:lnTo>
                </a:path>
              </a:pathLst>
            </a:custGeom>
            <a:blipFill>
              <a:blip r:embed="rId2">
                <a:alphaModFix amt="0"/>
              </a:blip>
              <a:stretch>
                <a:fillRect l="-25289762" t="0" r="-25289762" b="0"/>
              </a:stretch>
            </a:blipFill>
            <a:ln w="38100" cap="sq">
              <a:solidFill>
                <a:srgbClr val="FDA104"/>
              </a:solidFill>
              <a:prstDash val="solid"/>
              <a:miter/>
            </a:ln>
          </p:spPr>
        </p:sp>
      </p:grpSp>
      <p:sp>
        <p:nvSpPr>
          <p:cNvPr name="TextBox 16" id="16"/>
          <p:cNvSpPr txBox="true"/>
          <p:nvPr/>
        </p:nvSpPr>
        <p:spPr>
          <a:xfrm rot="0">
            <a:off x="-371846" y="341157"/>
            <a:ext cx="8874728" cy="1133475"/>
          </a:xfrm>
          <a:prstGeom prst="rect">
            <a:avLst/>
          </a:prstGeom>
        </p:spPr>
        <p:txBody>
          <a:bodyPr anchor="t" rtlCol="false" tIns="0" lIns="0" bIns="0" rIns="0">
            <a:spAutoFit/>
          </a:bodyPr>
          <a:lstStyle/>
          <a:p>
            <a:pPr algn="ctr">
              <a:lnSpc>
                <a:spcPts val="8398"/>
              </a:lnSpc>
            </a:pPr>
            <a:r>
              <a:rPr lang="en-US" sz="5998">
                <a:solidFill>
                  <a:srgbClr val="FFFFFF"/>
                </a:solidFill>
                <a:latin typeface="Gagalin"/>
                <a:ea typeface="Gagalin"/>
                <a:cs typeface="Gagalin"/>
                <a:sym typeface="Gagalin"/>
              </a:rPr>
              <a:t>Table of contents</a:t>
            </a:r>
          </a:p>
        </p:txBody>
      </p:sp>
      <p:sp>
        <p:nvSpPr>
          <p:cNvPr name="Freeform 17" id="17"/>
          <p:cNvSpPr/>
          <p:nvPr/>
        </p:nvSpPr>
        <p:spPr>
          <a:xfrm flipH="false" flipV="false" rot="0">
            <a:off x="956367" y="2532526"/>
            <a:ext cx="7346994" cy="1319260"/>
          </a:xfrm>
          <a:custGeom>
            <a:avLst/>
            <a:gdLst/>
            <a:ahLst/>
            <a:cxnLst/>
            <a:rect r="r" b="b" t="t" l="l"/>
            <a:pathLst>
              <a:path h="1319260" w="7346994">
                <a:moveTo>
                  <a:pt x="0" y="0"/>
                </a:moveTo>
                <a:lnTo>
                  <a:pt x="7346995" y="0"/>
                </a:lnTo>
                <a:lnTo>
                  <a:pt x="7346995" y="1319260"/>
                </a:lnTo>
                <a:lnTo>
                  <a:pt x="0" y="1319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956367" y="4055574"/>
            <a:ext cx="7346994" cy="1248099"/>
          </a:xfrm>
          <a:custGeom>
            <a:avLst/>
            <a:gdLst/>
            <a:ahLst/>
            <a:cxnLst/>
            <a:rect r="r" b="b" t="t" l="l"/>
            <a:pathLst>
              <a:path h="1248099" w="7346994">
                <a:moveTo>
                  <a:pt x="0" y="0"/>
                </a:moveTo>
                <a:lnTo>
                  <a:pt x="7346995" y="0"/>
                </a:lnTo>
                <a:lnTo>
                  <a:pt x="7346995" y="1248098"/>
                </a:lnTo>
                <a:lnTo>
                  <a:pt x="0" y="12480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956367" y="5562524"/>
            <a:ext cx="7346994" cy="1434017"/>
          </a:xfrm>
          <a:custGeom>
            <a:avLst/>
            <a:gdLst/>
            <a:ahLst/>
            <a:cxnLst/>
            <a:rect r="r" b="b" t="t" l="l"/>
            <a:pathLst>
              <a:path h="1434017" w="7346994">
                <a:moveTo>
                  <a:pt x="0" y="0"/>
                </a:moveTo>
                <a:lnTo>
                  <a:pt x="7346995" y="0"/>
                </a:lnTo>
                <a:lnTo>
                  <a:pt x="7346995" y="1434017"/>
                </a:lnTo>
                <a:lnTo>
                  <a:pt x="0" y="143401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956367" y="7253869"/>
            <a:ext cx="7346994" cy="1297657"/>
          </a:xfrm>
          <a:custGeom>
            <a:avLst/>
            <a:gdLst/>
            <a:ahLst/>
            <a:cxnLst/>
            <a:rect r="r" b="b" t="t" l="l"/>
            <a:pathLst>
              <a:path h="1297657" w="7346994">
                <a:moveTo>
                  <a:pt x="0" y="0"/>
                </a:moveTo>
                <a:lnTo>
                  <a:pt x="7346995" y="0"/>
                </a:lnTo>
                <a:lnTo>
                  <a:pt x="7346995" y="1297657"/>
                </a:lnTo>
                <a:lnTo>
                  <a:pt x="0" y="129765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1" id="21"/>
          <p:cNvSpPr txBox="true"/>
          <p:nvPr/>
        </p:nvSpPr>
        <p:spPr>
          <a:xfrm rot="0">
            <a:off x="1193616" y="2637130"/>
            <a:ext cx="6691532"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INTRODUCTION TO VPCs</a:t>
            </a:r>
          </a:p>
        </p:txBody>
      </p:sp>
      <p:sp>
        <p:nvSpPr>
          <p:cNvPr name="TextBox 22" id="22"/>
          <p:cNvSpPr txBox="true"/>
          <p:nvPr/>
        </p:nvSpPr>
        <p:spPr>
          <a:xfrm rot="0">
            <a:off x="1193616" y="4256227"/>
            <a:ext cx="1859905"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CIDR Notation</a:t>
            </a:r>
          </a:p>
        </p:txBody>
      </p:sp>
      <p:sp>
        <p:nvSpPr>
          <p:cNvPr name="TextBox 23" id="23"/>
          <p:cNvSpPr txBox="true"/>
          <p:nvPr/>
        </p:nvSpPr>
        <p:spPr>
          <a:xfrm rot="0">
            <a:off x="1193616" y="5767626"/>
            <a:ext cx="3222724"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Public &amp; Private Subnets</a:t>
            </a:r>
          </a:p>
        </p:txBody>
      </p:sp>
      <p:sp>
        <p:nvSpPr>
          <p:cNvPr name="TextBox 24" id="24"/>
          <p:cNvSpPr txBox="true"/>
          <p:nvPr/>
        </p:nvSpPr>
        <p:spPr>
          <a:xfrm rot="0">
            <a:off x="1193616" y="7402849"/>
            <a:ext cx="3683347"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Gateways (Internet &amp; NAT)</a:t>
            </a:r>
          </a:p>
        </p:txBody>
      </p:sp>
      <p:sp>
        <p:nvSpPr>
          <p:cNvPr name="TextBox 25" id="25"/>
          <p:cNvSpPr txBox="true"/>
          <p:nvPr/>
        </p:nvSpPr>
        <p:spPr>
          <a:xfrm rot="0">
            <a:off x="-3324044" y="119063"/>
            <a:ext cx="8238592" cy="429892"/>
          </a:xfrm>
          <a:prstGeom prst="rect">
            <a:avLst/>
          </a:prstGeom>
        </p:spPr>
        <p:txBody>
          <a:bodyPr anchor="t" rtlCol="false" tIns="0" lIns="0" bIns="0" rIns="0">
            <a:spAutoFit/>
          </a:bodyPr>
          <a:lstStyle/>
          <a:p>
            <a:pPr algn="ctr">
              <a:lnSpc>
                <a:spcPts val="3079"/>
              </a:lnSpc>
            </a:pPr>
            <a:r>
              <a:rPr lang="en-US" sz="2200">
                <a:solidFill>
                  <a:srgbClr val="FDA104"/>
                </a:solidFill>
                <a:latin typeface="Sigher"/>
                <a:ea typeface="Sigher"/>
                <a:cs typeface="Sigher"/>
                <a:sym typeface="Sigher"/>
              </a:rPr>
              <a:t>intro</a:t>
            </a:r>
          </a:p>
        </p:txBody>
      </p:sp>
      <p:sp>
        <p:nvSpPr>
          <p:cNvPr name="Freeform 26" id="26"/>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p:cNvSpPr/>
          <p:nvPr/>
        </p:nvSpPr>
        <p:spPr>
          <a:xfrm flipH="false" flipV="false" rot="0">
            <a:off x="9945653" y="2004184"/>
            <a:ext cx="7920342" cy="7273109"/>
          </a:xfrm>
          <a:custGeom>
            <a:avLst/>
            <a:gdLst/>
            <a:ahLst/>
            <a:cxnLst/>
            <a:rect r="r" b="b" t="t" l="l"/>
            <a:pathLst>
              <a:path h="7273109" w="7920342">
                <a:moveTo>
                  <a:pt x="0" y="0"/>
                </a:moveTo>
                <a:lnTo>
                  <a:pt x="7920342" y="0"/>
                </a:lnTo>
                <a:lnTo>
                  <a:pt x="7920342"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29707" y="2535650"/>
            <a:ext cx="7346994" cy="1319260"/>
          </a:xfrm>
          <a:custGeom>
            <a:avLst/>
            <a:gdLst/>
            <a:ahLst/>
            <a:cxnLst/>
            <a:rect r="r" b="b" t="t" l="l"/>
            <a:pathLst>
              <a:path h="1319260" w="7346994">
                <a:moveTo>
                  <a:pt x="0" y="0"/>
                </a:moveTo>
                <a:lnTo>
                  <a:pt x="7346995" y="0"/>
                </a:lnTo>
                <a:lnTo>
                  <a:pt x="7346995" y="1319260"/>
                </a:lnTo>
                <a:lnTo>
                  <a:pt x="0" y="1319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10229707" y="4494671"/>
            <a:ext cx="7346994" cy="1297657"/>
          </a:xfrm>
          <a:custGeom>
            <a:avLst/>
            <a:gdLst/>
            <a:ahLst/>
            <a:cxnLst/>
            <a:rect r="r" b="b" t="t" l="l"/>
            <a:pathLst>
              <a:path h="1297657" w="7346994">
                <a:moveTo>
                  <a:pt x="0" y="0"/>
                </a:moveTo>
                <a:lnTo>
                  <a:pt x="7346995" y="0"/>
                </a:lnTo>
                <a:lnTo>
                  <a:pt x="7346995" y="1297658"/>
                </a:lnTo>
                <a:lnTo>
                  <a:pt x="0" y="129765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0" id="30"/>
          <p:cNvSpPr txBox="true"/>
          <p:nvPr/>
        </p:nvSpPr>
        <p:spPr>
          <a:xfrm rot="0">
            <a:off x="10466956" y="2640263"/>
            <a:ext cx="5550843"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Security using NACLs and Security Groups</a:t>
            </a:r>
          </a:p>
        </p:txBody>
      </p:sp>
      <p:sp>
        <p:nvSpPr>
          <p:cNvPr name="TextBox 31" id="31"/>
          <p:cNvSpPr txBox="true"/>
          <p:nvPr/>
        </p:nvSpPr>
        <p:spPr>
          <a:xfrm rot="0">
            <a:off x="10545728" y="4737735"/>
            <a:ext cx="807541"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DEMO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914867" y="1771650"/>
            <a:ext cx="38100" cy="7524693"/>
            <a:chOff x="0" y="0"/>
            <a:chExt cx="50800" cy="10032924"/>
          </a:xfrm>
        </p:grpSpPr>
        <p:sp>
          <p:nvSpPr>
            <p:cNvPr name="Freeform 5" id="5"/>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6" id="6"/>
          <p:cNvGrpSpPr/>
          <p:nvPr/>
        </p:nvGrpSpPr>
        <p:grpSpPr>
          <a:xfrm rot="0">
            <a:off x="636137" y="2254625"/>
            <a:ext cx="38100" cy="7524693"/>
            <a:chOff x="0" y="0"/>
            <a:chExt cx="50800" cy="10032924"/>
          </a:xfrm>
        </p:grpSpPr>
        <p:sp>
          <p:nvSpPr>
            <p:cNvPr name="Freeform 7" id="7"/>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8" id="8"/>
          <p:cNvGrpSpPr/>
          <p:nvPr/>
        </p:nvGrpSpPr>
        <p:grpSpPr>
          <a:xfrm rot="0">
            <a:off x="226028" y="1495425"/>
            <a:ext cx="17297400" cy="38100"/>
            <a:chOff x="0" y="0"/>
            <a:chExt cx="23063200" cy="50800"/>
          </a:xfrm>
        </p:grpSpPr>
        <p:sp>
          <p:nvSpPr>
            <p:cNvPr name="Freeform 9" id="9"/>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grpSp>
        <p:nvGrpSpPr>
          <p:cNvPr name="Group 10" id="10"/>
          <p:cNvGrpSpPr/>
          <p:nvPr/>
        </p:nvGrpSpPr>
        <p:grpSpPr>
          <a:xfrm rot="0">
            <a:off x="9831353" y="1771650"/>
            <a:ext cx="38100" cy="7524693"/>
            <a:chOff x="0" y="0"/>
            <a:chExt cx="50800" cy="10032924"/>
          </a:xfrm>
        </p:grpSpPr>
        <p:sp>
          <p:nvSpPr>
            <p:cNvPr name="Freeform 11" id="11"/>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2" id="12"/>
          <p:cNvGrpSpPr/>
          <p:nvPr/>
        </p:nvGrpSpPr>
        <p:grpSpPr>
          <a:xfrm rot="0">
            <a:off x="9552622" y="2254625"/>
            <a:ext cx="38100" cy="7524693"/>
            <a:chOff x="0" y="0"/>
            <a:chExt cx="50800" cy="10032924"/>
          </a:xfrm>
        </p:grpSpPr>
        <p:sp>
          <p:nvSpPr>
            <p:cNvPr name="Freeform 13" id="13"/>
            <p:cNvSpPr/>
            <p:nvPr/>
          </p:nvSpPr>
          <p:spPr>
            <a:xfrm flipH="false" flipV="false" rot="0">
              <a:off x="0" y="0"/>
              <a:ext cx="50800" cy="10032873"/>
            </a:xfrm>
            <a:custGeom>
              <a:avLst/>
              <a:gdLst/>
              <a:ahLst/>
              <a:cxnLst/>
              <a:rect r="r" b="b" t="t" l="l"/>
              <a:pathLst>
                <a:path h="10032873" w="50800">
                  <a:moveTo>
                    <a:pt x="0" y="10032873"/>
                  </a:moveTo>
                  <a:lnTo>
                    <a:pt x="50800" y="0"/>
                  </a:lnTo>
                </a:path>
              </a:pathLst>
            </a:custGeom>
            <a:blipFill>
              <a:blip r:embed="rId2">
                <a:alphaModFix amt="0"/>
              </a:blip>
              <a:stretch>
                <a:fillRect l="-25289762" t="0" r="-25289762" b="0"/>
              </a:stretch>
            </a:blipFill>
            <a:ln w="38100" cap="sq">
              <a:solidFill>
                <a:srgbClr val="FDA104"/>
              </a:solidFill>
              <a:prstDash val="solid"/>
              <a:miter/>
            </a:ln>
          </p:spPr>
        </p:sp>
      </p:grpSp>
      <p:sp>
        <p:nvSpPr>
          <p:cNvPr name="Freeform 14" id="14"/>
          <p:cNvSpPr/>
          <p:nvPr/>
        </p:nvSpPr>
        <p:spPr>
          <a:xfrm flipH="false" flipV="false" rot="0">
            <a:off x="1501044" y="1533525"/>
            <a:ext cx="14335843" cy="7176058"/>
          </a:xfrm>
          <a:custGeom>
            <a:avLst/>
            <a:gdLst/>
            <a:ahLst/>
            <a:cxnLst/>
            <a:rect r="r" b="b" t="t" l="l"/>
            <a:pathLst>
              <a:path h="7176058" w="14335843">
                <a:moveTo>
                  <a:pt x="0" y="0"/>
                </a:moveTo>
                <a:lnTo>
                  <a:pt x="14335843" y="0"/>
                </a:lnTo>
                <a:lnTo>
                  <a:pt x="14335843" y="7176058"/>
                </a:lnTo>
                <a:lnTo>
                  <a:pt x="0" y="7176058"/>
                </a:lnTo>
                <a:lnTo>
                  <a:pt x="0" y="0"/>
                </a:lnTo>
                <a:close/>
              </a:path>
            </a:pathLst>
          </a:custGeom>
          <a:blipFill>
            <a:blip r:embed="rId3"/>
            <a:stretch>
              <a:fillRect l="0" t="0" r="0" b="0"/>
            </a:stretch>
          </a:blipFill>
        </p:spPr>
      </p:sp>
      <p:sp>
        <p:nvSpPr>
          <p:cNvPr name="TextBox 15" id="15"/>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6" id="16"/>
          <p:cNvSpPr txBox="true"/>
          <p:nvPr/>
        </p:nvSpPr>
        <p:spPr>
          <a:xfrm rot="0">
            <a:off x="-371846" y="341157"/>
            <a:ext cx="12010371" cy="1019150"/>
          </a:xfrm>
          <a:prstGeom prst="rect">
            <a:avLst/>
          </a:prstGeom>
        </p:spPr>
        <p:txBody>
          <a:bodyPr anchor="t" rtlCol="false" tIns="0" lIns="0" bIns="0" rIns="0">
            <a:spAutoFit/>
          </a:bodyPr>
          <a:lstStyle/>
          <a:p>
            <a:pPr algn="ctr">
              <a:lnSpc>
                <a:spcPts val="8398"/>
              </a:lnSpc>
            </a:pPr>
            <a:r>
              <a:rPr lang="en-US" sz="5998">
                <a:solidFill>
                  <a:srgbClr val="FFFFFF"/>
                </a:solidFill>
                <a:latin typeface="Gagalin"/>
                <a:ea typeface="Gagalin"/>
                <a:cs typeface="Gagalin"/>
                <a:sym typeface="Gagalin"/>
              </a:rPr>
              <a:t>DEMO ARCHITECTURE DIAGRAM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54386" y="2004184"/>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191092" y="2160308"/>
            <a:ext cx="15739234" cy="672592"/>
          </a:xfrm>
          <a:prstGeom prst="rect">
            <a:avLst/>
          </a:prstGeom>
        </p:spPr>
        <p:txBody>
          <a:bodyPr anchor="t" rtlCol="false" tIns="0" lIns="0" bIns="0" rIns="0">
            <a:spAutoFit/>
          </a:bodyPr>
          <a:lstStyle/>
          <a:p>
            <a:pPr algn="l">
              <a:lnSpc>
                <a:spcPts val="5459"/>
              </a:lnSpc>
            </a:pPr>
          </a:p>
        </p:txBody>
      </p:sp>
      <p:sp>
        <p:nvSpPr>
          <p:cNvPr name="TextBox 14" id="14"/>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5" id="15"/>
          <p:cNvSpPr txBox="true"/>
          <p:nvPr/>
        </p:nvSpPr>
        <p:spPr>
          <a:xfrm rot="0">
            <a:off x="245078" y="378152"/>
            <a:ext cx="13853227"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What is a virtual private cloud (vpc) ?</a:t>
            </a:r>
          </a:p>
        </p:txBody>
      </p:sp>
      <p:sp>
        <p:nvSpPr>
          <p:cNvPr name="Freeform 16" id="16"/>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247699" y="2799995"/>
            <a:ext cx="15682627" cy="6109575"/>
          </a:xfrm>
          <a:prstGeom prst="rect">
            <a:avLst/>
          </a:prstGeom>
        </p:spPr>
        <p:txBody>
          <a:bodyPr anchor="t" rtlCol="false" tIns="0" lIns="0" bIns="0" rIns="0">
            <a:spAutoFit/>
          </a:bodyPr>
          <a:lstStyle/>
          <a:p>
            <a:pPr algn="l">
              <a:lnSpc>
                <a:spcPts val="3451"/>
              </a:lnSpc>
            </a:pPr>
            <a:r>
              <a:rPr lang="en-US" sz="2465">
                <a:solidFill>
                  <a:srgbClr val="FFFFFF"/>
                </a:solidFill>
                <a:latin typeface="Anton"/>
                <a:ea typeface="Anton"/>
                <a:cs typeface="Anton"/>
                <a:sym typeface="Anton"/>
              </a:rPr>
              <a:t>When designing networks on AWS you need to understand the AWS Physical infrastrucutre, which is made up of Regions and Availability zones.</a:t>
            </a:r>
          </a:p>
          <a:p>
            <a:pPr algn="l">
              <a:lnSpc>
                <a:spcPts val="3451"/>
              </a:lnSpc>
            </a:pPr>
          </a:p>
          <a:p>
            <a:pPr algn="l">
              <a:lnSpc>
                <a:spcPts val="3451"/>
              </a:lnSpc>
            </a:pPr>
            <a:r>
              <a:rPr lang="en-US" sz="2465">
                <a:solidFill>
                  <a:srgbClr val="FFFFFF"/>
                </a:solidFill>
                <a:latin typeface="Anton"/>
                <a:ea typeface="Anton"/>
                <a:cs typeface="Anton"/>
                <a:sym typeface="Anton"/>
              </a:rPr>
              <a:t>A </a:t>
            </a:r>
            <a:r>
              <a:rPr lang="en-US" sz="2465">
                <a:solidFill>
                  <a:srgbClr val="FDA104"/>
                </a:solidFill>
                <a:latin typeface="Anton"/>
                <a:ea typeface="Anton"/>
                <a:cs typeface="Anton"/>
                <a:sym typeface="Anton"/>
              </a:rPr>
              <a:t>Virtual network</a:t>
            </a:r>
            <a:r>
              <a:rPr lang="en-US" sz="2465">
                <a:solidFill>
                  <a:srgbClr val="FFFFFF"/>
                </a:solidFill>
                <a:latin typeface="Anton"/>
                <a:ea typeface="Anton"/>
                <a:cs typeface="Anton"/>
                <a:sym typeface="Anton"/>
              </a:rPr>
              <a:t> is a software defined network built on-top of a physical network. It emulates a physical network using software defined network components.</a:t>
            </a:r>
          </a:p>
          <a:p>
            <a:pPr algn="l">
              <a:lnSpc>
                <a:spcPts val="3451"/>
              </a:lnSpc>
            </a:pPr>
          </a:p>
          <a:p>
            <a:pPr algn="l">
              <a:lnSpc>
                <a:spcPts val="3451"/>
              </a:lnSpc>
            </a:pPr>
            <a:r>
              <a:rPr lang="en-US" sz="2465">
                <a:solidFill>
                  <a:srgbClr val="FDA104"/>
                </a:solidFill>
                <a:latin typeface="Anton"/>
                <a:ea typeface="Anton"/>
                <a:cs typeface="Anton"/>
                <a:sym typeface="Anton"/>
              </a:rPr>
              <a:t>Amazon VPC </a:t>
            </a:r>
            <a:r>
              <a:rPr lang="en-US" sz="2465">
                <a:solidFill>
                  <a:srgbClr val="FFFFFF"/>
                </a:solidFill>
                <a:latin typeface="Anton"/>
                <a:ea typeface="Anton"/>
                <a:cs typeface="Anton"/>
                <a:sym typeface="Anton"/>
              </a:rPr>
              <a:t>is a programmatically defined and logically isolated virtual network . A VPC belongs to only one aws region.</a:t>
            </a:r>
          </a:p>
          <a:p>
            <a:pPr algn="l">
              <a:lnSpc>
                <a:spcPts val="3451"/>
              </a:lnSpc>
            </a:pPr>
          </a:p>
          <a:p>
            <a:pPr algn="l">
              <a:lnSpc>
                <a:spcPts val="3451"/>
              </a:lnSpc>
            </a:pPr>
            <a:r>
              <a:rPr lang="en-US" sz="2465">
                <a:solidFill>
                  <a:srgbClr val="FFFFFF"/>
                </a:solidFill>
                <a:latin typeface="Anton"/>
                <a:ea typeface="Anton"/>
                <a:cs typeface="Anton"/>
                <a:sym typeface="Anton"/>
              </a:rPr>
              <a:t>To size your VPC, you allocate a range of private IP addresses. A range of these IP addresses is known as a </a:t>
            </a:r>
            <a:r>
              <a:rPr lang="en-US" sz="2465">
                <a:solidFill>
                  <a:srgbClr val="FDA104"/>
                </a:solidFill>
                <a:latin typeface="Anton"/>
                <a:ea typeface="Anton"/>
                <a:cs typeface="Anton"/>
                <a:sym typeface="Anton"/>
              </a:rPr>
              <a:t>CIDR Block, Classless Inter-Domain Routing. </a:t>
            </a:r>
            <a:r>
              <a:rPr lang="en-US" sz="2465">
                <a:solidFill>
                  <a:srgbClr val="FFFFFF"/>
                </a:solidFill>
                <a:latin typeface="Anton"/>
                <a:ea typeface="Anton"/>
                <a:cs typeface="Anton"/>
                <a:sym typeface="Anton"/>
              </a:rPr>
              <a:t>It’s very important to allocate an adequate number of IPs for your VPC because it’s time consuming and difficult to add more later.</a:t>
            </a:r>
          </a:p>
          <a:p>
            <a:pPr algn="l">
              <a:lnSpc>
                <a:spcPts val="3451"/>
              </a:lnSpc>
            </a:pPr>
          </a:p>
          <a:p>
            <a:pPr algn="l">
              <a:lnSpc>
                <a:spcPts val="3451"/>
              </a:lnSpc>
              <a:spcBef>
                <a:spcPct val="0"/>
              </a:spcBef>
            </a:pPr>
            <a:r>
              <a:rPr lang="en-US" sz="2465">
                <a:solidFill>
                  <a:srgbClr val="FFFFFF"/>
                </a:solidFill>
                <a:latin typeface="Anton"/>
                <a:ea typeface="Anton"/>
                <a:cs typeface="Anton"/>
                <a:sym typeface="Anton"/>
              </a:rPr>
              <a:t>The maximum IPv4 CIDR Block is a</a:t>
            </a:r>
            <a:r>
              <a:rPr lang="en-US" sz="2465">
                <a:solidFill>
                  <a:srgbClr val="FDA104"/>
                </a:solidFill>
                <a:latin typeface="Anton"/>
                <a:ea typeface="Anton"/>
                <a:cs typeface="Anton"/>
                <a:sym typeface="Anton"/>
              </a:rPr>
              <a:t> /16 netmask</a:t>
            </a:r>
            <a:r>
              <a:rPr lang="en-US" sz="2465">
                <a:solidFill>
                  <a:srgbClr val="FFFFFF"/>
                </a:solidFill>
                <a:latin typeface="Anton"/>
                <a:ea typeface="Anton"/>
                <a:cs typeface="Anton"/>
                <a:sym typeface="Anton"/>
              </a:rPr>
              <a:t> and the minimum is a </a:t>
            </a:r>
            <a:r>
              <a:rPr lang="en-US" sz="2465">
                <a:solidFill>
                  <a:srgbClr val="FDA104"/>
                </a:solidFill>
                <a:latin typeface="Anton"/>
                <a:ea typeface="Anton"/>
                <a:cs typeface="Anton"/>
                <a:sym typeface="Anton"/>
              </a:rPr>
              <a:t>/28 netmask. </a:t>
            </a:r>
            <a:r>
              <a:rPr lang="en-US" sz="2465">
                <a:solidFill>
                  <a:srgbClr val="FFFFFF"/>
                </a:solidFill>
                <a:latin typeface="Anton"/>
                <a:ea typeface="Anton"/>
                <a:cs typeface="Anton"/>
                <a:sym typeface="Anton"/>
              </a:rPr>
              <a:t>An example of a VPC CIDR Block is </a:t>
            </a:r>
            <a:r>
              <a:rPr lang="en-US" sz="2465">
                <a:solidFill>
                  <a:srgbClr val="FDA104"/>
                </a:solidFill>
                <a:latin typeface="Anton"/>
                <a:ea typeface="Anton"/>
                <a:cs typeface="Anton"/>
                <a:sym typeface="Anton"/>
              </a:rPr>
              <a:t>10.0.0.0/16.</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54386" y="2004184"/>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191092" y="2160308"/>
            <a:ext cx="15739234" cy="672592"/>
          </a:xfrm>
          <a:prstGeom prst="rect">
            <a:avLst/>
          </a:prstGeom>
        </p:spPr>
        <p:txBody>
          <a:bodyPr anchor="t" rtlCol="false" tIns="0" lIns="0" bIns="0" rIns="0">
            <a:spAutoFit/>
          </a:bodyPr>
          <a:lstStyle/>
          <a:p>
            <a:pPr algn="l">
              <a:lnSpc>
                <a:spcPts val="5459"/>
              </a:lnSpc>
            </a:pPr>
          </a:p>
        </p:txBody>
      </p:sp>
      <p:sp>
        <p:nvSpPr>
          <p:cNvPr name="TextBox 14" id="14"/>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5" id="15"/>
          <p:cNvSpPr txBox="true"/>
          <p:nvPr/>
        </p:nvSpPr>
        <p:spPr>
          <a:xfrm rot="0">
            <a:off x="245078" y="378152"/>
            <a:ext cx="13853227"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Subnets (Private &amp; Public)</a:t>
            </a:r>
          </a:p>
        </p:txBody>
      </p:sp>
      <p:sp>
        <p:nvSpPr>
          <p:cNvPr name="Freeform 16" id="16"/>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247699" y="2799995"/>
            <a:ext cx="15682627" cy="4356975"/>
          </a:xfrm>
          <a:prstGeom prst="rect">
            <a:avLst/>
          </a:prstGeom>
        </p:spPr>
        <p:txBody>
          <a:bodyPr anchor="t" rtlCol="false" tIns="0" lIns="0" bIns="0" rIns="0">
            <a:spAutoFit/>
          </a:bodyPr>
          <a:lstStyle/>
          <a:p>
            <a:pPr algn="l">
              <a:lnSpc>
                <a:spcPts val="3451"/>
              </a:lnSpc>
            </a:pPr>
            <a:r>
              <a:rPr lang="en-US" sz="2465">
                <a:solidFill>
                  <a:srgbClr val="FFFFFF"/>
                </a:solidFill>
                <a:latin typeface="Anton"/>
                <a:ea typeface="Anton"/>
                <a:cs typeface="Anton"/>
                <a:sym typeface="Anton"/>
              </a:rPr>
              <a:t>A </a:t>
            </a:r>
            <a:r>
              <a:rPr lang="en-US" sz="2465">
                <a:solidFill>
                  <a:srgbClr val="FDA104"/>
                </a:solidFill>
                <a:latin typeface="Anton"/>
                <a:ea typeface="Anton"/>
                <a:cs typeface="Anton"/>
                <a:sym typeface="Anton"/>
              </a:rPr>
              <a:t>subnet</a:t>
            </a:r>
            <a:r>
              <a:rPr lang="en-US" sz="2465">
                <a:solidFill>
                  <a:srgbClr val="FFFFFF"/>
                </a:solidFill>
                <a:latin typeface="Anton"/>
                <a:ea typeface="Anton"/>
                <a:cs typeface="Anton"/>
                <a:sym typeface="Anton"/>
              </a:rPr>
              <a:t> is a logically isolated subnetwork within the VPC. Subnetting allows for the breaking of a large network into smaller manageable sub networks. </a:t>
            </a:r>
          </a:p>
          <a:p>
            <a:pPr algn="l">
              <a:lnSpc>
                <a:spcPts val="3451"/>
              </a:lnSpc>
            </a:pPr>
          </a:p>
          <a:p>
            <a:pPr algn="l">
              <a:lnSpc>
                <a:spcPts val="3451"/>
              </a:lnSpc>
            </a:pPr>
            <a:r>
              <a:rPr lang="en-US" sz="2465">
                <a:solidFill>
                  <a:srgbClr val="FFFFFF"/>
                </a:solidFill>
                <a:latin typeface="Anton"/>
                <a:ea typeface="Anton"/>
                <a:cs typeface="Anton"/>
                <a:sym typeface="Anton"/>
              </a:rPr>
              <a:t>Each subnet must always be associated to a </a:t>
            </a:r>
            <a:r>
              <a:rPr lang="en-US" sz="2465">
                <a:solidFill>
                  <a:srgbClr val="FDA104"/>
                </a:solidFill>
                <a:latin typeface="Anton"/>
                <a:ea typeface="Anton"/>
                <a:cs typeface="Anton"/>
                <a:sym typeface="Anton"/>
              </a:rPr>
              <a:t>route table</a:t>
            </a:r>
            <a:r>
              <a:rPr lang="en-US" sz="2465">
                <a:solidFill>
                  <a:srgbClr val="FFFFFF"/>
                </a:solidFill>
                <a:latin typeface="Anton"/>
                <a:ea typeface="Anton"/>
                <a:cs typeface="Anton"/>
                <a:sym typeface="Anton"/>
              </a:rPr>
              <a:t> that has routing rules that define where traffic within the subnet is directed to as well as egress traffic. After you create a VPC, it automatically comes with a local router which uses the </a:t>
            </a:r>
            <a:r>
              <a:rPr lang="en-US" sz="2465">
                <a:solidFill>
                  <a:srgbClr val="FDA104"/>
                </a:solidFill>
                <a:latin typeface="Anton"/>
                <a:ea typeface="Anton"/>
                <a:cs typeface="Anton"/>
                <a:sym typeface="Anton"/>
              </a:rPr>
              <a:t>main VPC route table. </a:t>
            </a:r>
            <a:r>
              <a:rPr lang="en-US" sz="2465">
                <a:solidFill>
                  <a:srgbClr val="FFFFFF"/>
                </a:solidFill>
                <a:latin typeface="Anton"/>
                <a:ea typeface="Anton"/>
                <a:cs typeface="Anton"/>
                <a:sym typeface="Anton"/>
              </a:rPr>
              <a:t>If a VPC is not explicitly associated to a route table, then it uses the main route table by default.</a:t>
            </a:r>
          </a:p>
          <a:p>
            <a:pPr algn="l">
              <a:lnSpc>
                <a:spcPts val="3451"/>
              </a:lnSpc>
            </a:pPr>
          </a:p>
          <a:p>
            <a:pPr algn="l">
              <a:lnSpc>
                <a:spcPts val="3451"/>
              </a:lnSpc>
            </a:pPr>
            <a:r>
              <a:rPr lang="en-US" sz="2465">
                <a:solidFill>
                  <a:srgbClr val="FFFFFF"/>
                </a:solidFill>
                <a:latin typeface="Anton"/>
                <a:ea typeface="Anton"/>
                <a:cs typeface="Anton"/>
                <a:sym typeface="Anton"/>
              </a:rPr>
              <a:t>There are two types of subnets, </a:t>
            </a:r>
            <a:r>
              <a:rPr lang="en-US" sz="2465">
                <a:solidFill>
                  <a:srgbClr val="FDA104"/>
                </a:solidFill>
                <a:latin typeface="Anton"/>
                <a:ea typeface="Anton"/>
                <a:cs typeface="Anton"/>
                <a:sym typeface="Anton"/>
              </a:rPr>
              <a:t>Public subnets</a:t>
            </a:r>
            <a:r>
              <a:rPr lang="en-US" sz="2465">
                <a:solidFill>
                  <a:srgbClr val="FFFFFF"/>
                </a:solidFill>
                <a:latin typeface="Anton"/>
                <a:ea typeface="Anton"/>
                <a:cs typeface="Anton"/>
                <a:sym typeface="Anton"/>
              </a:rPr>
              <a:t> which can be accessed from the internet via an internet gateway and </a:t>
            </a:r>
          </a:p>
          <a:p>
            <a:pPr algn="l">
              <a:lnSpc>
                <a:spcPts val="3451"/>
              </a:lnSpc>
            </a:pPr>
            <a:r>
              <a:rPr lang="en-US" sz="2465">
                <a:solidFill>
                  <a:srgbClr val="FDA104"/>
                </a:solidFill>
                <a:latin typeface="Anton"/>
                <a:ea typeface="Anton"/>
                <a:cs typeface="Anton"/>
                <a:sym typeface="Anton"/>
              </a:rPr>
              <a:t>private subnets</a:t>
            </a:r>
            <a:r>
              <a:rPr lang="en-US" sz="2465">
                <a:solidFill>
                  <a:srgbClr val="FFFFFF"/>
                </a:solidFill>
                <a:latin typeface="Anton"/>
                <a:ea typeface="Anton"/>
                <a:cs typeface="Anton"/>
                <a:sym typeface="Anton"/>
              </a:rPr>
              <a:t> which can not be accessed from the internet.</a:t>
            </a:r>
          </a:p>
          <a:p>
            <a:pPr algn="l">
              <a:lnSpc>
                <a:spcPts val="3451"/>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33917" y="1985191"/>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GATEWAYS (InterNet &amp; NAT)</a:t>
            </a:r>
          </a:p>
        </p:txBody>
      </p:sp>
      <p:sp>
        <p:nvSpPr>
          <p:cNvPr name="Freeform 15" id="15"/>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247699" y="2413658"/>
            <a:ext cx="14579566" cy="7254062"/>
          </a:xfrm>
          <a:prstGeom prst="rect">
            <a:avLst/>
          </a:prstGeom>
        </p:spPr>
        <p:txBody>
          <a:bodyPr anchor="t" rtlCol="false" tIns="0" lIns="0" bIns="0" rIns="0">
            <a:spAutoFit/>
          </a:bodyPr>
          <a:lstStyle/>
          <a:p>
            <a:pPr algn="l">
              <a:lnSpc>
                <a:spcPts val="4495"/>
              </a:lnSpc>
            </a:pPr>
            <a:r>
              <a:rPr lang="en-US" sz="2469">
                <a:solidFill>
                  <a:srgbClr val="FFFFFF"/>
                </a:solidFill>
                <a:latin typeface="Antic Bold"/>
                <a:ea typeface="Antic Bold"/>
                <a:cs typeface="Antic Bold"/>
                <a:sym typeface="Antic Bold"/>
              </a:rPr>
              <a:t>A gateway is a component that allows or denies traffic from moving from one point to another.</a:t>
            </a:r>
          </a:p>
          <a:p>
            <a:pPr algn="l">
              <a:lnSpc>
                <a:spcPts val="4495"/>
              </a:lnSpc>
            </a:pPr>
            <a:r>
              <a:rPr lang="en-US" sz="2469">
                <a:solidFill>
                  <a:srgbClr val="FFFFFF"/>
                </a:solidFill>
                <a:latin typeface="Antic Bold"/>
                <a:ea typeface="Antic Bold"/>
                <a:cs typeface="Antic Bold"/>
                <a:sym typeface="Antic Bold"/>
              </a:rPr>
              <a:t>An </a:t>
            </a:r>
            <a:r>
              <a:rPr lang="en-US" sz="2469">
                <a:solidFill>
                  <a:srgbClr val="FDA104"/>
                </a:solidFill>
                <a:latin typeface="Antic Bold"/>
                <a:ea typeface="Antic Bold"/>
                <a:cs typeface="Antic Bold"/>
                <a:sym typeface="Antic Bold"/>
              </a:rPr>
              <a:t>internet gateway</a:t>
            </a:r>
            <a:r>
              <a:rPr lang="en-US" sz="2469">
                <a:solidFill>
                  <a:srgbClr val="FFFFFF"/>
                </a:solidFill>
                <a:latin typeface="Antic Bold"/>
                <a:ea typeface="Antic Bold"/>
                <a:cs typeface="Antic Bold"/>
                <a:sym typeface="Antic Bold"/>
              </a:rPr>
              <a:t> allows traffic from the internet into and out of a VPC. It’s a regional resource and must be attached to only one VPC.</a:t>
            </a:r>
          </a:p>
          <a:p>
            <a:pPr algn="l">
              <a:lnSpc>
                <a:spcPts val="4495"/>
              </a:lnSpc>
            </a:pPr>
            <a:r>
              <a:rPr lang="en-US" sz="2469">
                <a:solidFill>
                  <a:srgbClr val="FFFFFF"/>
                </a:solidFill>
                <a:latin typeface="Antic Bold"/>
                <a:ea typeface="Antic Bold"/>
                <a:cs typeface="Antic Bold"/>
                <a:sym typeface="Antic Bold"/>
              </a:rPr>
              <a:t>An internet gateway is horizontally scalable allowing it to grow togehter with increase in traffic. As discussed earlier a subnet whose route table has a routing rule point to an internet gateway is known as a public subnet.</a:t>
            </a:r>
          </a:p>
          <a:p>
            <a:pPr algn="l">
              <a:lnSpc>
                <a:spcPts val="4495"/>
              </a:lnSpc>
            </a:pPr>
          </a:p>
          <a:p>
            <a:pPr algn="l">
              <a:lnSpc>
                <a:spcPts val="4495"/>
              </a:lnSpc>
            </a:pPr>
            <a:r>
              <a:rPr lang="en-US" sz="2469">
                <a:solidFill>
                  <a:srgbClr val="FFFFFF"/>
                </a:solidFill>
                <a:latin typeface="Antic Bold"/>
                <a:ea typeface="Antic Bold"/>
                <a:cs typeface="Antic Bold"/>
                <a:sym typeface="Antic Bold"/>
              </a:rPr>
              <a:t>When you don’t want to expose a server’s IP address to other networks or the internet, it’s recommended to use a </a:t>
            </a:r>
            <a:r>
              <a:rPr lang="en-US" sz="2469">
                <a:solidFill>
                  <a:srgbClr val="FDA104"/>
                </a:solidFill>
                <a:latin typeface="Antic Bold"/>
                <a:ea typeface="Antic Bold"/>
                <a:cs typeface="Antic Bold"/>
                <a:sym typeface="Antic Bold"/>
              </a:rPr>
              <a:t>NAT gateway. </a:t>
            </a:r>
            <a:r>
              <a:rPr lang="en-US" sz="2469">
                <a:solidFill>
                  <a:srgbClr val="FFFFFF"/>
                </a:solidFill>
                <a:latin typeface="Antic Bold"/>
                <a:ea typeface="Antic Bold"/>
                <a:cs typeface="Antic Bold"/>
                <a:sym typeface="Antic Bold"/>
              </a:rPr>
              <a:t>It replaces the private IP of the request initiator with it’s own public facing IP acting as a proxy. They allow EC2 instances deployes in private subnets to access the internet, but not the vice versa.</a:t>
            </a:r>
          </a:p>
          <a:p>
            <a:pPr algn="l">
              <a:lnSpc>
                <a:spcPts val="4495"/>
              </a:lnSpc>
            </a:pPr>
          </a:p>
          <a:p>
            <a:pPr algn="l">
              <a:lnSpc>
                <a:spcPts val="4495"/>
              </a:lnSpc>
            </a:pPr>
            <a:r>
              <a:rPr lang="en-US" sz="2469">
                <a:solidFill>
                  <a:srgbClr val="FFFFFF"/>
                </a:solidFill>
                <a:latin typeface="Antic Bold"/>
                <a:ea typeface="Antic Bold"/>
                <a:cs typeface="Antic Bold"/>
                <a:sym typeface="Antic Bold"/>
              </a:rPr>
              <a:t>A NAT gateway is always deployed in a public subnet.</a:t>
            </a:r>
          </a:p>
          <a:p>
            <a:pPr algn="l">
              <a:lnSpc>
                <a:spcPts val="4495"/>
              </a:lnSpc>
            </a:pPr>
          </a:p>
          <a:p>
            <a:pPr algn="l">
              <a:lnSpc>
                <a:spcPts val="4495"/>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D1117"/>
        </a:solidFill>
      </p:bgPr>
    </p:bg>
    <p:spTree>
      <p:nvGrpSpPr>
        <p:cNvPr id="1" name=""/>
        <p:cNvGrpSpPr/>
        <p:nvPr/>
      </p:nvGrpSpPr>
      <p:grpSpPr>
        <a:xfrm>
          <a:off x="0" y="0"/>
          <a:ext cx="0" cy="0"/>
          <a:chOff x="0" y="0"/>
          <a:chExt cx="0" cy="0"/>
        </a:xfrm>
      </p:grpSpPr>
      <p:sp>
        <p:nvSpPr>
          <p:cNvPr name="TextBox 2" id="2"/>
          <p:cNvSpPr txBox="true"/>
          <p:nvPr/>
        </p:nvSpPr>
        <p:spPr>
          <a:xfrm rot="0">
            <a:off x="375871" y="306992"/>
            <a:ext cx="16883429" cy="963144"/>
          </a:xfrm>
          <a:prstGeom prst="rect">
            <a:avLst/>
          </a:prstGeom>
        </p:spPr>
        <p:txBody>
          <a:bodyPr anchor="t" rtlCol="false" tIns="0" lIns="0" bIns="0" rIns="0">
            <a:spAutoFit/>
          </a:bodyPr>
          <a:lstStyle/>
          <a:p>
            <a:pPr algn="l">
              <a:lnSpc>
                <a:spcPts val="7810"/>
              </a:lnSpc>
              <a:spcBef>
                <a:spcPct val="0"/>
              </a:spcBef>
            </a:pPr>
            <a:r>
              <a:rPr lang="en-US" sz="5579">
                <a:solidFill>
                  <a:srgbClr val="FDA104"/>
                </a:solidFill>
                <a:latin typeface="Gagalin"/>
                <a:ea typeface="Gagalin"/>
                <a:cs typeface="Gagalin"/>
                <a:sym typeface="Gagalin"/>
              </a:rPr>
              <a:t>ELASTIC IP</a:t>
            </a:r>
          </a:p>
        </p:txBody>
      </p:sp>
      <p:sp>
        <p:nvSpPr>
          <p:cNvPr name="TextBox 3" id="3"/>
          <p:cNvSpPr txBox="true"/>
          <p:nvPr/>
        </p:nvSpPr>
        <p:spPr>
          <a:xfrm rot="0">
            <a:off x="375871" y="1486768"/>
            <a:ext cx="17599260" cy="6051538"/>
          </a:xfrm>
          <a:prstGeom prst="rect">
            <a:avLst/>
          </a:prstGeom>
        </p:spPr>
        <p:txBody>
          <a:bodyPr anchor="t" rtlCol="false" tIns="0" lIns="0" bIns="0" rIns="0">
            <a:spAutoFit/>
          </a:bodyPr>
          <a:lstStyle/>
          <a:p>
            <a:pPr algn="l">
              <a:lnSpc>
                <a:spcPts val="5426"/>
              </a:lnSpc>
            </a:pPr>
            <a:r>
              <a:rPr lang="en-US" sz="2981">
                <a:solidFill>
                  <a:srgbClr val="FFFFFF"/>
                </a:solidFill>
                <a:latin typeface="Antic Bold"/>
                <a:ea typeface="Antic Bold"/>
                <a:cs typeface="Antic Bold"/>
                <a:sym typeface="Antic Bold"/>
              </a:rPr>
              <a:t>An Elastic IP address is a static IPv4 address that you can associate to an EC2 instance or a NAT Gateway.</a:t>
            </a:r>
          </a:p>
          <a:p>
            <a:pPr algn="l">
              <a:lnSpc>
                <a:spcPts val="5426"/>
              </a:lnSpc>
            </a:pPr>
          </a:p>
          <a:p>
            <a:pPr algn="l">
              <a:lnSpc>
                <a:spcPts val="5426"/>
              </a:lnSpc>
            </a:pPr>
            <a:r>
              <a:rPr lang="en-US" sz="2981">
                <a:solidFill>
                  <a:srgbClr val="FFFFFF"/>
                </a:solidFill>
                <a:latin typeface="Antic Bold"/>
                <a:ea typeface="Antic Bold"/>
                <a:cs typeface="Antic Bold"/>
                <a:sym typeface="Antic Bold"/>
              </a:rPr>
              <a:t>If an EC2 instance’s health deteriorates, you can transfer the EIP address of the unhealthy EC2 instance to a healthy one.</a:t>
            </a:r>
          </a:p>
          <a:p>
            <a:pPr algn="l">
              <a:lnSpc>
                <a:spcPts val="5426"/>
              </a:lnSpc>
            </a:pPr>
          </a:p>
          <a:p>
            <a:pPr algn="l">
              <a:lnSpc>
                <a:spcPts val="5426"/>
              </a:lnSpc>
            </a:pPr>
            <a:r>
              <a:rPr lang="en-US" sz="2981">
                <a:solidFill>
                  <a:srgbClr val="FFFFFF"/>
                </a:solidFill>
                <a:latin typeface="Antic Bold"/>
                <a:ea typeface="Antic Bold"/>
                <a:cs typeface="Antic Bold"/>
                <a:sym typeface="Antic Bold"/>
              </a:rPr>
              <a:t>EIPs are also attached to NAT gateways so that internet devices can send traffic back to the NAT gateway instead of private instances within private subnets. the EIP acts as a proxy IP address.</a:t>
            </a:r>
          </a:p>
          <a:p>
            <a:pPr algn="l">
              <a:lnSpc>
                <a:spcPts val="5426"/>
              </a:lnSpc>
            </a:pPr>
          </a:p>
          <a:p>
            <a:pPr algn="l">
              <a:lnSpc>
                <a:spcPts val="5426"/>
              </a:lnSpc>
              <a:spcBef>
                <a:spcPct val="0"/>
              </a:spcBef>
            </a:pPr>
            <a:r>
              <a:rPr lang="en-US" sz="2981">
                <a:solidFill>
                  <a:srgbClr val="FFFFFF"/>
                </a:solidFill>
                <a:latin typeface="Antic Bold"/>
                <a:ea typeface="Antic Bold"/>
                <a:cs typeface="Antic Bold"/>
                <a:sym typeface="Antic Bold"/>
              </a:rPr>
              <a:t>EIP addresses can also be attaches to Load Balancers and Network Interfaces.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33917" y="1985191"/>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Security using nacls &amp; security Groups</a:t>
            </a:r>
          </a:p>
        </p:txBody>
      </p:sp>
      <p:sp>
        <p:nvSpPr>
          <p:cNvPr name="Freeform 15" id="15"/>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247699" y="2413658"/>
            <a:ext cx="14579566" cy="6130112"/>
          </a:xfrm>
          <a:prstGeom prst="rect">
            <a:avLst/>
          </a:prstGeom>
        </p:spPr>
        <p:txBody>
          <a:bodyPr anchor="t" rtlCol="false" tIns="0" lIns="0" bIns="0" rIns="0">
            <a:spAutoFit/>
          </a:bodyPr>
          <a:lstStyle/>
          <a:p>
            <a:pPr algn="l">
              <a:lnSpc>
                <a:spcPts val="4495"/>
              </a:lnSpc>
            </a:pPr>
            <a:r>
              <a:rPr lang="en-US" sz="2469">
                <a:solidFill>
                  <a:srgbClr val="FFFFFF"/>
                </a:solidFill>
                <a:latin typeface="Antic Bold"/>
                <a:ea typeface="Antic Bold"/>
                <a:cs typeface="Antic Bold"/>
                <a:sym typeface="Antic Bold"/>
              </a:rPr>
              <a:t>You can secure your resources and VPCs using </a:t>
            </a:r>
            <a:r>
              <a:rPr lang="en-US" sz="2469">
                <a:solidFill>
                  <a:srgbClr val="FDA104"/>
                </a:solidFill>
                <a:latin typeface="Antic Bold"/>
                <a:ea typeface="Antic Bold"/>
                <a:cs typeface="Antic Bold"/>
                <a:sym typeface="Antic Bold"/>
              </a:rPr>
              <a:t>Security groups</a:t>
            </a:r>
            <a:r>
              <a:rPr lang="en-US" sz="2469">
                <a:solidFill>
                  <a:srgbClr val="FFFFFF"/>
                </a:solidFill>
                <a:latin typeface="Antic Bold"/>
                <a:ea typeface="Antic Bold"/>
                <a:cs typeface="Antic Bold"/>
                <a:sym typeface="Antic Bold"/>
              </a:rPr>
              <a:t> and </a:t>
            </a:r>
            <a:r>
              <a:rPr lang="en-US" sz="2469">
                <a:solidFill>
                  <a:srgbClr val="FDA104"/>
                </a:solidFill>
                <a:latin typeface="Antic Bold"/>
                <a:ea typeface="Antic Bold"/>
                <a:cs typeface="Antic Bold"/>
                <a:sym typeface="Antic Bold"/>
              </a:rPr>
              <a:t>Network Access Control Lists.</a:t>
            </a:r>
          </a:p>
          <a:p>
            <a:pPr algn="l">
              <a:lnSpc>
                <a:spcPts val="4495"/>
              </a:lnSpc>
            </a:pPr>
          </a:p>
          <a:p>
            <a:pPr algn="l">
              <a:lnSpc>
                <a:spcPts val="4495"/>
              </a:lnSpc>
            </a:pPr>
            <a:r>
              <a:rPr lang="en-US" sz="2469">
                <a:solidFill>
                  <a:srgbClr val="FDA104"/>
                </a:solidFill>
                <a:latin typeface="Antic Bold"/>
                <a:ea typeface="Antic Bold"/>
                <a:cs typeface="Antic Bold"/>
                <a:sym typeface="Antic Bold"/>
              </a:rPr>
              <a:t>Security groups</a:t>
            </a:r>
            <a:r>
              <a:rPr lang="en-US" sz="2469">
                <a:solidFill>
                  <a:srgbClr val="FFFFFF"/>
                </a:solidFill>
                <a:latin typeface="Antic Bold"/>
                <a:ea typeface="Antic Bold"/>
                <a:cs typeface="Antic Bold"/>
                <a:sym typeface="Antic Bold"/>
              </a:rPr>
              <a:t> are statefull firewalls that act at the instance level and can span multiple AZs. </a:t>
            </a:r>
          </a:p>
          <a:p>
            <a:pPr algn="l">
              <a:lnSpc>
                <a:spcPts val="4495"/>
              </a:lnSpc>
            </a:pPr>
            <a:r>
              <a:rPr lang="en-US" sz="2469">
                <a:solidFill>
                  <a:srgbClr val="FFFFFF"/>
                </a:solidFill>
                <a:latin typeface="Antic Bold"/>
                <a:ea typeface="Antic Bold"/>
                <a:cs typeface="Antic Bold"/>
                <a:sym typeface="Antic Bold"/>
              </a:rPr>
              <a:t>For each security group you add an inbound rule and outbound rule. Each rule has a port, protocol that allow you to specify the type of traffic to allow.</a:t>
            </a:r>
          </a:p>
          <a:p>
            <a:pPr algn="l">
              <a:lnSpc>
                <a:spcPts val="4495"/>
              </a:lnSpc>
            </a:pPr>
          </a:p>
          <a:p>
            <a:pPr algn="l">
              <a:lnSpc>
                <a:spcPts val="4495"/>
              </a:lnSpc>
            </a:pPr>
            <a:r>
              <a:rPr lang="en-US" sz="2469">
                <a:solidFill>
                  <a:srgbClr val="FDA104"/>
                </a:solidFill>
                <a:latin typeface="Antic Bold"/>
                <a:ea typeface="Antic Bold"/>
                <a:cs typeface="Antic Bold"/>
                <a:sym typeface="Antic Bold"/>
              </a:rPr>
              <a:t>Network Access Control Groups NACL</a:t>
            </a:r>
            <a:r>
              <a:rPr lang="en-US" sz="2469">
                <a:solidFill>
                  <a:srgbClr val="FFFFFF"/>
                </a:solidFill>
                <a:latin typeface="Antic Bold"/>
                <a:ea typeface="Antic Bold"/>
                <a:cs typeface="Antic Bold"/>
                <a:sym typeface="Antic Bold"/>
              </a:rPr>
              <a:t> are an optional layer of security that operate at the subnet layer. They act as a firewall for controlling traffic in and out of your subnet. NACLS are not statefull and you need to define both ALLOW  and DENY rules. You specify the port and protocol for the type of traffic as well.</a:t>
            </a:r>
          </a:p>
          <a:p>
            <a:pPr algn="l">
              <a:lnSpc>
                <a:spcPts val="4495"/>
              </a:lnSpc>
            </a:pPr>
          </a:p>
          <a:p>
            <a:pPr algn="l">
              <a:lnSpc>
                <a:spcPts val="4495"/>
              </a:lnSpc>
              <a:spcBef>
                <a:spcPct val="0"/>
              </a:spcBef>
            </a:pPr>
            <a:r>
              <a:rPr lang="en-US" sz="2469">
                <a:solidFill>
                  <a:srgbClr val="FFFFFF"/>
                </a:solidFill>
                <a:latin typeface="Antic Bold"/>
                <a:ea typeface="Antic Bold"/>
                <a:cs typeface="Antic Bold"/>
                <a:sym typeface="Antic Bold"/>
              </a:rPr>
              <a:t>Each subnet must associated with a NACL, if not the default NACL is used.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33917" y="1985191"/>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825173" y="4999352"/>
            <a:ext cx="12637653" cy="954989"/>
          </a:xfrm>
          <a:prstGeom prst="rect">
            <a:avLst/>
          </a:prstGeom>
        </p:spPr>
        <p:txBody>
          <a:bodyPr anchor="t" rtlCol="false" tIns="0" lIns="0" bIns="0" rIns="0">
            <a:spAutoFit/>
          </a:bodyPr>
          <a:lstStyle/>
          <a:p>
            <a:pPr algn="ctr">
              <a:lnSpc>
                <a:spcPts val="7738"/>
              </a:lnSpc>
            </a:pPr>
            <a:r>
              <a:rPr lang="en-US" sz="5528">
                <a:solidFill>
                  <a:srgbClr val="FDA104"/>
                </a:solidFill>
                <a:latin typeface="Gagalin"/>
                <a:ea typeface="Gagalin"/>
                <a:cs typeface="Gagalin"/>
                <a:sym typeface="Gagalin"/>
              </a:rPr>
              <a:t>DEMO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sp>
        <p:nvSpPr>
          <p:cNvPr name="Freeform 2" id="2"/>
          <p:cNvSpPr/>
          <p:nvPr/>
        </p:nvSpPr>
        <p:spPr>
          <a:xfrm flipH="false" flipV="false" rot="0">
            <a:off x="-1491015"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75228" y="-6376749"/>
            <a:ext cx="8266243" cy="8266243"/>
          </a:xfrm>
          <a:custGeom>
            <a:avLst/>
            <a:gdLst/>
            <a:ahLst/>
            <a:cxnLst/>
            <a:rect r="r" b="b" t="t" l="l"/>
            <a:pathLst>
              <a:path h="8266243" w="8266243">
                <a:moveTo>
                  <a:pt x="0" y="0"/>
                </a:moveTo>
                <a:lnTo>
                  <a:pt x="8266242" y="0"/>
                </a:lnTo>
                <a:lnTo>
                  <a:pt x="8266242"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041470"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26946" y="2246728"/>
            <a:ext cx="2315166" cy="3492046"/>
          </a:xfrm>
          <a:custGeom>
            <a:avLst/>
            <a:gdLst/>
            <a:ahLst/>
            <a:cxnLst/>
            <a:rect r="r" b="b" t="t" l="l"/>
            <a:pathLst>
              <a:path h="3492046" w="2315166">
                <a:moveTo>
                  <a:pt x="0" y="0"/>
                </a:moveTo>
                <a:lnTo>
                  <a:pt x="2315165" y="0"/>
                </a:lnTo>
                <a:lnTo>
                  <a:pt x="2315165" y="3492046"/>
                </a:lnTo>
                <a:lnTo>
                  <a:pt x="0" y="34920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4071" y="2373278"/>
            <a:ext cx="1980905" cy="2477110"/>
          </a:xfrm>
          <a:prstGeom prst="rect">
            <a:avLst/>
          </a:prstGeom>
        </p:spPr>
        <p:txBody>
          <a:bodyPr anchor="t" rtlCol="false" tIns="0" lIns="0" bIns="0" rIns="0">
            <a:spAutoFit/>
          </a:bodyPr>
          <a:lstStyle/>
          <a:p>
            <a:pPr algn="ctr">
              <a:lnSpc>
                <a:spcPts val="9939"/>
              </a:lnSpc>
            </a:pPr>
            <a:r>
              <a:rPr lang="en-US" sz="7098">
                <a:solidFill>
                  <a:srgbClr val="000000"/>
                </a:solidFill>
                <a:latin typeface="Gagalin"/>
                <a:ea typeface="Gagalin"/>
                <a:cs typeface="Gagalin"/>
                <a:sym typeface="Gagalin"/>
              </a:rPr>
              <a:t>week</a:t>
            </a:r>
          </a:p>
          <a:p>
            <a:pPr algn="ctr">
              <a:lnSpc>
                <a:spcPts val="9939"/>
              </a:lnSpc>
            </a:pPr>
            <a:r>
              <a:rPr lang="en-US" sz="7098">
                <a:solidFill>
                  <a:srgbClr val="000000"/>
                </a:solidFill>
                <a:latin typeface="Gagalin"/>
                <a:ea typeface="Gagalin"/>
                <a:cs typeface="Gagalin"/>
                <a:sym typeface="Gagalin"/>
              </a:rPr>
              <a:t>3</a:t>
            </a:r>
          </a:p>
        </p:txBody>
      </p:sp>
      <p:sp>
        <p:nvSpPr>
          <p:cNvPr name="Freeform 7" id="7"/>
          <p:cNvSpPr/>
          <p:nvPr/>
        </p:nvSpPr>
        <p:spPr>
          <a:xfrm flipH="false" flipV="false" rot="0">
            <a:off x="2642111" y="4285412"/>
            <a:ext cx="15162552" cy="3611442"/>
          </a:xfrm>
          <a:custGeom>
            <a:avLst/>
            <a:gdLst/>
            <a:ahLst/>
            <a:cxnLst/>
            <a:rect r="r" b="b" t="t" l="l"/>
            <a:pathLst>
              <a:path h="3611442" w="15162552">
                <a:moveTo>
                  <a:pt x="0" y="0"/>
                </a:moveTo>
                <a:lnTo>
                  <a:pt x="15162552" y="0"/>
                </a:lnTo>
                <a:lnTo>
                  <a:pt x="15162552" y="3611442"/>
                </a:lnTo>
                <a:lnTo>
                  <a:pt x="0" y="3611442"/>
                </a:lnTo>
                <a:lnTo>
                  <a:pt x="0" y="0"/>
                </a:lnTo>
                <a:close/>
              </a:path>
            </a:pathLst>
          </a:custGeom>
          <a:blipFill>
            <a:blip r:embed="rId6">
              <a:extLst>
                <a:ext uri="{96DAC541-7B7A-43D3-8B79-37D633B846F1}">
                  <asvg:svgBlip xmlns:asvg="http://schemas.microsoft.com/office/drawing/2016/SVG/main" r:embed="rId7"/>
                </a:ext>
              </a:extLst>
            </a:blip>
            <a:stretch>
              <a:fillRect l="-80" t="0" r="-80" b="0"/>
            </a:stretch>
          </a:blipFill>
        </p:spPr>
      </p:sp>
      <p:sp>
        <p:nvSpPr>
          <p:cNvPr name="TextBox 8" id="8"/>
          <p:cNvSpPr txBox="true"/>
          <p:nvPr/>
        </p:nvSpPr>
        <p:spPr>
          <a:xfrm rot="0">
            <a:off x="3839251" y="2079527"/>
            <a:ext cx="12768272" cy="5346611"/>
          </a:xfrm>
          <a:prstGeom prst="rect">
            <a:avLst/>
          </a:prstGeom>
        </p:spPr>
        <p:txBody>
          <a:bodyPr anchor="t" rtlCol="false" tIns="0" lIns="0" bIns="0" rIns="0">
            <a:spAutoFit/>
          </a:bodyPr>
          <a:lstStyle/>
          <a:p>
            <a:pPr algn="ctr">
              <a:lnSpc>
                <a:spcPts val="20300"/>
              </a:lnSpc>
            </a:pPr>
            <a:r>
              <a:rPr lang="en-US" sz="14500">
                <a:solidFill>
                  <a:srgbClr val="FDA104"/>
                </a:solidFill>
                <a:latin typeface="Gagalin"/>
                <a:ea typeface="Gagalin"/>
                <a:cs typeface="Gagalin"/>
                <a:sym typeface="Gagalin"/>
              </a:rPr>
              <a:t>Any</a:t>
            </a:r>
          </a:p>
          <a:p>
            <a:pPr algn="ctr">
              <a:lnSpc>
                <a:spcPts val="20300"/>
              </a:lnSpc>
            </a:pPr>
            <a:r>
              <a:rPr lang="en-US" sz="14500">
                <a:solidFill>
                  <a:srgbClr val="FFFFFF"/>
                </a:solidFill>
                <a:latin typeface="Gagalin"/>
                <a:ea typeface="Gagalin"/>
                <a:cs typeface="Gagalin"/>
                <a:sym typeface="Gagalin"/>
              </a:rPr>
              <a:t>questions??</a:t>
            </a:r>
          </a:p>
        </p:txBody>
      </p:sp>
      <p:sp>
        <p:nvSpPr>
          <p:cNvPr name="TextBox 9" id="9"/>
          <p:cNvSpPr txBox="true"/>
          <p:nvPr/>
        </p:nvSpPr>
        <p:spPr>
          <a:xfrm rot="0">
            <a:off x="623306" y="5538740"/>
            <a:ext cx="2018805" cy="2034035"/>
          </a:xfrm>
          <a:prstGeom prst="rect">
            <a:avLst/>
          </a:prstGeom>
        </p:spPr>
        <p:txBody>
          <a:bodyPr anchor="t" rtlCol="false" tIns="0" lIns="0" bIns="0" rIns="0">
            <a:spAutoFit/>
          </a:bodyPr>
          <a:lstStyle/>
          <a:p>
            <a:pPr algn="ctr">
              <a:lnSpc>
                <a:spcPts val="7811"/>
              </a:lnSpc>
            </a:pPr>
            <a:r>
              <a:rPr lang="en-US" sz="5578">
                <a:solidFill>
                  <a:srgbClr val="FFFFFF"/>
                </a:solidFill>
                <a:latin typeface="Gagalin"/>
                <a:ea typeface="Gagalin"/>
                <a:cs typeface="Gagalin"/>
                <a:sym typeface="Gagalin"/>
              </a:rPr>
              <a:t>CLOUD </a:t>
            </a:r>
          </a:p>
          <a:p>
            <a:pPr algn="ctr">
              <a:lnSpc>
                <a:spcPts val="7811"/>
              </a:lnSpc>
            </a:pPr>
          </a:p>
        </p:txBody>
      </p:sp>
      <p:sp>
        <p:nvSpPr>
          <p:cNvPr name="TextBox 10" id="10"/>
          <p:cNvSpPr txBox="true"/>
          <p:nvPr/>
        </p:nvSpPr>
        <p:spPr>
          <a:xfrm rot="0">
            <a:off x="604256" y="6382045"/>
            <a:ext cx="1825371" cy="2034026"/>
          </a:xfrm>
          <a:prstGeom prst="rect">
            <a:avLst/>
          </a:prstGeom>
        </p:spPr>
        <p:txBody>
          <a:bodyPr anchor="t" rtlCol="false" tIns="0" lIns="0" bIns="0" rIns="0">
            <a:spAutoFit/>
          </a:bodyPr>
          <a:lstStyle/>
          <a:p>
            <a:pPr algn="ctr">
              <a:lnSpc>
                <a:spcPts val="7811"/>
              </a:lnSpc>
            </a:pPr>
            <a:r>
              <a:rPr lang="en-US" sz="5578">
                <a:solidFill>
                  <a:srgbClr val="FDA104"/>
                </a:solidFill>
                <a:latin typeface="Gagalin"/>
                <a:ea typeface="Gagalin"/>
                <a:cs typeface="Gagalin"/>
                <a:sym typeface="Gagalin"/>
              </a:rPr>
              <a:t>FORGE</a:t>
            </a:r>
          </a:p>
          <a:p>
            <a:pPr algn="ctr">
              <a:lnSpc>
                <a:spcPts val="7811"/>
              </a:lnSpc>
            </a:pPr>
          </a:p>
        </p:txBody>
      </p:sp>
      <p:sp>
        <p:nvSpPr>
          <p:cNvPr name="TextBox 11" id="11"/>
          <p:cNvSpPr txBox="true"/>
          <p:nvPr/>
        </p:nvSpPr>
        <p:spPr>
          <a:xfrm rot="0">
            <a:off x="-1002992" y="-100012"/>
            <a:ext cx="8884891" cy="580711"/>
          </a:xfrm>
          <a:prstGeom prst="rect">
            <a:avLst/>
          </a:prstGeom>
        </p:spPr>
        <p:txBody>
          <a:bodyPr anchor="t" rtlCol="false" tIns="0" lIns="0" bIns="0" rIns="0">
            <a:spAutoFit/>
          </a:bodyPr>
          <a:lstStyle/>
          <a:p>
            <a:pPr algn="ctr">
              <a:lnSpc>
                <a:spcPts val="4480"/>
              </a:lnSpc>
            </a:pPr>
            <a:r>
              <a:rPr lang="en-US" sz="3200" b="true">
                <a:solidFill>
                  <a:srgbClr val="FDA104"/>
                </a:solidFill>
                <a:latin typeface="Inter Bold"/>
                <a:ea typeface="Inter Bold"/>
                <a:cs typeface="Inter Bold"/>
                <a:sym typeface="Inter Bold"/>
              </a:rPr>
              <a:t>AWS STUDENT BUILDER GROUP</a:t>
            </a:r>
          </a:p>
        </p:txBody>
      </p:sp>
      <p:sp>
        <p:nvSpPr>
          <p:cNvPr name="TextBox 12" id="12"/>
          <p:cNvSpPr txBox="true"/>
          <p:nvPr/>
        </p:nvSpPr>
        <p:spPr>
          <a:xfrm rot="0">
            <a:off x="921458" y="413861"/>
            <a:ext cx="5667785" cy="424967"/>
          </a:xfrm>
          <a:prstGeom prst="rect">
            <a:avLst/>
          </a:prstGeom>
        </p:spPr>
        <p:txBody>
          <a:bodyPr anchor="t" rtlCol="false" tIns="0" lIns="0" bIns="0" rIns="0">
            <a:spAutoFit/>
          </a:bodyPr>
          <a:lstStyle/>
          <a:p>
            <a:pPr algn="ctr">
              <a:lnSpc>
                <a:spcPts val="3220"/>
              </a:lnSpc>
            </a:pPr>
            <a:r>
              <a:rPr lang="en-US" sz="2300" i="true">
                <a:solidFill>
                  <a:srgbClr val="FDA104"/>
                </a:solidFill>
                <a:latin typeface="Inter Italics"/>
                <a:ea typeface="Inter Italics"/>
                <a:cs typeface="Inter Italics"/>
                <a:sym typeface="Inter Italics"/>
              </a:rPr>
              <a:t>EGERTON UNIVERSITY</a:t>
            </a:r>
          </a:p>
        </p:txBody>
      </p:sp>
      <p:sp>
        <p:nvSpPr>
          <p:cNvPr name="TextBox 13" id="13"/>
          <p:cNvSpPr txBox="true"/>
          <p:nvPr/>
        </p:nvSpPr>
        <p:spPr>
          <a:xfrm rot="0">
            <a:off x="14360119" y="9201150"/>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3242172" y="9181176"/>
            <a:ext cx="1730425"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25th June</a:t>
            </a:r>
            <a:r>
              <a:rPr lang="en-US" sz="2200">
                <a:solidFill>
                  <a:srgbClr val="4D4D4D"/>
                </a:solidFill>
                <a:latin typeface="Anton"/>
                <a:ea typeface="Anton"/>
                <a:cs typeface="Anton"/>
                <a:sym typeface="Anton"/>
              </a:rPr>
              <a:t> 2026</a:t>
            </a:r>
          </a:p>
        </p:txBody>
      </p:sp>
      <p:sp>
        <p:nvSpPr>
          <p:cNvPr name="TextBox 15" id="15"/>
          <p:cNvSpPr txBox="true"/>
          <p:nvPr/>
        </p:nvSpPr>
        <p:spPr>
          <a:xfrm rot="0">
            <a:off x="0" y="9201150"/>
            <a:ext cx="2429627"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Ephy Kimotho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DAHNYivsZbM</dc:identifier>
  <dcterms:modified xsi:type="dcterms:W3CDTF">2011-08-01T06:04:30Z</dcterms:modified>
  <cp:revision>1</cp:revision>
  <dc:title>Week 3 Networking in the cloud </dc:title>
</cp:coreProperties>
</file>