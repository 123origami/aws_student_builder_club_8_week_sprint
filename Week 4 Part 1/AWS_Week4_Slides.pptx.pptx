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galin" charset="1" panose="00000500000000000000"/>
      <p:regular r:id="rId18"/>
    </p:embeddedFont>
    <p:embeddedFont>
      <p:font typeface="Inter Bold" charset="1" panose="02000503000000020004"/>
      <p:regular r:id="rId19"/>
    </p:embeddedFont>
    <p:embeddedFont>
      <p:font typeface="Inter Italics" charset="1" panose="02000503000000020004"/>
      <p:regular r:id="rId20"/>
    </p:embeddedFont>
    <p:embeddedFont>
      <p:font typeface="Anton" charset="1" panose="00000500000000000000"/>
      <p:regular r:id="rId21"/>
    </p:embeddedFont>
    <p:embeddedFont>
      <p:font typeface="Antic" charset="1" panose="00000000000000000000"/>
      <p:regular r:id="rId22"/>
    </p:embeddedFont>
    <p:embeddedFont>
      <p:font typeface="Sigher" charset="1" panose="00000000000000000000"/>
      <p:regular r:id="rId23"/>
    </p:embeddedFont>
    <p:embeddedFont>
      <p:font typeface="Antic Bold" charset="1" panose="00000000000000000000"/>
      <p:regular r:id="rId24"/>
    </p:embeddedFont>
    <p:embeddedFont>
      <p:font typeface="Arimo Bold" charset="1" panose="020B0704020202020204"/>
      <p:regular r:id="rId25"/>
    </p:embeddedFont>
    <p:embeddedFont>
      <p:font typeface="Inter" charset="1" panose="0200050300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2" Target="../media/image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91015" y="-6376749"/>
            <a:ext cx="8266243" cy="8266243"/>
          </a:xfrm>
          <a:custGeom>
            <a:avLst/>
            <a:gdLst/>
            <a:ahLst/>
            <a:cxnLst/>
            <a:rect r="r" b="b" t="t" l="l"/>
            <a:pathLst>
              <a:path h="8266243" w="8266243">
                <a:moveTo>
                  <a:pt x="0" y="0"/>
                </a:moveTo>
                <a:lnTo>
                  <a:pt x="8266243" y="0"/>
                </a:lnTo>
                <a:lnTo>
                  <a:pt x="8266243" y="8266242"/>
                </a:lnTo>
                <a:lnTo>
                  <a:pt x="0" y="8266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75228" y="-6376749"/>
            <a:ext cx="8266243" cy="8266243"/>
          </a:xfrm>
          <a:custGeom>
            <a:avLst/>
            <a:gdLst/>
            <a:ahLst/>
            <a:cxnLst/>
            <a:rect r="r" b="b" t="t" l="l"/>
            <a:pathLst>
              <a:path h="8266243" w="8266243">
                <a:moveTo>
                  <a:pt x="0" y="0"/>
                </a:moveTo>
                <a:lnTo>
                  <a:pt x="8266242" y="0"/>
                </a:lnTo>
                <a:lnTo>
                  <a:pt x="8266242" y="8266242"/>
                </a:lnTo>
                <a:lnTo>
                  <a:pt x="0" y="8266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41470" y="-6376749"/>
            <a:ext cx="8266243" cy="8266243"/>
          </a:xfrm>
          <a:custGeom>
            <a:avLst/>
            <a:gdLst/>
            <a:ahLst/>
            <a:cxnLst/>
            <a:rect r="r" b="b" t="t" l="l"/>
            <a:pathLst>
              <a:path h="8266243" w="8266243">
                <a:moveTo>
                  <a:pt x="0" y="0"/>
                </a:moveTo>
                <a:lnTo>
                  <a:pt x="8266243" y="0"/>
                </a:lnTo>
                <a:lnTo>
                  <a:pt x="8266243" y="8266242"/>
                </a:lnTo>
                <a:lnTo>
                  <a:pt x="0" y="8266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6946" y="2246728"/>
            <a:ext cx="2315166" cy="3492046"/>
          </a:xfrm>
          <a:custGeom>
            <a:avLst/>
            <a:gdLst/>
            <a:ahLst/>
            <a:cxnLst/>
            <a:rect r="r" b="b" t="t" l="l"/>
            <a:pathLst>
              <a:path h="3492046" w="2315166">
                <a:moveTo>
                  <a:pt x="0" y="0"/>
                </a:moveTo>
                <a:lnTo>
                  <a:pt x="2315165" y="0"/>
                </a:lnTo>
                <a:lnTo>
                  <a:pt x="2315165" y="3492046"/>
                </a:lnTo>
                <a:lnTo>
                  <a:pt x="0" y="34920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4071" y="2373278"/>
            <a:ext cx="1980905" cy="258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</a:pPr>
            <a:r>
              <a:rPr lang="en-US" sz="7098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week</a:t>
            </a:r>
          </a:p>
          <a:p>
            <a:pPr algn="ctr">
              <a:lnSpc>
                <a:spcPts val="9939"/>
              </a:lnSpc>
            </a:pPr>
            <a:r>
              <a:rPr lang="en-US" sz="7098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642111" y="4285412"/>
            <a:ext cx="15162552" cy="3611442"/>
          </a:xfrm>
          <a:custGeom>
            <a:avLst/>
            <a:gdLst/>
            <a:ahLst/>
            <a:cxnLst/>
            <a:rect r="r" b="b" t="t" l="l"/>
            <a:pathLst>
              <a:path h="3611442" w="15162552">
                <a:moveTo>
                  <a:pt x="0" y="0"/>
                </a:moveTo>
                <a:lnTo>
                  <a:pt x="15162552" y="0"/>
                </a:lnTo>
                <a:lnTo>
                  <a:pt x="15162552" y="3611442"/>
                </a:lnTo>
                <a:lnTo>
                  <a:pt x="0" y="3611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0" t="0" r="-8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87772" y="1848860"/>
            <a:ext cx="12768272" cy="534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0"/>
              </a:lnSpc>
            </a:pPr>
            <a:r>
              <a:rPr lang="en-US" sz="14500">
                <a:solidFill>
                  <a:srgbClr val="FDA104"/>
                </a:solidFill>
                <a:latin typeface="Gagalin"/>
                <a:ea typeface="Gagalin"/>
                <a:cs typeface="Gagalin"/>
                <a:sym typeface="Gagalin"/>
              </a:rPr>
              <a:t>Storage:</a:t>
            </a:r>
          </a:p>
          <a:p>
            <a:pPr algn="ctr">
              <a:lnSpc>
                <a:spcPts val="20300"/>
              </a:lnSpc>
            </a:pPr>
            <a:r>
              <a:rPr lang="en-US" sz="145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ebs &amp; amis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306" y="5538740"/>
            <a:ext cx="2018805" cy="20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1"/>
              </a:lnSpc>
            </a:pPr>
            <a:r>
              <a:rPr lang="en-US" sz="557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CLOUD </a:t>
            </a:r>
          </a:p>
          <a:p>
            <a:pPr algn="ctr">
              <a:lnSpc>
                <a:spcPts val="781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04256" y="6382045"/>
            <a:ext cx="1825371" cy="203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1"/>
              </a:lnSpc>
            </a:pPr>
            <a:r>
              <a:rPr lang="en-US" sz="5578">
                <a:solidFill>
                  <a:srgbClr val="FDA104"/>
                </a:solidFill>
                <a:latin typeface="Gagalin"/>
                <a:ea typeface="Gagalin"/>
                <a:cs typeface="Gagalin"/>
                <a:sym typeface="Gagalin"/>
              </a:rPr>
              <a:t>FORGE</a:t>
            </a:r>
          </a:p>
          <a:p>
            <a:pPr algn="ctr">
              <a:lnSpc>
                <a:spcPts val="781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1002992" y="-100012"/>
            <a:ext cx="8884891" cy="58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DA104"/>
                </a:solidFill>
                <a:latin typeface="Inter Bold"/>
                <a:ea typeface="Inter Bold"/>
                <a:cs typeface="Inter Bold"/>
                <a:sym typeface="Inter Bold"/>
              </a:rPr>
              <a:t>AWS STUDENT BUILDER 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1458" y="413861"/>
            <a:ext cx="5667785" cy="42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i="true">
                <a:solidFill>
                  <a:srgbClr val="FDA104"/>
                </a:solidFill>
                <a:latin typeface="Inter Italics"/>
                <a:ea typeface="Inter Italics"/>
                <a:cs typeface="Inter Italics"/>
                <a:sym typeface="Inter Italics"/>
              </a:rPr>
              <a:t>EGERTON UNIVERSITY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1058" y="876300"/>
            <a:ext cx="2896791" cy="68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PRESENTS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60119" y="9201150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22378" y="9181176"/>
            <a:ext cx="1770013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June 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9201150"/>
            <a:ext cx="2642111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Stephanie 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Makori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4098305" y="9535792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4386" y="2004184"/>
            <a:ext cx="7920342" cy="7273109"/>
          </a:xfrm>
          <a:custGeom>
            <a:avLst/>
            <a:gdLst/>
            <a:ahLst/>
            <a:cxnLst/>
            <a:rect r="r" b="b" t="t" l="l"/>
            <a:pathLst>
              <a:path h="7273109" w="7920342">
                <a:moveTo>
                  <a:pt x="0" y="0"/>
                </a:moveTo>
                <a:lnTo>
                  <a:pt x="7920342" y="0"/>
                </a:lnTo>
                <a:lnTo>
                  <a:pt x="7920342" y="7273109"/>
                </a:lnTo>
                <a:lnTo>
                  <a:pt x="0" y="727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4867" y="1771650"/>
            <a:ext cx="38100" cy="7524693"/>
            <a:chOff x="0" y="0"/>
            <a:chExt cx="50800" cy="100329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36137" y="2254625"/>
            <a:ext cx="38100" cy="7524693"/>
            <a:chOff x="0" y="0"/>
            <a:chExt cx="50800" cy="100329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26028" y="1495425"/>
            <a:ext cx="17297400" cy="38100"/>
            <a:chOff x="0" y="0"/>
            <a:chExt cx="2306320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831353" y="1771650"/>
            <a:ext cx="38100" cy="7524693"/>
            <a:chOff x="0" y="0"/>
            <a:chExt cx="50800" cy="100329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552622" y="2254625"/>
            <a:ext cx="38100" cy="7524693"/>
            <a:chOff x="0" y="0"/>
            <a:chExt cx="50800" cy="100329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0" y="10032873"/>
                  </a:moveTo>
                  <a:lnTo>
                    <a:pt x="508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-371846" y="341157"/>
            <a:ext cx="887472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sz="599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Table of contents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56367" y="2532526"/>
            <a:ext cx="7346994" cy="1319260"/>
          </a:xfrm>
          <a:custGeom>
            <a:avLst/>
            <a:gdLst/>
            <a:ahLst/>
            <a:cxnLst/>
            <a:rect r="r" b="b" t="t" l="l"/>
            <a:pathLst>
              <a:path h="1319260" w="7346994">
                <a:moveTo>
                  <a:pt x="0" y="0"/>
                </a:moveTo>
                <a:lnTo>
                  <a:pt x="7346995" y="0"/>
                </a:lnTo>
                <a:lnTo>
                  <a:pt x="7346995" y="1319260"/>
                </a:lnTo>
                <a:lnTo>
                  <a:pt x="0" y="1319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6367" y="4055574"/>
            <a:ext cx="7346994" cy="1248099"/>
          </a:xfrm>
          <a:custGeom>
            <a:avLst/>
            <a:gdLst/>
            <a:ahLst/>
            <a:cxnLst/>
            <a:rect r="r" b="b" t="t" l="l"/>
            <a:pathLst>
              <a:path h="1248099" w="7346994">
                <a:moveTo>
                  <a:pt x="0" y="0"/>
                </a:moveTo>
                <a:lnTo>
                  <a:pt x="7346995" y="0"/>
                </a:lnTo>
                <a:lnTo>
                  <a:pt x="7346995" y="1248098"/>
                </a:lnTo>
                <a:lnTo>
                  <a:pt x="0" y="12480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56367" y="5562524"/>
            <a:ext cx="7346994" cy="1434017"/>
          </a:xfrm>
          <a:custGeom>
            <a:avLst/>
            <a:gdLst/>
            <a:ahLst/>
            <a:cxnLst/>
            <a:rect r="r" b="b" t="t" l="l"/>
            <a:pathLst>
              <a:path h="1434017" w="7346994">
                <a:moveTo>
                  <a:pt x="0" y="0"/>
                </a:moveTo>
                <a:lnTo>
                  <a:pt x="7346995" y="0"/>
                </a:lnTo>
                <a:lnTo>
                  <a:pt x="7346995" y="1434017"/>
                </a:lnTo>
                <a:lnTo>
                  <a:pt x="0" y="14340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6367" y="7253869"/>
            <a:ext cx="7346994" cy="1297657"/>
          </a:xfrm>
          <a:custGeom>
            <a:avLst/>
            <a:gdLst/>
            <a:ahLst/>
            <a:cxnLst/>
            <a:rect r="r" b="b" t="t" l="l"/>
            <a:pathLst>
              <a:path h="1297657" w="7346994">
                <a:moveTo>
                  <a:pt x="0" y="0"/>
                </a:moveTo>
                <a:lnTo>
                  <a:pt x="7346995" y="0"/>
                </a:lnTo>
                <a:lnTo>
                  <a:pt x="7346995" y="1297657"/>
                </a:lnTo>
                <a:lnTo>
                  <a:pt x="0" y="1297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84103" y="3126896"/>
            <a:ext cx="6691532" cy="38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What is EBS??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3616" y="2637130"/>
            <a:ext cx="6691532" cy="86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INTRODUCTION TO EBS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93616" y="4256227"/>
            <a:ext cx="6691532" cy="44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EBS VOLUME TYPES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3616" y="5767626"/>
            <a:ext cx="6691532" cy="44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What IS AN AMI?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3616" y="7402849"/>
            <a:ext cx="6691532" cy="44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CREATING AN AMI — LIVE DEMO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4103" y="4799943"/>
            <a:ext cx="6691532" cy="38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EBS Volume Types — Know These Five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3616" y="6259106"/>
            <a:ext cx="6691532" cy="73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Amazon Machine Images — Capture, Reuse, Share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84103" y="7866536"/>
            <a:ext cx="6691532" cy="73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Creating a Custom AMI — Step by Step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-3324044" y="119063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intro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247699" y="1675667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3" y="0"/>
                </a:lnTo>
                <a:lnTo>
                  <a:pt x="1385563" y="341766"/>
                </a:lnTo>
                <a:lnTo>
                  <a:pt x="0" y="3417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945653" y="2004184"/>
            <a:ext cx="7920342" cy="7273109"/>
          </a:xfrm>
          <a:custGeom>
            <a:avLst/>
            <a:gdLst/>
            <a:ahLst/>
            <a:cxnLst/>
            <a:rect r="r" b="b" t="t" l="l"/>
            <a:pathLst>
              <a:path h="7273109" w="7920342">
                <a:moveTo>
                  <a:pt x="0" y="0"/>
                </a:moveTo>
                <a:lnTo>
                  <a:pt x="7920342" y="0"/>
                </a:lnTo>
                <a:lnTo>
                  <a:pt x="7920342" y="7273109"/>
                </a:lnTo>
                <a:lnTo>
                  <a:pt x="0" y="727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229707" y="2535650"/>
            <a:ext cx="7346994" cy="1319260"/>
          </a:xfrm>
          <a:custGeom>
            <a:avLst/>
            <a:gdLst/>
            <a:ahLst/>
            <a:cxnLst/>
            <a:rect r="r" b="b" t="t" l="l"/>
            <a:pathLst>
              <a:path h="1319260" w="7346994">
                <a:moveTo>
                  <a:pt x="0" y="0"/>
                </a:moveTo>
                <a:lnTo>
                  <a:pt x="7346995" y="0"/>
                </a:lnTo>
                <a:lnTo>
                  <a:pt x="7346995" y="1319260"/>
                </a:lnTo>
                <a:lnTo>
                  <a:pt x="0" y="1319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229707" y="4058698"/>
            <a:ext cx="7346994" cy="1248099"/>
          </a:xfrm>
          <a:custGeom>
            <a:avLst/>
            <a:gdLst/>
            <a:ahLst/>
            <a:cxnLst/>
            <a:rect r="r" b="b" t="t" l="l"/>
            <a:pathLst>
              <a:path h="1248099" w="7346994">
                <a:moveTo>
                  <a:pt x="0" y="0"/>
                </a:moveTo>
                <a:lnTo>
                  <a:pt x="7346995" y="0"/>
                </a:lnTo>
                <a:lnTo>
                  <a:pt x="7346995" y="1248099"/>
                </a:lnTo>
                <a:lnTo>
                  <a:pt x="0" y="12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229707" y="5565658"/>
            <a:ext cx="7346994" cy="1434017"/>
          </a:xfrm>
          <a:custGeom>
            <a:avLst/>
            <a:gdLst/>
            <a:ahLst/>
            <a:cxnLst/>
            <a:rect r="r" b="b" t="t" l="l"/>
            <a:pathLst>
              <a:path h="1434017" w="7346994">
                <a:moveTo>
                  <a:pt x="0" y="0"/>
                </a:moveTo>
                <a:lnTo>
                  <a:pt x="7346995" y="0"/>
                </a:lnTo>
                <a:lnTo>
                  <a:pt x="7346995" y="1434017"/>
                </a:lnTo>
                <a:lnTo>
                  <a:pt x="0" y="14340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229707" y="7256993"/>
            <a:ext cx="7346994" cy="1297657"/>
          </a:xfrm>
          <a:custGeom>
            <a:avLst/>
            <a:gdLst/>
            <a:ahLst/>
            <a:cxnLst/>
            <a:rect r="r" b="b" t="t" l="l"/>
            <a:pathLst>
              <a:path h="1297657" w="7346994">
                <a:moveTo>
                  <a:pt x="0" y="0"/>
                </a:moveTo>
                <a:lnTo>
                  <a:pt x="7346995" y="0"/>
                </a:lnTo>
                <a:lnTo>
                  <a:pt x="7346995" y="1297657"/>
                </a:lnTo>
                <a:lnTo>
                  <a:pt x="0" y="1297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557443" y="3130020"/>
            <a:ext cx="6691532" cy="73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Snapshots vs AMIs — What's the Difference?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0466956" y="2640263"/>
            <a:ext cx="6691532" cy="44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SNAPSHOTS VS AMIS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66956" y="4259351"/>
            <a:ext cx="6691532" cy="44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INSTANCE STORE VS EBS-BACKED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66956" y="5770750"/>
            <a:ext cx="6691532" cy="44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KEY TAKEAWAYS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66956" y="7405973"/>
            <a:ext cx="6691532" cy="44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ASSESSMENT &amp; LAB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557443" y="4803077"/>
            <a:ext cx="6691532" cy="38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What’s Next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57443" y="6386065"/>
            <a:ext cx="6691532" cy="73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What We Covered Today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0557443" y="7869660"/>
            <a:ext cx="6691532" cy="73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What's Next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10020300"/>
            <a:ext cx="18554700" cy="266700"/>
            <a:chOff x="0" y="0"/>
            <a:chExt cx="24739600" cy="35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0"/>
                  </a:moveTo>
                  <a:lnTo>
                    <a:pt x="24739600" y="3556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54386" y="2004184"/>
            <a:ext cx="16304914" cy="7273109"/>
          </a:xfrm>
          <a:custGeom>
            <a:avLst/>
            <a:gdLst/>
            <a:ahLst/>
            <a:cxnLst/>
            <a:rect r="r" b="b" t="t" l="l"/>
            <a:pathLst>
              <a:path h="7273109" w="16304914">
                <a:moveTo>
                  <a:pt x="0" y="0"/>
                </a:moveTo>
                <a:lnTo>
                  <a:pt x="16304914" y="0"/>
                </a:lnTo>
                <a:lnTo>
                  <a:pt x="16304914" y="7273109"/>
                </a:lnTo>
                <a:lnTo>
                  <a:pt x="0" y="727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14867" y="1771650"/>
            <a:ext cx="38100" cy="7524693"/>
            <a:chOff x="0" y="0"/>
            <a:chExt cx="50800" cy="100329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36137" y="2254625"/>
            <a:ext cx="38100" cy="7524693"/>
            <a:chOff x="0" y="0"/>
            <a:chExt cx="50800" cy="100329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26028" y="1495425"/>
            <a:ext cx="17297400" cy="38100"/>
            <a:chOff x="0" y="0"/>
            <a:chExt cx="2306320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91092" y="2160308"/>
            <a:ext cx="15739234" cy="350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EBS = Elastic Block Store — persistent storage for EC2</a:t>
            </a:r>
          </a:p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Analogy: EBS is like a USB external hard drive you plug into a laptop</a:t>
            </a:r>
          </a:p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–The laptop (EC2) can run without it</a:t>
            </a:r>
          </a:p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–You can unplug it and move it to a different laptop</a:t>
            </a:r>
          </a:p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–Data stays on the drive even when you unplug 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98305" y="9535792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2529830" y="176860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EBS Analogy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5078" y="378152"/>
            <a:ext cx="13853227" cy="106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8"/>
              </a:lnSpc>
            </a:pPr>
            <a:r>
              <a:rPr lang="en-US" sz="552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What is EBS??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7699" y="1675667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3" y="0"/>
                </a:lnTo>
                <a:lnTo>
                  <a:pt x="1385563" y="341766"/>
                </a:lnTo>
                <a:lnTo>
                  <a:pt x="0" y="34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-1760753" y="5671223"/>
            <a:ext cx="823859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DA104"/>
                </a:solidFill>
                <a:latin typeface="Anton"/>
                <a:ea typeface="Anton"/>
                <a:cs typeface="Anton"/>
                <a:sym typeface="Anton"/>
              </a:rPr>
              <a:t>key properties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917" y="5804573"/>
            <a:ext cx="15739234" cy="281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</a:p>
          <a:p>
            <a:pPr algn="l" marL="891540" indent="-297180" lvl="2">
              <a:lnSpc>
                <a:spcPts val="5459"/>
              </a:lnSpc>
              <a:buFont typeface="Arial"/>
              <a:buChar char="⚬"/>
            </a:pPr>
            <a:r>
              <a:rPr lang="en-US" sz="39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Data persists even when the instance is stopped or terminated</a:t>
            </a:r>
          </a:p>
          <a:p>
            <a:pPr algn="l" marL="891540" indent="-297180" lvl="2">
              <a:lnSpc>
                <a:spcPts val="5459"/>
              </a:lnSpc>
              <a:buFont typeface="Arial"/>
              <a:buChar char="⚬"/>
            </a:pPr>
            <a:r>
              <a:rPr lang="en-US" sz="39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One EBS volume attaches to one instance at a time</a:t>
            </a:r>
          </a:p>
          <a:p>
            <a:pPr algn="l" marL="891540" indent="-297180" lvl="2">
              <a:lnSpc>
                <a:spcPts val="5459"/>
              </a:lnSpc>
              <a:buFont typeface="Arial"/>
              <a:buChar char="⚬"/>
            </a:pPr>
            <a:r>
              <a:rPr lang="en-US" sz="39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Must be in the same Availability Zone as the instance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10020300"/>
            <a:ext cx="18554700" cy="266700"/>
            <a:chOff x="0" y="0"/>
            <a:chExt cx="24739600" cy="35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0"/>
                  </a:moveTo>
                  <a:lnTo>
                    <a:pt x="24739600" y="3556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9650" y="1712690"/>
            <a:ext cx="17297400" cy="38100"/>
            <a:chOff x="0" y="0"/>
            <a:chExt cx="230632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47699" y="1529548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3" y="0"/>
                </a:lnTo>
                <a:lnTo>
                  <a:pt x="1385563" y="341767"/>
                </a:lnTo>
                <a:lnTo>
                  <a:pt x="0" y="341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8849" y="1927984"/>
            <a:ext cx="17350302" cy="7469267"/>
          </a:xfrm>
          <a:custGeom>
            <a:avLst/>
            <a:gdLst/>
            <a:ahLst/>
            <a:cxnLst/>
            <a:rect r="r" b="b" t="t" l="l"/>
            <a:pathLst>
              <a:path h="7469267" w="17350302">
                <a:moveTo>
                  <a:pt x="0" y="0"/>
                </a:moveTo>
                <a:lnTo>
                  <a:pt x="17350302" y="0"/>
                </a:lnTo>
                <a:lnTo>
                  <a:pt x="17350302" y="7469267"/>
                </a:lnTo>
                <a:lnTo>
                  <a:pt x="0" y="7469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14886" y="1819275"/>
            <a:ext cx="38100" cy="7524693"/>
            <a:chOff x="0" y="0"/>
            <a:chExt cx="50800" cy="100329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54343" y="2302250"/>
            <a:ext cx="38100" cy="7524693"/>
            <a:chOff x="0" y="0"/>
            <a:chExt cx="50800" cy="100329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776814" y="2217456"/>
          <a:ext cx="16941800" cy="6451600"/>
        </p:xfrm>
        <a:graphic>
          <a:graphicData uri="http://schemas.openxmlformats.org/drawingml/2006/table">
            <a:tbl>
              <a:tblPr/>
              <a:tblGrid>
                <a:gridCol w="2263776"/>
                <a:gridCol w="6128337"/>
                <a:gridCol w="8549687"/>
              </a:tblGrid>
              <a:tr h="13241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Gagalin"/>
                          <a:ea typeface="Gagalin"/>
                          <a:cs typeface="Gagalin"/>
                          <a:sym typeface="Gagalin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Gagalin"/>
                          <a:ea typeface="Gagalin"/>
                          <a:cs typeface="Gagalin"/>
                          <a:sym typeface="Gagalin"/>
                        </a:rPr>
                        <a:t>Best For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900">
                          <a:solidFill>
                            <a:srgbClr val="000000"/>
                          </a:solidFill>
                          <a:latin typeface="Gagalin"/>
                          <a:ea typeface="Gagalin"/>
                          <a:cs typeface="Gagalin"/>
                          <a:sym typeface="Gagalin"/>
                        </a:rPr>
                        <a:t>Notes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04"/>
                    </a:solidFill>
                  </a:tcPr>
                </a:tc>
              </a:tr>
              <a:tr h="10219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 Bold"/>
                          <a:ea typeface="Antic Bold"/>
                          <a:cs typeface="Antic Bold"/>
                          <a:sym typeface="Antic Bold"/>
                        </a:rPr>
                        <a:t>gp3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Most workloads (default choice)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3,000 IOPS baseline — always pick this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9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 Bold"/>
                          <a:ea typeface="Antic Bold"/>
                          <a:cs typeface="Antic Bold"/>
                          <a:sym typeface="Antic Bold"/>
                        </a:rPr>
                        <a:t>gp2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Legacy general 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Older — avoid for new volumes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9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 Bold"/>
                          <a:ea typeface="Antic Bold"/>
                          <a:cs typeface="Antic Bold"/>
                          <a:sym typeface="Antic Bold"/>
                        </a:rPr>
                        <a:t>io2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High-performance databases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Expensive — not needed for this course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97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Large sequential reads (logs)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HDD — cheap but slow random access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9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 Bold"/>
                          <a:ea typeface="Antic Bold"/>
                          <a:cs typeface="Antic Bold"/>
                          <a:sym typeface="Antic Bold"/>
                        </a:rPr>
                        <a:t>sc1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Rarely accessed cold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Antic"/>
                          <a:ea typeface="Antic"/>
                          <a:cs typeface="Antic"/>
                          <a:sym typeface="Antic"/>
                        </a:rPr>
                        <a:t>Cheapest option available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DA1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4098305" y="9535792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339404"/>
            <a:ext cx="1409830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sz="599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EBS Volume Types — Know These Five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2346274" y="305438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EBS  Volume Types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10020300"/>
            <a:ext cx="18554700" cy="266700"/>
            <a:chOff x="0" y="0"/>
            <a:chExt cx="24739600" cy="35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0"/>
                  </a:moveTo>
                  <a:lnTo>
                    <a:pt x="24739600" y="3556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26028" y="1495425"/>
            <a:ext cx="17297400" cy="38100"/>
            <a:chOff x="0" y="0"/>
            <a:chExt cx="230632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526939" y="9477899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2175777" y="198758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Mounting an EBS Volume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5078" y="378152"/>
            <a:ext cx="16149161" cy="204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8"/>
              </a:lnSpc>
            </a:pPr>
            <a:r>
              <a:rPr lang="en-US" sz="552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Attaching &amp; Mounting — The 5-Command Sequence</a:t>
            </a:r>
          </a:p>
          <a:p>
            <a:pPr algn="ctr">
              <a:lnSpc>
                <a:spcPts val="7738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1589942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4" y="0"/>
                </a:lnTo>
                <a:lnTo>
                  <a:pt x="1385564" y="341766"/>
                </a:lnTo>
                <a:lnTo>
                  <a:pt x="0" y="341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76522" y="6027396"/>
            <a:ext cx="4762413" cy="3442904"/>
          </a:xfrm>
          <a:custGeom>
            <a:avLst/>
            <a:gdLst/>
            <a:ahLst/>
            <a:cxnLst/>
            <a:rect r="r" b="b" t="t" l="l"/>
            <a:pathLst>
              <a:path h="3442904" w="4762413">
                <a:moveTo>
                  <a:pt x="0" y="0"/>
                </a:moveTo>
                <a:lnTo>
                  <a:pt x="4762413" y="0"/>
                </a:lnTo>
                <a:lnTo>
                  <a:pt x="4762413" y="3442904"/>
                </a:lnTo>
                <a:lnTo>
                  <a:pt x="0" y="3442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10411" b="-989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95565" y="6238018"/>
            <a:ext cx="1215323" cy="98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>
                <a:solidFill>
                  <a:srgbClr val="FDA104"/>
                </a:solidFill>
                <a:latin typeface="Anton"/>
                <a:ea typeface="Anton"/>
                <a:cs typeface="Anton"/>
                <a:sym typeface="Anton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24055" y="7083057"/>
            <a:ext cx="420400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Create a mount point and mount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76522" y="8248444"/>
            <a:ext cx="4698206" cy="11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FDA104"/>
                </a:solidFill>
                <a:latin typeface="Inter"/>
                <a:ea typeface="Inter"/>
                <a:cs typeface="Inter"/>
                <a:sym typeface="Inter"/>
              </a:rPr>
              <a:t>sudo mkdir /data</a:t>
            </a:r>
          </a:p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FDA104"/>
                </a:solidFill>
                <a:latin typeface="Inter"/>
                <a:ea typeface="Inter"/>
                <a:cs typeface="Inter"/>
                <a:sym typeface="Inter"/>
              </a:rPr>
              <a:t>sudo mount /dev/xvdf /data</a:t>
            </a:r>
          </a:p>
          <a:p>
            <a:pPr algn="ctr">
              <a:lnSpc>
                <a:spcPts val="3057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689903" y="1908934"/>
            <a:ext cx="4384943" cy="3207108"/>
          </a:xfrm>
          <a:custGeom>
            <a:avLst/>
            <a:gdLst/>
            <a:ahLst/>
            <a:cxnLst/>
            <a:rect r="r" b="b" t="t" l="l"/>
            <a:pathLst>
              <a:path h="3207108" w="4384943">
                <a:moveTo>
                  <a:pt x="0" y="0"/>
                </a:moveTo>
                <a:lnTo>
                  <a:pt x="4384943" y="0"/>
                </a:lnTo>
                <a:lnTo>
                  <a:pt x="4384943" y="3207108"/>
                </a:lnTo>
                <a:lnTo>
                  <a:pt x="0" y="32071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513012" y="1918459"/>
            <a:ext cx="4409462" cy="3225041"/>
          </a:xfrm>
          <a:custGeom>
            <a:avLst/>
            <a:gdLst/>
            <a:ahLst/>
            <a:cxnLst/>
            <a:rect r="r" b="b" t="t" l="l"/>
            <a:pathLst>
              <a:path h="3225041" w="4409462">
                <a:moveTo>
                  <a:pt x="0" y="0"/>
                </a:moveTo>
                <a:lnTo>
                  <a:pt x="4409462" y="0"/>
                </a:lnTo>
                <a:lnTo>
                  <a:pt x="4409462" y="3225041"/>
                </a:lnTo>
                <a:lnTo>
                  <a:pt x="0" y="32250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059113" y="2222173"/>
            <a:ext cx="332480" cy="100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>
                <a:solidFill>
                  <a:srgbClr val="FDA104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35019" y="2222173"/>
            <a:ext cx="332480" cy="100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>
                <a:solidFill>
                  <a:srgbClr val="FDA104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18842" y="3155794"/>
            <a:ext cx="345031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SSH in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16201" y="3155794"/>
            <a:ext cx="345031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Format the volume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60279" y="4083768"/>
            <a:ext cx="3767442" cy="116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confirm that the device appears</a:t>
            </a:r>
          </a:p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FDA104"/>
                </a:solidFill>
                <a:latin typeface="Inter"/>
                <a:ea typeface="Inter"/>
                <a:cs typeface="Inter"/>
                <a:sym typeface="Inter"/>
              </a:rPr>
              <a:t>lsblk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55422" y="3920538"/>
            <a:ext cx="3767442" cy="154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only on first use — this erases data!)</a:t>
            </a:r>
          </a:p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FDA104"/>
                </a:solidFill>
                <a:latin typeface="Inter"/>
                <a:ea typeface="Inter"/>
                <a:cs typeface="Inter"/>
                <a:sym typeface="Inter"/>
              </a:rPr>
              <a:t>sudo mkfs -t ext4 /dev/xvdf</a:t>
            </a:r>
          </a:p>
          <a:p>
            <a:pPr algn="ctr">
              <a:lnSpc>
                <a:spcPts val="3057"/>
              </a:lnSpc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20720" y="1908934"/>
            <a:ext cx="4145937" cy="3207108"/>
          </a:xfrm>
          <a:custGeom>
            <a:avLst/>
            <a:gdLst/>
            <a:ahLst/>
            <a:cxnLst/>
            <a:rect r="r" b="b" t="t" l="l"/>
            <a:pathLst>
              <a:path h="3207108" w="4145937">
                <a:moveTo>
                  <a:pt x="0" y="0"/>
                </a:moveTo>
                <a:lnTo>
                  <a:pt x="4145938" y="0"/>
                </a:lnTo>
                <a:lnTo>
                  <a:pt x="4145938" y="3207108"/>
                </a:lnTo>
                <a:lnTo>
                  <a:pt x="0" y="32071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287370" y="2017433"/>
            <a:ext cx="4908194" cy="268376"/>
            <a:chOff x="0" y="0"/>
            <a:chExt cx="6544259" cy="3578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44310" cy="357886"/>
            </a:xfrm>
            <a:custGeom>
              <a:avLst/>
              <a:gdLst/>
              <a:ahLst/>
              <a:cxnLst/>
              <a:rect r="r" b="b" t="t" l="l"/>
              <a:pathLst>
                <a:path h="357886" w="6544310">
                  <a:moveTo>
                    <a:pt x="0" y="0"/>
                  </a:moveTo>
                  <a:lnTo>
                    <a:pt x="6544310" y="357886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306308" r="0" b="-306293"/>
              </a:stretch>
            </a:blipFill>
            <a:ln w="3556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3184208" y="2433152"/>
            <a:ext cx="997448" cy="98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>
                <a:solidFill>
                  <a:srgbClr val="FDA104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37846" y="3373917"/>
            <a:ext cx="3767442" cy="52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Attach in the AWS Console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99215" y="4145756"/>
            <a:ext cx="3767442" cy="116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note the device name (e.g. /dev/xvdf)</a:t>
            </a:r>
          </a:p>
          <a:p>
            <a:pPr algn="ctr">
              <a:lnSpc>
                <a:spcPts val="3057"/>
              </a:lnSpc>
            </a:pP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200713" y="5816241"/>
            <a:ext cx="4900546" cy="3557753"/>
          </a:xfrm>
          <a:custGeom>
            <a:avLst/>
            <a:gdLst/>
            <a:ahLst/>
            <a:cxnLst/>
            <a:rect r="r" b="b" t="t" l="l"/>
            <a:pathLst>
              <a:path h="3557753" w="4900546">
                <a:moveTo>
                  <a:pt x="0" y="0"/>
                </a:moveTo>
                <a:lnTo>
                  <a:pt x="4900546" y="0"/>
                </a:lnTo>
                <a:lnTo>
                  <a:pt x="4900546" y="3557753"/>
                </a:lnTo>
                <a:lnTo>
                  <a:pt x="0" y="35577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151757" y="5932146"/>
            <a:ext cx="998458" cy="84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1"/>
              </a:lnSpc>
            </a:pPr>
            <a:r>
              <a:rPr lang="en-US" sz="4529">
                <a:solidFill>
                  <a:srgbClr val="FDA104"/>
                </a:solidFill>
                <a:latin typeface="Anton"/>
                <a:ea typeface="Anton"/>
                <a:cs typeface="Anton"/>
                <a:sym typeface="Anton"/>
              </a:rPr>
              <a:t>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24080" y="6635577"/>
            <a:ext cx="3453813" cy="45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8"/>
              </a:lnSpc>
            </a:pPr>
            <a:r>
              <a:rPr lang="en-US" sz="2563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Make it survive reboots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18439" y="7273942"/>
            <a:ext cx="4720704" cy="181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6"/>
              </a:lnSpc>
            </a:pPr>
            <a:r>
              <a:rPr lang="en-US" sz="20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by adding to /etc/fstab</a:t>
            </a:r>
          </a:p>
          <a:p>
            <a:pPr algn="ctr">
              <a:lnSpc>
                <a:spcPts val="2876"/>
              </a:lnSpc>
            </a:pPr>
            <a:r>
              <a:rPr lang="en-US" sz="2054">
                <a:solidFill>
                  <a:srgbClr val="FDA104"/>
                </a:solidFill>
                <a:latin typeface="Inter"/>
                <a:ea typeface="Inter"/>
                <a:cs typeface="Inter"/>
                <a:sym typeface="Inter"/>
              </a:rPr>
              <a:t>echo '/dev/xvdf /data ext4 defaults,nofail 0 2' | sudo tee -a /etc/fstab</a:t>
            </a:r>
          </a:p>
          <a:p>
            <a:pPr algn="ctr">
              <a:lnSpc>
                <a:spcPts val="287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10020300"/>
            <a:ext cx="18554700" cy="266700"/>
            <a:chOff x="0" y="0"/>
            <a:chExt cx="24739600" cy="35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0"/>
                  </a:moveTo>
                  <a:lnTo>
                    <a:pt x="24739600" y="3556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3917" y="1985191"/>
            <a:ext cx="16304914" cy="7273109"/>
          </a:xfrm>
          <a:custGeom>
            <a:avLst/>
            <a:gdLst/>
            <a:ahLst/>
            <a:cxnLst/>
            <a:rect r="r" b="b" t="t" l="l"/>
            <a:pathLst>
              <a:path h="7273109" w="16304914">
                <a:moveTo>
                  <a:pt x="0" y="0"/>
                </a:moveTo>
                <a:lnTo>
                  <a:pt x="16304914" y="0"/>
                </a:lnTo>
                <a:lnTo>
                  <a:pt x="16304914" y="7273109"/>
                </a:lnTo>
                <a:lnTo>
                  <a:pt x="0" y="727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14867" y="1771650"/>
            <a:ext cx="38100" cy="7524693"/>
            <a:chOff x="0" y="0"/>
            <a:chExt cx="50800" cy="100329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36137" y="2254625"/>
            <a:ext cx="38100" cy="7524693"/>
            <a:chOff x="0" y="0"/>
            <a:chExt cx="50800" cy="100329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26028" y="1495425"/>
            <a:ext cx="17297400" cy="38100"/>
            <a:chOff x="0" y="0"/>
            <a:chExt cx="2306320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47699" y="2121275"/>
            <a:ext cx="15739234" cy="426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An AMI is a template containing: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–The operating system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–All installed software (e.g. nginx, your app)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–Configuration and settings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Creating a custom AMI = 'freezing' your instance in its current state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Any instance launched from that AMI is identical — no manual setup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098305" y="9535792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2529830" y="176860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WHAT IS AN AMI?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5078" y="378152"/>
            <a:ext cx="16428082" cy="205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8"/>
              </a:lnSpc>
            </a:pPr>
            <a:r>
              <a:rPr lang="en-US" sz="552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Amazon Machine Images — Capture, Reuse, Share</a:t>
            </a:r>
          </a:p>
          <a:p>
            <a:pPr algn="l">
              <a:lnSpc>
                <a:spcPts val="7738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7699" y="1675667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3" y="0"/>
                </a:lnTo>
                <a:lnTo>
                  <a:pt x="1385563" y="341766"/>
                </a:lnTo>
                <a:lnTo>
                  <a:pt x="0" y="34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91092" y="6092561"/>
            <a:ext cx="524396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DA104"/>
                </a:solidFill>
                <a:latin typeface="Anton"/>
                <a:ea typeface="Anton"/>
                <a:cs typeface="Anton"/>
                <a:sym typeface="Anton"/>
              </a:rPr>
              <a:t>Use Cases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768836"/>
            <a:ext cx="15739234" cy="179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4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–Team consistency — everyone gets the same environment</a:t>
            </a:r>
          </a:p>
          <a:p>
            <a:pPr algn="l">
              <a:lnSpc>
                <a:spcPts val="4759"/>
              </a:lnSpc>
            </a:pPr>
            <a:r>
              <a:rPr lang="en-US" sz="34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–Auto Scaling — launch pre-configured servers automatically (we cover this Week 5)</a:t>
            </a:r>
          </a:p>
          <a:p>
            <a:pPr algn="l">
              <a:lnSpc>
                <a:spcPts val="4759"/>
              </a:lnSpc>
            </a:pPr>
            <a:r>
              <a:rPr lang="en-US" sz="34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–Disaster recovery — rebuild a server in minutes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10020300"/>
            <a:ext cx="18554700" cy="266700"/>
            <a:chOff x="0" y="0"/>
            <a:chExt cx="24739600" cy="35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0"/>
                  </a:moveTo>
                  <a:lnTo>
                    <a:pt x="24739600" y="3556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3917" y="1985191"/>
            <a:ext cx="16304914" cy="7273109"/>
          </a:xfrm>
          <a:custGeom>
            <a:avLst/>
            <a:gdLst/>
            <a:ahLst/>
            <a:cxnLst/>
            <a:rect r="r" b="b" t="t" l="l"/>
            <a:pathLst>
              <a:path h="7273109" w="16304914">
                <a:moveTo>
                  <a:pt x="0" y="0"/>
                </a:moveTo>
                <a:lnTo>
                  <a:pt x="16304914" y="0"/>
                </a:lnTo>
                <a:lnTo>
                  <a:pt x="16304914" y="7273109"/>
                </a:lnTo>
                <a:lnTo>
                  <a:pt x="0" y="727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14867" y="1771650"/>
            <a:ext cx="38100" cy="7524693"/>
            <a:chOff x="0" y="0"/>
            <a:chExt cx="50800" cy="100329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36137" y="2254625"/>
            <a:ext cx="38100" cy="7524693"/>
            <a:chOff x="0" y="0"/>
            <a:chExt cx="50800" cy="100329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26028" y="1495425"/>
            <a:ext cx="17297400" cy="38100"/>
            <a:chOff x="0" y="0"/>
            <a:chExt cx="2306320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2257034"/>
            <a:ext cx="15739234" cy="6165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1418" indent="-297139" lvl="2">
              <a:lnSpc>
                <a:spcPts val="5458"/>
              </a:lnSpc>
              <a:buAutoNum type="arabicPeriod" startAt="1"/>
            </a:pPr>
            <a:r>
              <a:rPr lang="en-US" sz="3898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Select your running EC2 instance in the console</a:t>
            </a:r>
          </a:p>
          <a:p>
            <a:pPr algn="l" marL="891418" indent="-297139" lvl="2">
              <a:lnSpc>
                <a:spcPts val="5458"/>
              </a:lnSpc>
              <a:buAutoNum type="arabicPeriod" startAt="1"/>
            </a:pPr>
            <a:r>
              <a:rPr lang="en-US" sz="3898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Actions → Image and Templates → Create Image</a:t>
            </a:r>
          </a:p>
          <a:p>
            <a:pPr algn="l" marL="891418" indent="-297139" lvl="2">
              <a:lnSpc>
                <a:spcPts val="5458"/>
              </a:lnSpc>
              <a:buAutoNum type="arabicPeriod" startAt="1"/>
            </a:pPr>
            <a:r>
              <a:rPr lang="en-US" sz="3898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Give it a meaningful name: aws-sprint-nginx-ami</a:t>
            </a:r>
          </a:p>
          <a:p>
            <a:pPr algn="l" marL="891418" indent="-297139" lvl="2">
              <a:lnSpc>
                <a:spcPts val="5458"/>
              </a:lnSpc>
              <a:buAutoNum type="arabicPeriod" startAt="1"/>
            </a:pPr>
            <a:r>
              <a:rPr lang="en-US" sz="3898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AWS will briefly stop, snapshot, and restart the instance</a:t>
            </a:r>
          </a:p>
          <a:p>
            <a:pPr algn="l" marL="891418" indent="-297139" lvl="2">
              <a:lnSpc>
                <a:spcPts val="5458"/>
              </a:lnSpc>
              <a:buAutoNum type="arabicPeriod" startAt="1"/>
            </a:pPr>
            <a:r>
              <a:rPr lang="en-US" sz="3898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Navigate to AMIs panel — wait 3-5 minutes for status: available</a:t>
            </a:r>
          </a:p>
          <a:p>
            <a:pPr algn="l" marL="891418" indent="-297139" lvl="2">
              <a:lnSpc>
                <a:spcPts val="5458"/>
              </a:lnSpc>
              <a:buAutoNum type="arabicPeriod" startAt="1"/>
            </a:pPr>
            <a:r>
              <a:rPr lang="en-US" sz="3898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Launch a new instance FROM your AMI</a:t>
            </a:r>
          </a:p>
          <a:p>
            <a:pPr algn="l" marL="891418" indent="-297139" lvl="2">
              <a:lnSpc>
                <a:spcPts val="5458"/>
              </a:lnSpc>
            </a:pPr>
            <a:r>
              <a:rPr lang="en-US" sz="3898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          Select 'My AMIs' tab instead of AWS Marketplace</a:t>
            </a:r>
          </a:p>
          <a:p>
            <a:pPr algn="l" marL="891418" indent="-297139" lvl="2">
              <a:lnSpc>
                <a:spcPts val="5458"/>
              </a:lnSpc>
            </a:pPr>
            <a:r>
              <a:rPr lang="en-US" sz="3898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          Everything you installed is already there — nginx runs immediately</a:t>
            </a:r>
          </a:p>
          <a:p>
            <a:pPr algn="l" marL="891418" indent="-297139" lvl="2">
              <a:lnSpc>
                <a:spcPts val="475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098305" y="9535792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1536211" y="303533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CREATING AN AMI — LIVE DEMO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5078" y="378152"/>
            <a:ext cx="16428082" cy="205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8"/>
              </a:lnSpc>
            </a:pPr>
            <a:r>
              <a:rPr lang="en-US" sz="552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Creating a Custom AMI — Step by Step</a:t>
            </a:r>
          </a:p>
          <a:p>
            <a:pPr algn="l">
              <a:lnSpc>
                <a:spcPts val="7738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7699" y="1675667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3" y="0"/>
                </a:lnTo>
                <a:lnTo>
                  <a:pt x="1385563" y="341766"/>
                </a:lnTo>
                <a:lnTo>
                  <a:pt x="0" y="34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10020300"/>
            <a:ext cx="18554700" cy="266700"/>
            <a:chOff x="0" y="0"/>
            <a:chExt cx="24739600" cy="35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0"/>
                  </a:moveTo>
                  <a:lnTo>
                    <a:pt x="24739600" y="3556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28648" y="1969808"/>
            <a:ext cx="5480114" cy="7307542"/>
          </a:xfrm>
          <a:custGeom>
            <a:avLst/>
            <a:gdLst/>
            <a:ahLst/>
            <a:cxnLst/>
            <a:rect r="r" b="b" t="t" l="l"/>
            <a:pathLst>
              <a:path h="7307542" w="5480114">
                <a:moveTo>
                  <a:pt x="0" y="0"/>
                </a:moveTo>
                <a:lnTo>
                  <a:pt x="5480113" y="0"/>
                </a:lnTo>
                <a:lnTo>
                  <a:pt x="5480113" y="7307542"/>
                </a:lnTo>
                <a:lnTo>
                  <a:pt x="0" y="7307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26028" y="1495425"/>
            <a:ext cx="17297400" cy="38100"/>
            <a:chOff x="0" y="0"/>
            <a:chExt cx="2306320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098305" y="9535792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2529830" y="176860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SNAPSHOTS VS AMIS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285683"/>
            <a:ext cx="16394240" cy="204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8"/>
              </a:lnSpc>
            </a:pPr>
            <a:r>
              <a:rPr lang="en-US" sz="552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Snapshots vs AMIs — What's the Difference?</a:t>
            </a:r>
          </a:p>
          <a:p>
            <a:pPr algn="ctr">
              <a:lnSpc>
                <a:spcPts val="7738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1589942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4" y="0"/>
                </a:lnTo>
                <a:lnTo>
                  <a:pt x="1385564" y="341766"/>
                </a:lnTo>
                <a:lnTo>
                  <a:pt x="0" y="34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47128" y="2830659"/>
            <a:ext cx="4643161" cy="74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27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WHAT IT IS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097172" y="1912658"/>
            <a:ext cx="5480114" cy="7307542"/>
          </a:xfrm>
          <a:custGeom>
            <a:avLst/>
            <a:gdLst/>
            <a:ahLst/>
            <a:cxnLst/>
            <a:rect r="r" b="b" t="t" l="l"/>
            <a:pathLst>
              <a:path h="7307542" w="5480114">
                <a:moveTo>
                  <a:pt x="0" y="0"/>
                </a:moveTo>
                <a:lnTo>
                  <a:pt x="5480113" y="0"/>
                </a:lnTo>
                <a:lnTo>
                  <a:pt x="5480113" y="7307542"/>
                </a:lnTo>
                <a:lnTo>
                  <a:pt x="0" y="7307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387539" y="1909458"/>
            <a:ext cx="5480114" cy="7307542"/>
          </a:xfrm>
          <a:custGeom>
            <a:avLst/>
            <a:gdLst/>
            <a:ahLst/>
            <a:cxnLst/>
            <a:rect r="r" b="b" t="t" l="l"/>
            <a:pathLst>
              <a:path h="7307542" w="5480114">
                <a:moveTo>
                  <a:pt x="0" y="0"/>
                </a:moveTo>
                <a:lnTo>
                  <a:pt x="5480113" y="0"/>
                </a:lnTo>
                <a:lnTo>
                  <a:pt x="5480113" y="7307542"/>
                </a:lnTo>
                <a:lnTo>
                  <a:pt x="0" y="7307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515967" y="2759793"/>
            <a:ext cx="5061318" cy="129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27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Point-in-time backup of a volume</a:t>
            </a: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861217" y="3058116"/>
            <a:ext cx="4643161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Launchable instance template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38693" y="2155250"/>
            <a:ext cx="823859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DA104"/>
                </a:solidFill>
                <a:latin typeface="Anton"/>
                <a:ea typeface="Anton"/>
                <a:cs typeface="Anton"/>
                <a:sym typeface="Anton"/>
              </a:rPr>
              <a:t>SNAPSHOT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33931" y="2155250"/>
            <a:ext cx="823859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DA104"/>
                </a:solidFill>
                <a:latin typeface="Anton"/>
                <a:ea typeface="Anton"/>
                <a:cs typeface="Anton"/>
                <a:sym typeface="Anton"/>
              </a:rPr>
              <a:t>AMI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4385" y="3818030"/>
            <a:ext cx="4643161" cy="74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27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STORED IN?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7128" y="4977022"/>
            <a:ext cx="4643161" cy="74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27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INCREMENTAL?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4385" y="5964574"/>
            <a:ext cx="4643161" cy="74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27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USE IT TO?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4385" y="7014782"/>
            <a:ext cx="4643161" cy="74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27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THINK OF IT 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06569" y="3747154"/>
            <a:ext cx="5061318" cy="74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27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S3 (Managed By AWS)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61217" y="4045477"/>
            <a:ext cx="4643161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S3 (Managed By AWS)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06569" y="4893202"/>
            <a:ext cx="5061318" cy="71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26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Yes , only changed blocks after first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61217" y="5029200"/>
            <a:ext cx="4643161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Built from snapshots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06569" y="5983624"/>
            <a:ext cx="5061318" cy="71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26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Restore a volume or move 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61217" y="6180849"/>
            <a:ext cx="4643161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Launch an identical EC2 instance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06569" y="7039423"/>
            <a:ext cx="5061318" cy="1319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26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 backup of a hard drive</a:t>
            </a:r>
          </a:p>
          <a:p>
            <a:pPr algn="l">
              <a:lnSpc>
                <a:spcPts val="4732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2806010" y="7169544"/>
            <a:ext cx="4643161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 bootable disk image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10020300"/>
            <a:ext cx="18554700" cy="266700"/>
            <a:chOff x="0" y="0"/>
            <a:chExt cx="24739600" cy="35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0"/>
                  </a:moveTo>
                  <a:lnTo>
                    <a:pt x="24739600" y="3556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098305" y="9535792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54386" y="2004184"/>
            <a:ext cx="7920342" cy="7273109"/>
          </a:xfrm>
          <a:custGeom>
            <a:avLst/>
            <a:gdLst/>
            <a:ahLst/>
            <a:cxnLst/>
            <a:rect r="r" b="b" t="t" l="l"/>
            <a:pathLst>
              <a:path h="7273109" w="7920342">
                <a:moveTo>
                  <a:pt x="0" y="0"/>
                </a:moveTo>
                <a:lnTo>
                  <a:pt x="7920342" y="0"/>
                </a:lnTo>
                <a:lnTo>
                  <a:pt x="7920342" y="7273109"/>
                </a:lnTo>
                <a:lnTo>
                  <a:pt x="0" y="727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14867" y="1771650"/>
            <a:ext cx="38100" cy="7524693"/>
            <a:chOff x="0" y="0"/>
            <a:chExt cx="50800" cy="100329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36137" y="2254625"/>
            <a:ext cx="38100" cy="7524693"/>
            <a:chOff x="0" y="0"/>
            <a:chExt cx="50800" cy="100329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4914" y="5143500"/>
            <a:ext cx="7491565" cy="57150"/>
            <a:chOff x="0" y="0"/>
            <a:chExt cx="9988753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88804" cy="76200"/>
            </a:xfrm>
            <a:custGeom>
              <a:avLst/>
              <a:gdLst/>
              <a:ahLst/>
              <a:cxnLst/>
              <a:rect r="r" b="b" t="t" l="l"/>
              <a:pathLst>
                <a:path h="76200" w="9988804">
                  <a:moveTo>
                    <a:pt x="0" y="76200"/>
                  </a:moveTo>
                  <a:lnTo>
                    <a:pt x="9988804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504215" r="0" b="-2504215"/>
              </a:stretch>
            </a:blipFill>
            <a:ln w="38100" cap="sq">
              <a:solidFill>
                <a:srgbClr val="4D4D4D"/>
              </a:solidFill>
              <a:prstDash val="sys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26028" y="1495425"/>
            <a:ext cx="17297400" cy="38100"/>
            <a:chOff x="0" y="0"/>
            <a:chExt cx="23063200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9798539" y="2004184"/>
            <a:ext cx="8065008" cy="7345442"/>
          </a:xfrm>
          <a:custGeom>
            <a:avLst/>
            <a:gdLst/>
            <a:ahLst/>
            <a:cxnLst/>
            <a:rect r="r" b="b" t="t" l="l"/>
            <a:pathLst>
              <a:path h="7345442" w="8065008">
                <a:moveTo>
                  <a:pt x="0" y="0"/>
                </a:moveTo>
                <a:lnTo>
                  <a:pt x="8065008" y="0"/>
                </a:lnTo>
                <a:lnTo>
                  <a:pt x="8065008" y="7345442"/>
                </a:lnTo>
                <a:lnTo>
                  <a:pt x="0" y="7345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831353" y="1771650"/>
            <a:ext cx="38100" cy="7524693"/>
            <a:chOff x="0" y="0"/>
            <a:chExt cx="50800" cy="100329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552622" y="2254625"/>
            <a:ext cx="38100" cy="7524693"/>
            <a:chOff x="0" y="0"/>
            <a:chExt cx="50800" cy="100329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0" y="10032873"/>
                  </a:moveTo>
                  <a:lnTo>
                    <a:pt x="508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984629" y="2680983"/>
            <a:ext cx="7346994" cy="2800226"/>
          </a:xfrm>
          <a:custGeom>
            <a:avLst/>
            <a:gdLst/>
            <a:ahLst/>
            <a:cxnLst/>
            <a:rect r="r" b="b" t="t" l="l"/>
            <a:pathLst>
              <a:path h="2800226" w="7346994">
                <a:moveTo>
                  <a:pt x="0" y="0"/>
                </a:moveTo>
                <a:lnTo>
                  <a:pt x="7346994" y="0"/>
                </a:lnTo>
                <a:lnTo>
                  <a:pt x="7346994" y="2800226"/>
                </a:lnTo>
                <a:lnTo>
                  <a:pt x="0" y="28002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-498605" y="2328234"/>
            <a:ext cx="8238592" cy="106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900">
                <a:solidFill>
                  <a:srgbClr val="FDA104"/>
                </a:solidFill>
                <a:latin typeface="Inter"/>
                <a:ea typeface="Inter"/>
                <a:cs typeface="Inter"/>
                <a:sym typeface="Inter"/>
              </a:rPr>
              <a:t>EBS-backed (most common):</a:t>
            </a:r>
          </a:p>
          <a:p>
            <a:pPr algn="ctr">
              <a:lnSpc>
                <a:spcPts val="405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48" y="3142621"/>
            <a:ext cx="7453465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–Root volume is an EBS volume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–Data persists when instance is stopped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–Can create an AMI at any time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-706460" y="5295262"/>
            <a:ext cx="8238592" cy="106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900">
                <a:solidFill>
                  <a:srgbClr val="FDA104"/>
                </a:solidFill>
                <a:latin typeface="Inter"/>
                <a:ea typeface="Inter"/>
                <a:cs typeface="Inter"/>
                <a:sym typeface="Inter"/>
              </a:rPr>
              <a:t>Instance store (ephemeral):</a:t>
            </a:r>
          </a:p>
          <a:p>
            <a:pPr algn="ctr">
              <a:lnSpc>
                <a:spcPts val="405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48" y="5781037"/>
            <a:ext cx="7453465" cy="37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–Storage is physically on the host server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–Data is LOST when instance stops, terminates, or fails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–Very fast — used for caches and temp processing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–Not available on all instance types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0" y="419100"/>
            <a:ext cx="15912484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sz="599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Two Storage Types — Know the Difference</a:t>
            </a:r>
          </a:p>
          <a:p>
            <a:pPr algn="ctr">
              <a:lnSpc>
                <a:spcPts val="8398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036975" y="2160908"/>
            <a:ext cx="8238592" cy="53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DA104"/>
                </a:solidFill>
                <a:latin typeface="Inter"/>
                <a:ea typeface="Inter"/>
                <a:cs typeface="Inter"/>
                <a:sym typeface="Inter"/>
              </a:rPr>
              <a:t>Rule of thumb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11497" y="3578552"/>
            <a:ext cx="302703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put it on EBS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11497" y="2609542"/>
            <a:ext cx="3093259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>
                <a:solidFill>
                  <a:srgbClr val="FDA104"/>
                </a:solidFill>
                <a:latin typeface="Antic"/>
                <a:ea typeface="Antic"/>
                <a:cs typeface="Antic"/>
                <a:sym typeface="Antic"/>
              </a:rPr>
              <a:t>If it matters,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-1201617" y="198758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INSTANCE STORE VS EBS-BACKED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247699" y="1675667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3" y="0"/>
                </a:lnTo>
                <a:lnTo>
                  <a:pt x="1385563" y="341766"/>
                </a:lnTo>
                <a:lnTo>
                  <a:pt x="0" y="3417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10020300"/>
            <a:ext cx="18554700" cy="266700"/>
            <a:chOff x="0" y="0"/>
            <a:chExt cx="24739600" cy="35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0"/>
                  </a:moveTo>
                  <a:lnTo>
                    <a:pt x="24739600" y="3556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3917" y="1985191"/>
            <a:ext cx="16304914" cy="7273109"/>
          </a:xfrm>
          <a:custGeom>
            <a:avLst/>
            <a:gdLst/>
            <a:ahLst/>
            <a:cxnLst/>
            <a:rect r="r" b="b" t="t" l="l"/>
            <a:pathLst>
              <a:path h="7273109" w="16304914">
                <a:moveTo>
                  <a:pt x="0" y="0"/>
                </a:moveTo>
                <a:lnTo>
                  <a:pt x="16304914" y="0"/>
                </a:lnTo>
                <a:lnTo>
                  <a:pt x="16304914" y="7273109"/>
                </a:lnTo>
                <a:lnTo>
                  <a:pt x="0" y="727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14867" y="1771650"/>
            <a:ext cx="38100" cy="7524693"/>
            <a:chOff x="0" y="0"/>
            <a:chExt cx="50800" cy="100329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36137" y="2254625"/>
            <a:ext cx="38100" cy="7524693"/>
            <a:chOff x="0" y="0"/>
            <a:chExt cx="50800" cy="100329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26028" y="1495425"/>
            <a:ext cx="17297400" cy="38100"/>
            <a:chOff x="0" y="0"/>
            <a:chExt cx="2306320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91092" y="2154888"/>
            <a:ext cx="15739234" cy="698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EBS volumes are persistent, attachable block storage — like a USB drive for EC2</a:t>
            </a:r>
          </a:p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gp3 is your go-to volume type for almost everything</a:t>
            </a:r>
          </a:p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Mounting requires formatting (once), mounting, and updating /etc/fstab</a:t>
            </a:r>
          </a:p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AMIs let you capture a configured instance and reuse it</a:t>
            </a:r>
          </a:p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Snapshots are incremental backups of EBS volumes, stored in S3</a:t>
            </a:r>
          </a:p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Instance store is ephemeral — data dies when the instance stops</a:t>
            </a:r>
          </a:p>
          <a:p>
            <a:pPr algn="l">
              <a:lnSpc>
                <a:spcPts val="601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098305" y="9535792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2928204" y="303533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KEY TAKEAWAYS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5078" y="378152"/>
            <a:ext cx="16428082" cy="205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8"/>
              </a:lnSpc>
            </a:pPr>
            <a:r>
              <a:rPr lang="en-US" sz="552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What We Covered Today</a:t>
            </a:r>
          </a:p>
          <a:p>
            <a:pPr algn="l">
              <a:lnSpc>
                <a:spcPts val="7738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7699" y="1675667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3" y="0"/>
                </a:lnTo>
                <a:lnTo>
                  <a:pt x="1385563" y="341766"/>
                </a:lnTo>
                <a:lnTo>
                  <a:pt x="0" y="34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3350" y="0"/>
            <a:ext cx="18554700" cy="266700"/>
            <a:chOff x="0" y="0"/>
            <a:chExt cx="24739600" cy="35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355600"/>
                  </a:moveTo>
                  <a:lnTo>
                    <a:pt x="2473960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33350" y="10020300"/>
            <a:ext cx="18554700" cy="266700"/>
            <a:chOff x="0" y="0"/>
            <a:chExt cx="24739600" cy="35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39600" cy="355600"/>
            </a:xfrm>
            <a:custGeom>
              <a:avLst/>
              <a:gdLst/>
              <a:ahLst/>
              <a:cxnLst/>
              <a:rect r="r" b="b" t="t" l="l"/>
              <a:pathLst>
                <a:path h="355600" w="24739600">
                  <a:moveTo>
                    <a:pt x="0" y="0"/>
                  </a:moveTo>
                  <a:lnTo>
                    <a:pt x="24739600" y="3556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305601" r="0" b="-1305601"/>
              </a:stretch>
            </a:blipFill>
            <a:ln w="266700" cap="sq">
              <a:solidFill>
                <a:srgbClr val="FDA10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521379" y="9535792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255" y="9535792"/>
            <a:ext cx="1958429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anie Makori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3917" y="1985191"/>
            <a:ext cx="16304914" cy="7273109"/>
          </a:xfrm>
          <a:custGeom>
            <a:avLst/>
            <a:gdLst/>
            <a:ahLst/>
            <a:cxnLst/>
            <a:rect r="r" b="b" t="t" l="l"/>
            <a:pathLst>
              <a:path h="7273109" w="16304914">
                <a:moveTo>
                  <a:pt x="0" y="0"/>
                </a:moveTo>
                <a:lnTo>
                  <a:pt x="16304914" y="0"/>
                </a:lnTo>
                <a:lnTo>
                  <a:pt x="16304914" y="7273109"/>
                </a:lnTo>
                <a:lnTo>
                  <a:pt x="0" y="7273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14867" y="1771650"/>
            <a:ext cx="38100" cy="7524693"/>
            <a:chOff x="0" y="0"/>
            <a:chExt cx="50800" cy="100329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36137" y="2254625"/>
            <a:ext cx="38100" cy="7524693"/>
            <a:chOff x="0" y="0"/>
            <a:chExt cx="50800" cy="100329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10032873"/>
            </a:xfrm>
            <a:custGeom>
              <a:avLst/>
              <a:gdLst/>
              <a:ahLst/>
              <a:cxnLst/>
              <a:rect r="r" b="b" t="t" l="l"/>
              <a:pathLst>
                <a:path h="10032873" w="50800">
                  <a:moveTo>
                    <a:pt x="50800" y="10032873"/>
                  </a:moveTo>
                  <a:lnTo>
                    <a:pt x="0" y="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25289762" t="0" r="-25289762" b="0"/>
              </a:stretch>
            </a:blipFill>
            <a:ln w="38100" cap="sq">
              <a:solidFill>
                <a:srgbClr val="FDA10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26028" y="1495425"/>
            <a:ext cx="17297400" cy="38100"/>
            <a:chOff x="0" y="0"/>
            <a:chExt cx="2306320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063200" cy="50800"/>
            </a:xfrm>
            <a:custGeom>
              <a:avLst/>
              <a:gdLst/>
              <a:ahLst/>
              <a:cxnLst/>
              <a:rect r="r" b="b" t="t" l="l"/>
              <a:pathLst>
                <a:path h="50800" w="23063200">
                  <a:moveTo>
                    <a:pt x="0" y="0"/>
                  </a:moveTo>
                  <a:lnTo>
                    <a:pt x="230632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8796207" r="0" b="-8796207"/>
              </a:stretch>
            </a:blipFill>
            <a:ln w="38100" cap="sq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91092" y="1873625"/>
            <a:ext cx="15739234" cy="768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Lab: attach a real EBS volume, write a file, create a custom AMI — guide is in the GitHub repo</a:t>
            </a:r>
          </a:p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Quiz link posted in the group chat now — 10 questions, auto-graded, 48-hour deadline</a:t>
            </a:r>
          </a:p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Each correct answer = 10 points (100 pts total)</a:t>
            </a:r>
          </a:p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Quiz covers everything from today's session</a:t>
            </a:r>
          </a:p>
          <a:p>
            <a:pPr algn="l">
              <a:lnSpc>
                <a:spcPts val="6879"/>
              </a:lnSpc>
            </a:pPr>
            <a:r>
              <a:rPr lang="en-US" sz="3999">
                <a:solidFill>
                  <a:srgbClr val="FFFFFF"/>
                </a:solidFill>
                <a:latin typeface="Antic"/>
                <a:ea typeface="Antic"/>
                <a:cs typeface="Antic"/>
                <a:sym typeface="Antic"/>
              </a:rPr>
              <a:t>Next week: Networking &amp; VPC — we build a custom network from scratch</a:t>
            </a:r>
          </a:p>
          <a:p>
            <a:pPr algn="l">
              <a:lnSpc>
                <a:spcPts val="601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098305" y="9535792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2529830" y="303533"/>
            <a:ext cx="8238592" cy="42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FDA104"/>
                </a:solidFill>
                <a:latin typeface="Sigher"/>
                <a:ea typeface="Sigher"/>
                <a:cs typeface="Sigher"/>
                <a:sym typeface="Sigher"/>
              </a:rPr>
              <a:t>ASSESSMENT &amp; LAB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5078" y="378152"/>
            <a:ext cx="16428082" cy="205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8"/>
              </a:lnSpc>
            </a:pPr>
            <a:r>
              <a:rPr lang="en-US" sz="552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What's Next</a:t>
            </a:r>
          </a:p>
          <a:p>
            <a:pPr algn="l">
              <a:lnSpc>
                <a:spcPts val="7738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7699" y="1675667"/>
            <a:ext cx="1385564" cy="341767"/>
          </a:xfrm>
          <a:custGeom>
            <a:avLst/>
            <a:gdLst/>
            <a:ahLst/>
            <a:cxnLst/>
            <a:rect r="r" b="b" t="t" l="l"/>
            <a:pathLst>
              <a:path h="341767" w="1385564">
                <a:moveTo>
                  <a:pt x="0" y="0"/>
                </a:moveTo>
                <a:lnTo>
                  <a:pt x="1385563" y="0"/>
                </a:lnTo>
                <a:lnTo>
                  <a:pt x="1385563" y="341766"/>
                </a:lnTo>
                <a:lnTo>
                  <a:pt x="0" y="34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91015" y="-6376749"/>
            <a:ext cx="8266243" cy="8266243"/>
          </a:xfrm>
          <a:custGeom>
            <a:avLst/>
            <a:gdLst/>
            <a:ahLst/>
            <a:cxnLst/>
            <a:rect r="r" b="b" t="t" l="l"/>
            <a:pathLst>
              <a:path h="8266243" w="8266243">
                <a:moveTo>
                  <a:pt x="0" y="0"/>
                </a:moveTo>
                <a:lnTo>
                  <a:pt x="8266243" y="0"/>
                </a:lnTo>
                <a:lnTo>
                  <a:pt x="8266243" y="8266242"/>
                </a:lnTo>
                <a:lnTo>
                  <a:pt x="0" y="8266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75228" y="-6376749"/>
            <a:ext cx="8266243" cy="8266243"/>
          </a:xfrm>
          <a:custGeom>
            <a:avLst/>
            <a:gdLst/>
            <a:ahLst/>
            <a:cxnLst/>
            <a:rect r="r" b="b" t="t" l="l"/>
            <a:pathLst>
              <a:path h="8266243" w="8266243">
                <a:moveTo>
                  <a:pt x="0" y="0"/>
                </a:moveTo>
                <a:lnTo>
                  <a:pt x="8266242" y="0"/>
                </a:lnTo>
                <a:lnTo>
                  <a:pt x="8266242" y="8266242"/>
                </a:lnTo>
                <a:lnTo>
                  <a:pt x="0" y="8266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41470" y="-6376749"/>
            <a:ext cx="8266243" cy="8266243"/>
          </a:xfrm>
          <a:custGeom>
            <a:avLst/>
            <a:gdLst/>
            <a:ahLst/>
            <a:cxnLst/>
            <a:rect r="r" b="b" t="t" l="l"/>
            <a:pathLst>
              <a:path h="8266243" w="8266243">
                <a:moveTo>
                  <a:pt x="0" y="0"/>
                </a:moveTo>
                <a:lnTo>
                  <a:pt x="8266243" y="0"/>
                </a:lnTo>
                <a:lnTo>
                  <a:pt x="8266243" y="8266242"/>
                </a:lnTo>
                <a:lnTo>
                  <a:pt x="0" y="8266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6946" y="2246728"/>
            <a:ext cx="2315166" cy="3492046"/>
          </a:xfrm>
          <a:custGeom>
            <a:avLst/>
            <a:gdLst/>
            <a:ahLst/>
            <a:cxnLst/>
            <a:rect r="r" b="b" t="t" l="l"/>
            <a:pathLst>
              <a:path h="3492046" w="2315166">
                <a:moveTo>
                  <a:pt x="0" y="0"/>
                </a:moveTo>
                <a:lnTo>
                  <a:pt x="2315165" y="0"/>
                </a:lnTo>
                <a:lnTo>
                  <a:pt x="2315165" y="3492046"/>
                </a:lnTo>
                <a:lnTo>
                  <a:pt x="0" y="34920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4071" y="2373278"/>
            <a:ext cx="1980905" cy="258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</a:pPr>
            <a:r>
              <a:rPr lang="en-US" sz="7098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week</a:t>
            </a:r>
          </a:p>
          <a:p>
            <a:pPr algn="ctr">
              <a:lnSpc>
                <a:spcPts val="9939"/>
              </a:lnSpc>
            </a:pPr>
            <a:r>
              <a:rPr lang="en-US" sz="7098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642111" y="4285412"/>
            <a:ext cx="15162552" cy="3611442"/>
          </a:xfrm>
          <a:custGeom>
            <a:avLst/>
            <a:gdLst/>
            <a:ahLst/>
            <a:cxnLst/>
            <a:rect r="r" b="b" t="t" l="l"/>
            <a:pathLst>
              <a:path h="3611442" w="15162552">
                <a:moveTo>
                  <a:pt x="0" y="0"/>
                </a:moveTo>
                <a:lnTo>
                  <a:pt x="15162552" y="0"/>
                </a:lnTo>
                <a:lnTo>
                  <a:pt x="15162552" y="3611442"/>
                </a:lnTo>
                <a:lnTo>
                  <a:pt x="0" y="3611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0" t="0" r="-8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39251" y="2079527"/>
            <a:ext cx="12768272" cy="534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0"/>
              </a:lnSpc>
            </a:pPr>
            <a:r>
              <a:rPr lang="en-US" sz="14500">
                <a:solidFill>
                  <a:srgbClr val="FDA104"/>
                </a:solidFill>
                <a:latin typeface="Gagalin"/>
                <a:ea typeface="Gagalin"/>
                <a:cs typeface="Gagalin"/>
                <a:sym typeface="Gagalin"/>
              </a:rPr>
              <a:t>Any</a:t>
            </a:r>
          </a:p>
          <a:p>
            <a:pPr algn="ctr">
              <a:lnSpc>
                <a:spcPts val="20300"/>
              </a:lnSpc>
            </a:pPr>
            <a:r>
              <a:rPr lang="en-US" sz="145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questions??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306" y="5538740"/>
            <a:ext cx="2018805" cy="20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1"/>
              </a:lnSpc>
            </a:pPr>
            <a:r>
              <a:rPr lang="en-US" sz="5578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CLOUD </a:t>
            </a:r>
          </a:p>
          <a:p>
            <a:pPr algn="ctr">
              <a:lnSpc>
                <a:spcPts val="781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04256" y="6382045"/>
            <a:ext cx="1825371" cy="203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1"/>
              </a:lnSpc>
            </a:pPr>
            <a:r>
              <a:rPr lang="en-US" sz="5578">
                <a:solidFill>
                  <a:srgbClr val="FDA104"/>
                </a:solidFill>
                <a:latin typeface="Gagalin"/>
                <a:ea typeface="Gagalin"/>
                <a:cs typeface="Gagalin"/>
                <a:sym typeface="Gagalin"/>
              </a:rPr>
              <a:t>FORGE</a:t>
            </a:r>
          </a:p>
          <a:p>
            <a:pPr algn="ctr">
              <a:lnSpc>
                <a:spcPts val="781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1002992" y="-100012"/>
            <a:ext cx="8884891" cy="58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DA104"/>
                </a:solidFill>
                <a:latin typeface="Inter Bold"/>
                <a:ea typeface="Inter Bold"/>
                <a:cs typeface="Inter Bold"/>
                <a:sym typeface="Inter Bold"/>
              </a:rPr>
              <a:t>AWS STUDENT BUILDER GROUP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1458" y="413861"/>
            <a:ext cx="5667785" cy="424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i="true">
                <a:solidFill>
                  <a:srgbClr val="FDA104"/>
                </a:solidFill>
                <a:latin typeface="Inter Italics"/>
                <a:ea typeface="Inter Italics"/>
                <a:cs typeface="Inter Italics"/>
                <a:sym typeface="Inter Italics"/>
              </a:rPr>
              <a:t>EGERTON UNIVERSITY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0119" y="9201150"/>
            <a:ext cx="4591860" cy="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#AwsStudentbuilders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2304" y="9181176"/>
            <a:ext cx="1770162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18tth June</a:t>
            </a: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9201150"/>
            <a:ext cx="2429627" cy="36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200">
                <a:solidFill>
                  <a:srgbClr val="4D4D4D"/>
                </a:solidFill>
                <a:latin typeface="Anton"/>
                <a:ea typeface="Anton"/>
                <a:cs typeface="Anton"/>
                <a:sym typeface="Anton"/>
              </a:rPr>
              <a:t>Stephanie Makori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DAHMyga93kk</dc:identifier>
  <dcterms:modified xsi:type="dcterms:W3CDTF">2011-08-01T06:04:30Z</dcterms:modified>
  <cp:revision>1</cp:revision>
  <dc:title>AWS_Week4_Slides.pptx</dc:title>
</cp:coreProperties>
</file>