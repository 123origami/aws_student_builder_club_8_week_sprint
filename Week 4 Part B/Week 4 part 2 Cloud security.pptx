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Gagalin" charset="1" panose="00000500000000000000"/>
      <p:regular r:id="rId16"/>
    </p:embeddedFont>
    <p:embeddedFont>
      <p:font typeface="Inter Bold" charset="1" panose="02000503000000020004"/>
      <p:regular r:id="rId17"/>
    </p:embeddedFont>
    <p:embeddedFont>
      <p:font typeface="Inter Italics" charset="1" panose="02000503000000020004"/>
      <p:regular r:id="rId18"/>
    </p:embeddedFont>
    <p:embeddedFont>
      <p:font typeface="Anton" charset="1" panose="00000500000000000000"/>
      <p:regular r:id="rId19"/>
    </p:embeddedFont>
    <p:embeddedFont>
      <p:font typeface="Antic" charset="1" panose="00000000000000000000"/>
      <p:regular r:id="rId20"/>
    </p:embeddedFont>
    <p:embeddedFont>
      <p:font typeface="Sigher" charset="1" panose="00000000000000000000"/>
      <p:regular r:id="rId21"/>
    </p:embeddedFont>
    <p:embeddedFont>
      <p:font typeface="Antic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1491015"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75228" y="-6376749"/>
            <a:ext cx="8266243" cy="8266243"/>
          </a:xfrm>
          <a:custGeom>
            <a:avLst/>
            <a:gdLst/>
            <a:ahLst/>
            <a:cxnLst/>
            <a:rect r="r" b="b" t="t" l="l"/>
            <a:pathLst>
              <a:path h="8266243" w="8266243">
                <a:moveTo>
                  <a:pt x="0" y="0"/>
                </a:moveTo>
                <a:lnTo>
                  <a:pt x="8266242" y="0"/>
                </a:lnTo>
                <a:lnTo>
                  <a:pt x="8266242"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1470"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6946" y="2246728"/>
            <a:ext cx="2315166" cy="3492046"/>
          </a:xfrm>
          <a:custGeom>
            <a:avLst/>
            <a:gdLst/>
            <a:ahLst/>
            <a:cxnLst/>
            <a:rect r="r" b="b" t="t" l="l"/>
            <a:pathLst>
              <a:path h="3492046" w="2315166">
                <a:moveTo>
                  <a:pt x="0" y="0"/>
                </a:moveTo>
                <a:lnTo>
                  <a:pt x="2315165" y="0"/>
                </a:lnTo>
                <a:lnTo>
                  <a:pt x="2315165" y="3492046"/>
                </a:lnTo>
                <a:lnTo>
                  <a:pt x="0" y="3492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4071" y="2373278"/>
            <a:ext cx="1980905" cy="2477110"/>
          </a:xfrm>
          <a:prstGeom prst="rect">
            <a:avLst/>
          </a:prstGeom>
        </p:spPr>
        <p:txBody>
          <a:bodyPr anchor="t" rtlCol="false" tIns="0" lIns="0" bIns="0" rIns="0">
            <a:spAutoFit/>
          </a:bodyPr>
          <a:lstStyle/>
          <a:p>
            <a:pPr algn="ctr">
              <a:lnSpc>
                <a:spcPts val="9939"/>
              </a:lnSpc>
            </a:pPr>
            <a:r>
              <a:rPr lang="en-US" sz="7098">
                <a:solidFill>
                  <a:srgbClr val="000000"/>
                </a:solidFill>
                <a:latin typeface="Gagalin"/>
                <a:ea typeface="Gagalin"/>
                <a:cs typeface="Gagalin"/>
                <a:sym typeface="Gagalin"/>
              </a:rPr>
              <a:t>week</a:t>
            </a:r>
          </a:p>
          <a:p>
            <a:pPr algn="ctr">
              <a:lnSpc>
                <a:spcPts val="9939"/>
              </a:lnSpc>
            </a:pPr>
            <a:r>
              <a:rPr lang="en-US" sz="7098">
                <a:solidFill>
                  <a:srgbClr val="000000"/>
                </a:solidFill>
                <a:latin typeface="Gagalin"/>
                <a:ea typeface="Gagalin"/>
                <a:cs typeface="Gagalin"/>
                <a:sym typeface="Gagalin"/>
              </a:rPr>
              <a:t>4</a:t>
            </a:r>
          </a:p>
        </p:txBody>
      </p:sp>
      <p:sp>
        <p:nvSpPr>
          <p:cNvPr name="Freeform 7" id="7"/>
          <p:cNvSpPr/>
          <p:nvPr/>
        </p:nvSpPr>
        <p:spPr>
          <a:xfrm flipH="false" flipV="false" rot="0">
            <a:off x="2642111" y="3992751"/>
            <a:ext cx="15162552" cy="3611442"/>
          </a:xfrm>
          <a:custGeom>
            <a:avLst/>
            <a:gdLst/>
            <a:ahLst/>
            <a:cxnLst/>
            <a:rect r="r" b="b" t="t" l="l"/>
            <a:pathLst>
              <a:path h="3611442" w="15162552">
                <a:moveTo>
                  <a:pt x="0" y="0"/>
                </a:moveTo>
                <a:lnTo>
                  <a:pt x="15162552" y="0"/>
                </a:lnTo>
                <a:lnTo>
                  <a:pt x="15162552" y="3611442"/>
                </a:lnTo>
                <a:lnTo>
                  <a:pt x="0" y="3611442"/>
                </a:lnTo>
                <a:lnTo>
                  <a:pt x="0" y="0"/>
                </a:lnTo>
                <a:close/>
              </a:path>
            </a:pathLst>
          </a:custGeom>
          <a:blipFill>
            <a:blip r:embed="rId6">
              <a:extLst>
                <a:ext uri="{96DAC541-7B7A-43D3-8B79-37D633B846F1}">
                  <asvg:svgBlip xmlns:asvg="http://schemas.microsoft.com/office/drawing/2016/SVG/main" r:embed="rId7"/>
                </a:ext>
              </a:extLst>
            </a:blip>
            <a:stretch>
              <a:fillRect l="-80" t="0" r="-80" b="0"/>
            </a:stretch>
          </a:blipFill>
        </p:spPr>
      </p:sp>
      <p:sp>
        <p:nvSpPr>
          <p:cNvPr name="TextBox 8" id="8"/>
          <p:cNvSpPr txBox="true"/>
          <p:nvPr/>
        </p:nvSpPr>
        <p:spPr>
          <a:xfrm rot="0">
            <a:off x="3887772" y="1848860"/>
            <a:ext cx="12768272" cy="5060950"/>
          </a:xfrm>
          <a:prstGeom prst="rect">
            <a:avLst/>
          </a:prstGeom>
        </p:spPr>
        <p:txBody>
          <a:bodyPr anchor="t" rtlCol="false" tIns="0" lIns="0" bIns="0" rIns="0">
            <a:spAutoFit/>
          </a:bodyPr>
          <a:lstStyle/>
          <a:p>
            <a:pPr algn="ctr">
              <a:lnSpc>
                <a:spcPts val="20300"/>
              </a:lnSpc>
            </a:pPr>
            <a:r>
              <a:rPr lang="en-US" sz="14500">
                <a:solidFill>
                  <a:srgbClr val="FDA104"/>
                </a:solidFill>
                <a:latin typeface="Gagalin"/>
                <a:ea typeface="Gagalin"/>
                <a:cs typeface="Gagalin"/>
                <a:sym typeface="Gagalin"/>
              </a:rPr>
              <a:t>Cloud Security</a:t>
            </a:r>
          </a:p>
          <a:p>
            <a:pPr algn="ctr">
              <a:lnSpc>
                <a:spcPts val="20300"/>
              </a:lnSpc>
            </a:pPr>
            <a:r>
              <a:rPr lang="en-US" sz="14500">
                <a:solidFill>
                  <a:srgbClr val="FFFFFF"/>
                </a:solidFill>
                <a:latin typeface="Gagalin"/>
                <a:ea typeface="Gagalin"/>
                <a:cs typeface="Gagalin"/>
                <a:sym typeface="Gagalin"/>
              </a:rPr>
              <a:t>AWS IAM</a:t>
            </a:r>
          </a:p>
        </p:txBody>
      </p:sp>
      <p:sp>
        <p:nvSpPr>
          <p:cNvPr name="TextBox 9" id="9"/>
          <p:cNvSpPr txBox="true"/>
          <p:nvPr/>
        </p:nvSpPr>
        <p:spPr>
          <a:xfrm rot="0">
            <a:off x="623306" y="5538740"/>
            <a:ext cx="2018805" cy="2034035"/>
          </a:xfrm>
          <a:prstGeom prst="rect">
            <a:avLst/>
          </a:prstGeom>
        </p:spPr>
        <p:txBody>
          <a:bodyPr anchor="t" rtlCol="false" tIns="0" lIns="0" bIns="0" rIns="0">
            <a:spAutoFit/>
          </a:bodyPr>
          <a:lstStyle/>
          <a:p>
            <a:pPr algn="ctr">
              <a:lnSpc>
                <a:spcPts val="7811"/>
              </a:lnSpc>
            </a:pPr>
            <a:r>
              <a:rPr lang="en-US" sz="5578">
                <a:solidFill>
                  <a:srgbClr val="FFFFFF"/>
                </a:solidFill>
                <a:latin typeface="Gagalin"/>
                <a:ea typeface="Gagalin"/>
                <a:cs typeface="Gagalin"/>
                <a:sym typeface="Gagalin"/>
              </a:rPr>
              <a:t>CLOUD </a:t>
            </a:r>
          </a:p>
          <a:p>
            <a:pPr algn="ctr">
              <a:lnSpc>
                <a:spcPts val="7811"/>
              </a:lnSpc>
            </a:pPr>
          </a:p>
        </p:txBody>
      </p:sp>
      <p:sp>
        <p:nvSpPr>
          <p:cNvPr name="TextBox 10" id="10"/>
          <p:cNvSpPr txBox="true"/>
          <p:nvPr/>
        </p:nvSpPr>
        <p:spPr>
          <a:xfrm rot="0">
            <a:off x="604256" y="6382045"/>
            <a:ext cx="1825371" cy="2034026"/>
          </a:xfrm>
          <a:prstGeom prst="rect">
            <a:avLst/>
          </a:prstGeom>
        </p:spPr>
        <p:txBody>
          <a:bodyPr anchor="t" rtlCol="false" tIns="0" lIns="0" bIns="0" rIns="0">
            <a:spAutoFit/>
          </a:bodyPr>
          <a:lstStyle/>
          <a:p>
            <a:pPr algn="ctr">
              <a:lnSpc>
                <a:spcPts val="7811"/>
              </a:lnSpc>
            </a:pPr>
            <a:r>
              <a:rPr lang="en-US" sz="5578">
                <a:solidFill>
                  <a:srgbClr val="FDA104"/>
                </a:solidFill>
                <a:latin typeface="Gagalin"/>
                <a:ea typeface="Gagalin"/>
                <a:cs typeface="Gagalin"/>
                <a:sym typeface="Gagalin"/>
              </a:rPr>
              <a:t>FORGE</a:t>
            </a:r>
          </a:p>
          <a:p>
            <a:pPr algn="ctr">
              <a:lnSpc>
                <a:spcPts val="7811"/>
              </a:lnSpc>
            </a:pPr>
          </a:p>
        </p:txBody>
      </p:sp>
      <p:sp>
        <p:nvSpPr>
          <p:cNvPr name="TextBox 11" id="11"/>
          <p:cNvSpPr txBox="true"/>
          <p:nvPr/>
        </p:nvSpPr>
        <p:spPr>
          <a:xfrm rot="0">
            <a:off x="-1002992" y="-100012"/>
            <a:ext cx="8884891" cy="580711"/>
          </a:xfrm>
          <a:prstGeom prst="rect">
            <a:avLst/>
          </a:prstGeom>
        </p:spPr>
        <p:txBody>
          <a:bodyPr anchor="t" rtlCol="false" tIns="0" lIns="0" bIns="0" rIns="0">
            <a:spAutoFit/>
          </a:bodyPr>
          <a:lstStyle/>
          <a:p>
            <a:pPr algn="ctr">
              <a:lnSpc>
                <a:spcPts val="4480"/>
              </a:lnSpc>
            </a:pPr>
            <a:r>
              <a:rPr lang="en-US" sz="3200" b="true">
                <a:solidFill>
                  <a:srgbClr val="FDA104"/>
                </a:solidFill>
                <a:latin typeface="Inter Bold"/>
                <a:ea typeface="Inter Bold"/>
                <a:cs typeface="Inter Bold"/>
                <a:sym typeface="Inter Bold"/>
              </a:rPr>
              <a:t>AWS STUDENT BUILDER GROUP</a:t>
            </a:r>
          </a:p>
        </p:txBody>
      </p:sp>
      <p:sp>
        <p:nvSpPr>
          <p:cNvPr name="TextBox 12" id="12"/>
          <p:cNvSpPr txBox="true"/>
          <p:nvPr/>
        </p:nvSpPr>
        <p:spPr>
          <a:xfrm rot="0">
            <a:off x="921458" y="413861"/>
            <a:ext cx="5667785" cy="424967"/>
          </a:xfrm>
          <a:prstGeom prst="rect">
            <a:avLst/>
          </a:prstGeom>
        </p:spPr>
        <p:txBody>
          <a:bodyPr anchor="t" rtlCol="false" tIns="0" lIns="0" bIns="0" rIns="0">
            <a:spAutoFit/>
          </a:bodyPr>
          <a:lstStyle/>
          <a:p>
            <a:pPr algn="ctr">
              <a:lnSpc>
                <a:spcPts val="3220"/>
              </a:lnSpc>
            </a:pPr>
            <a:r>
              <a:rPr lang="en-US" sz="2300" i="true">
                <a:solidFill>
                  <a:srgbClr val="FDA104"/>
                </a:solidFill>
                <a:latin typeface="Inter Italics"/>
                <a:ea typeface="Inter Italics"/>
                <a:cs typeface="Inter Italics"/>
                <a:sym typeface="Inter Italics"/>
              </a:rPr>
              <a:t>EGERTON UNIVERSITY</a:t>
            </a:r>
          </a:p>
        </p:txBody>
      </p:sp>
      <p:sp>
        <p:nvSpPr>
          <p:cNvPr name="TextBox 13" id="13"/>
          <p:cNvSpPr txBox="true"/>
          <p:nvPr/>
        </p:nvSpPr>
        <p:spPr>
          <a:xfrm rot="0">
            <a:off x="1991058" y="876300"/>
            <a:ext cx="2896791" cy="682628"/>
          </a:xfrm>
          <a:prstGeom prst="rect">
            <a:avLst/>
          </a:prstGeom>
        </p:spPr>
        <p:txBody>
          <a:bodyPr anchor="t" rtlCol="false" tIns="0" lIns="0" bIns="0" rIns="0">
            <a:spAutoFit/>
          </a:bodyPr>
          <a:lstStyle/>
          <a:p>
            <a:pPr algn="ctr">
              <a:lnSpc>
                <a:spcPts val="4900"/>
              </a:lnSpc>
            </a:pPr>
            <a:r>
              <a:rPr lang="en-US" sz="3500">
                <a:solidFill>
                  <a:srgbClr val="4D4D4D"/>
                </a:solidFill>
                <a:latin typeface="Anton"/>
                <a:ea typeface="Anton"/>
                <a:cs typeface="Anton"/>
                <a:sym typeface="Anton"/>
              </a:rPr>
              <a:t>PRESENTS</a:t>
            </a:r>
          </a:p>
        </p:txBody>
      </p:sp>
      <p:sp>
        <p:nvSpPr>
          <p:cNvPr name="TextBox 14" id="14"/>
          <p:cNvSpPr txBox="true"/>
          <p:nvPr/>
        </p:nvSpPr>
        <p:spPr>
          <a:xfrm rot="0">
            <a:off x="14360119" y="9201150"/>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3392638" y="9181176"/>
            <a:ext cx="1429494"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4h July 2026</a:t>
            </a:r>
          </a:p>
        </p:txBody>
      </p:sp>
      <p:sp>
        <p:nvSpPr>
          <p:cNvPr name="TextBox 16" id="16"/>
          <p:cNvSpPr txBox="true"/>
          <p:nvPr/>
        </p:nvSpPr>
        <p:spPr>
          <a:xfrm rot="0">
            <a:off x="0" y="9201150"/>
            <a:ext cx="2642111"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Ephy Kimotho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sp>
        <p:nvSpPr>
          <p:cNvPr name="TextBox 4" id="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Freeform 5" id="5"/>
          <p:cNvSpPr/>
          <p:nvPr/>
        </p:nvSpPr>
        <p:spPr>
          <a:xfrm flipH="false" flipV="false" rot="0">
            <a:off x="954386" y="2004184"/>
            <a:ext cx="7920342" cy="7273109"/>
          </a:xfrm>
          <a:custGeom>
            <a:avLst/>
            <a:gdLst/>
            <a:ahLst/>
            <a:cxnLst/>
            <a:rect r="r" b="b" t="t" l="l"/>
            <a:pathLst>
              <a:path h="7273109" w="7920342">
                <a:moveTo>
                  <a:pt x="0" y="0"/>
                </a:moveTo>
                <a:lnTo>
                  <a:pt x="7920342" y="0"/>
                </a:lnTo>
                <a:lnTo>
                  <a:pt x="7920342"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914867" y="1771650"/>
            <a:ext cx="38100" cy="7524693"/>
            <a:chOff x="0" y="0"/>
            <a:chExt cx="50800" cy="10032924"/>
          </a:xfrm>
        </p:grpSpPr>
        <p:sp>
          <p:nvSpPr>
            <p:cNvPr name="Freeform 7" id="7"/>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8" id="8"/>
          <p:cNvGrpSpPr/>
          <p:nvPr/>
        </p:nvGrpSpPr>
        <p:grpSpPr>
          <a:xfrm rot="0">
            <a:off x="636137" y="2254625"/>
            <a:ext cx="38100" cy="7524693"/>
            <a:chOff x="0" y="0"/>
            <a:chExt cx="50800" cy="10032924"/>
          </a:xfrm>
        </p:grpSpPr>
        <p:sp>
          <p:nvSpPr>
            <p:cNvPr name="Freeform 9" id="9"/>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0" id="10"/>
          <p:cNvGrpSpPr/>
          <p:nvPr/>
        </p:nvGrpSpPr>
        <p:grpSpPr>
          <a:xfrm rot="0">
            <a:off x="226028" y="1495425"/>
            <a:ext cx="17297400" cy="38100"/>
            <a:chOff x="0" y="0"/>
            <a:chExt cx="23063200" cy="50800"/>
          </a:xfrm>
        </p:grpSpPr>
        <p:sp>
          <p:nvSpPr>
            <p:cNvPr name="Freeform 11" id="11"/>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grpSp>
        <p:nvGrpSpPr>
          <p:cNvPr name="Group 12" id="12"/>
          <p:cNvGrpSpPr/>
          <p:nvPr/>
        </p:nvGrpSpPr>
        <p:grpSpPr>
          <a:xfrm rot="0">
            <a:off x="9831353" y="1771650"/>
            <a:ext cx="38100" cy="7524693"/>
            <a:chOff x="0" y="0"/>
            <a:chExt cx="50800" cy="10032924"/>
          </a:xfrm>
        </p:grpSpPr>
        <p:sp>
          <p:nvSpPr>
            <p:cNvPr name="Freeform 13" id="13"/>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4" id="14"/>
          <p:cNvGrpSpPr/>
          <p:nvPr/>
        </p:nvGrpSpPr>
        <p:grpSpPr>
          <a:xfrm rot="0">
            <a:off x="9552622" y="2254625"/>
            <a:ext cx="38100" cy="7524693"/>
            <a:chOff x="0" y="0"/>
            <a:chExt cx="50800" cy="10032924"/>
          </a:xfrm>
        </p:grpSpPr>
        <p:sp>
          <p:nvSpPr>
            <p:cNvPr name="Freeform 15" id="15"/>
            <p:cNvSpPr/>
            <p:nvPr/>
          </p:nvSpPr>
          <p:spPr>
            <a:xfrm flipH="false" flipV="false" rot="0">
              <a:off x="0" y="0"/>
              <a:ext cx="50800" cy="10032873"/>
            </a:xfrm>
            <a:custGeom>
              <a:avLst/>
              <a:gdLst/>
              <a:ahLst/>
              <a:cxnLst/>
              <a:rect r="r" b="b" t="t" l="l"/>
              <a:pathLst>
                <a:path h="10032873" w="50800">
                  <a:moveTo>
                    <a:pt x="0" y="10032873"/>
                  </a:moveTo>
                  <a:lnTo>
                    <a:pt x="50800" y="0"/>
                  </a:lnTo>
                </a:path>
              </a:pathLst>
            </a:custGeom>
            <a:blipFill>
              <a:blip r:embed="rId2">
                <a:alphaModFix amt="0"/>
              </a:blip>
              <a:stretch>
                <a:fillRect l="-25289762" t="0" r="-25289762" b="0"/>
              </a:stretch>
            </a:blipFill>
            <a:ln w="38100" cap="sq">
              <a:solidFill>
                <a:srgbClr val="FDA104"/>
              </a:solidFill>
              <a:prstDash val="solid"/>
              <a:miter/>
            </a:ln>
          </p:spPr>
        </p:sp>
      </p:grpSp>
      <p:sp>
        <p:nvSpPr>
          <p:cNvPr name="TextBox 16" id="16"/>
          <p:cNvSpPr txBox="true"/>
          <p:nvPr/>
        </p:nvSpPr>
        <p:spPr>
          <a:xfrm rot="0">
            <a:off x="-371846" y="341157"/>
            <a:ext cx="8874728" cy="1133475"/>
          </a:xfrm>
          <a:prstGeom prst="rect">
            <a:avLst/>
          </a:prstGeom>
        </p:spPr>
        <p:txBody>
          <a:bodyPr anchor="t" rtlCol="false" tIns="0" lIns="0" bIns="0" rIns="0">
            <a:spAutoFit/>
          </a:bodyPr>
          <a:lstStyle/>
          <a:p>
            <a:pPr algn="ctr">
              <a:lnSpc>
                <a:spcPts val="8398"/>
              </a:lnSpc>
            </a:pPr>
            <a:r>
              <a:rPr lang="en-US" sz="5998">
                <a:solidFill>
                  <a:srgbClr val="FFFFFF"/>
                </a:solidFill>
                <a:latin typeface="Gagalin"/>
                <a:ea typeface="Gagalin"/>
                <a:cs typeface="Gagalin"/>
                <a:sym typeface="Gagalin"/>
              </a:rPr>
              <a:t>Table of contents</a:t>
            </a:r>
          </a:p>
        </p:txBody>
      </p:sp>
      <p:sp>
        <p:nvSpPr>
          <p:cNvPr name="Freeform 17" id="17"/>
          <p:cNvSpPr/>
          <p:nvPr/>
        </p:nvSpPr>
        <p:spPr>
          <a:xfrm flipH="false" flipV="false" rot="0">
            <a:off x="956367" y="2532526"/>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956367" y="4055574"/>
            <a:ext cx="7346994" cy="1248099"/>
          </a:xfrm>
          <a:custGeom>
            <a:avLst/>
            <a:gdLst/>
            <a:ahLst/>
            <a:cxnLst/>
            <a:rect r="r" b="b" t="t" l="l"/>
            <a:pathLst>
              <a:path h="1248099" w="7346994">
                <a:moveTo>
                  <a:pt x="0" y="0"/>
                </a:moveTo>
                <a:lnTo>
                  <a:pt x="7346995" y="0"/>
                </a:lnTo>
                <a:lnTo>
                  <a:pt x="7346995" y="1248098"/>
                </a:lnTo>
                <a:lnTo>
                  <a:pt x="0" y="12480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028700" y="5660065"/>
            <a:ext cx="7346994" cy="1434017"/>
          </a:xfrm>
          <a:custGeom>
            <a:avLst/>
            <a:gdLst/>
            <a:ahLst/>
            <a:cxnLst/>
            <a:rect r="r" b="b" t="t" l="l"/>
            <a:pathLst>
              <a:path h="1434017" w="7346994">
                <a:moveTo>
                  <a:pt x="0" y="0"/>
                </a:moveTo>
                <a:lnTo>
                  <a:pt x="7346994" y="0"/>
                </a:lnTo>
                <a:lnTo>
                  <a:pt x="7346994" y="1434017"/>
                </a:lnTo>
                <a:lnTo>
                  <a:pt x="0" y="14340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956367" y="7253869"/>
            <a:ext cx="7346994" cy="1297657"/>
          </a:xfrm>
          <a:custGeom>
            <a:avLst/>
            <a:gdLst/>
            <a:ahLst/>
            <a:cxnLst/>
            <a:rect r="r" b="b" t="t" l="l"/>
            <a:pathLst>
              <a:path h="1297657" w="7346994">
                <a:moveTo>
                  <a:pt x="0" y="0"/>
                </a:moveTo>
                <a:lnTo>
                  <a:pt x="7346995" y="0"/>
                </a:lnTo>
                <a:lnTo>
                  <a:pt x="7346995" y="1297657"/>
                </a:lnTo>
                <a:lnTo>
                  <a:pt x="0" y="12976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1193616" y="2637130"/>
            <a:ext cx="6691532"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INTRODUCTION TO IAM</a:t>
            </a:r>
          </a:p>
        </p:txBody>
      </p:sp>
      <p:sp>
        <p:nvSpPr>
          <p:cNvPr name="TextBox 22" id="22"/>
          <p:cNvSpPr txBox="true"/>
          <p:nvPr/>
        </p:nvSpPr>
        <p:spPr>
          <a:xfrm rot="0">
            <a:off x="1193616" y="4256227"/>
            <a:ext cx="3551932"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Shared responsibility model</a:t>
            </a:r>
          </a:p>
        </p:txBody>
      </p:sp>
      <p:sp>
        <p:nvSpPr>
          <p:cNvPr name="TextBox 23" id="23"/>
          <p:cNvSpPr txBox="true"/>
          <p:nvPr/>
        </p:nvSpPr>
        <p:spPr>
          <a:xfrm rot="0">
            <a:off x="1193616" y="5767626"/>
            <a:ext cx="4103340"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Authentication &amp; Authorization</a:t>
            </a:r>
          </a:p>
        </p:txBody>
      </p:sp>
      <p:sp>
        <p:nvSpPr>
          <p:cNvPr name="TextBox 24" id="24"/>
          <p:cNvSpPr txBox="true"/>
          <p:nvPr/>
        </p:nvSpPr>
        <p:spPr>
          <a:xfrm rot="0">
            <a:off x="1193616" y="7402849"/>
            <a:ext cx="4469011"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Principle of Least Privilege &amp; MFA</a:t>
            </a:r>
          </a:p>
        </p:txBody>
      </p:sp>
      <p:sp>
        <p:nvSpPr>
          <p:cNvPr name="TextBox 25" id="25"/>
          <p:cNvSpPr txBox="true"/>
          <p:nvPr/>
        </p:nvSpPr>
        <p:spPr>
          <a:xfrm rot="0">
            <a:off x="-3324044" y="119063"/>
            <a:ext cx="8238592" cy="429892"/>
          </a:xfrm>
          <a:prstGeom prst="rect">
            <a:avLst/>
          </a:prstGeom>
        </p:spPr>
        <p:txBody>
          <a:bodyPr anchor="t" rtlCol="false" tIns="0" lIns="0" bIns="0" rIns="0">
            <a:spAutoFit/>
          </a:bodyPr>
          <a:lstStyle/>
          <a:p>
            <a:pPr algn="ctr">
              <a:lnSpc>
                <a:spcPts val="3079"/>
              </a:lnSpc>
            </a:pPr>
            <a:r>
              <a:rPr lang="en-US" sz="2200">
                <a:solidFill>
                  <a:srgbClr val="FDA104"/>
                </a:solidFill>
                <a:latin typeface="Sigher"/>
                <a:ea typeface="Sigher"/>
                <a:cs typeface="Sigher"/>
                <a:sym typeface="Sigher"/>
              </a:rPr>
              <a:t>intro</a:t>
            </a:r>
          </a:p>
        </p:txBody>
      </p:sp>
      <p:sp>
        <p:nvSpPr>
          <p:cNvPr name="Freeform 26" id="2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9945653" y="2004184"/>
            <a:ext cx="7920342" cy="7273109"/>
          </a:xfrm>
          <a:custGeom>
            <a:avLst/>
            <a:gdLst/>
            <a:ahLst/>
            <a:cxnLst/>
            <a:rect r="r" b="b" t="t" l="l"/>
            <a:pathLst>
              <a:path h="7273109" w="7920342">
                <a:moveTo>
                  <a:pt x="0" y="0"/>
                </a:moveTo>
                <a:lnTo>
                  <a:pt x="7920342" y="0"/>
                </a:lnTo>
                <a:lnTo>
                  <a:pt x="7920342"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29707" y="2535650"/>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10466956" y="2640263"/>
            <a:ext cx="9525" cy="405765"/>
          </a:xfrm>
          <a:prstGeom prst="rect">
            <a:avLst/>
          </a:prstGeom>
        </p:spPr>
        <p:txBody>
          <a:bodyPr anchor="t" rtlCol="false" tIns="0" lIns="0" bIns="0" rIns="0">
            <a:spAutoFit/>
          </a:bodyPr>
          <a:lstStyle/>
          <a:p>
            <a:pPr algn="l">
              <a:lnSpc>
                <a:spcPts val="3359"/>
              </a:lnSpc>
            </a:pPr>
          </a:p>
        </p:txBody>
      </p:sp>
      <p:sp>
        <p:nvSpPr>
          <p:cNvPr name="Freeform 30" id="30"/>
          <p:cNvSpPr/>
          <p:nvPr/>
        </p:nvSpPr>
        <p:spPr>
          <a:xfrm flipH="false" flipV="false" rot="0">
            <a:off x="10232326" y="4214736"/>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10466956" y="4435297"/>
            <a:ext cx="5550843"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Security using NACLs and Security Groups</a:t>
            </a:r>
          </a:p>
        </p:txBody>
      </p:sp>
      <p:sp>
        <p:nvSpPr>
          <p:cNvPr name="TextBox 32" id="32"/>
          <p:cNvSpPr txBox="true"/>
          <p:nvPr/>
        </p:nvSpPr>
        <p:spPr>
          <a:xfrm rot="0">
            <a:off x="10476481" y="2819333"/>
            <a:ext cx="2469505"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IAM Terminologies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54386" y="2004184"/>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191092" y="2160308"/>
            <a:ext cx="15739234" cy="672592"/>
          </a:xfrm>
          <a:prstGeom prst="rect">
            <a:avLst/>
          </a:prstGeom>
        </p:spPr>
        <p:txBody>
          <a:bodyPr anchor="t" rtlCol="false" tIns="0" lIns="0" bIns="0" rIns="0">
            <a:spAutoFit/>
          </a:bodyPr>
          <a:lstStyle/>
          <a:p>
            <a:pPr algn="l">
              <a:lnSpc>
                <a:spcPts val="5459"/>
              </a:lnSpc>
            </a:pPr>
          </a:p>
        </p:txBody>
      </p:sp>
      <p:sp>
        <p:nvSpPr>
          <p:cNvPr name="TextBox 14" id="1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245078" y="378152"/>
            <a:ext cx="13853227"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WHAT IS IAM ?</a:t>
            </a:r>
          </a:p>
        </p:txBody>
      </p:sp>
      <p:sp>
        <p:nvSpPr>
          <p:cNvPr name="Freeform 16" id="1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47699" y="2799995"/>
            <a:ext cx="15682627" cy="6109575"/>
          </a:xfrm>
          <a:prstGeom prst="rect">
            <a:avLst/>
          </a:prstGeom>
        </p:spPr>
        <p:txBody>
          <a:bodyPr anchor="t" rtlCol="false" tIns="0" lIns="0" bIns="0" rIns="0">
            <a:spAutoFit/>
          </a:bodyPr>
          <a:lstStyle/>
          <a:p>
            <a:pPr algn="l">
              <a:lnSpc>
                <a:spcPts val="3451"/>
              </a:lnSpc>
            </a:pPr>
            <a:r>
              <a:rPr lang="en-US" sz="2465">
                <a:solidFill>
                  <a:srgbClr val="FFFFFF"/>
                </a:solidFill>
                <a:latin typeface="Anton"/>
                <a:ea typeface="Anton"/>
                <a:cs typeface="Anton"/>
                <a:sym typeface="Anton"/>
              </a:rPr>
              <a:t>Cloud security is very important as it provides guidelines for you to create your infrastructure  and applications securely.</a:t>
            </a:r>
          </a:p>
          <a:p>
            <a:pPr algn="l">
              <a:lnSpc>
                <a:spcPts val="3451"/>
              </a:lnSpc>
            </a:pPr>
            <a:r>
              <a:rPr lang="en-US" sz="2465">
                <a:solidFill>
                  <a:srgbClr val="FFFFFF"/>
                </a:solidFill>
                <a:latin typeface="Anton"/>
                <a:ea typeface="Anton"/>
                <a:cs typeface="Anton"/>
                <a:sym typeface="Anton"/>
              </a:rPr>
              <a:t>It includes activities such as securing components, encryption of data, Traffic inspecting and so much more.</a:t>
            </a:r>
          </a:p>
          <a:p>
            <a:pPr algn="l">
              <a:lnSpc>
                <a:spcPts val="3451"/>
              </a:lnSpc>
            </a:pPr>
          </a:p>
          <a:p>
            <a:pPr algn="l">
              <a:lnSpc>
                <a:spcPts val="3451"/>
              </a:lnSpc>
            </a:pPr>
            <a:r>
              <a:rPr lang="en-US" sz="2465">
                <a:solidFill>
                  <a:srgbClr val="FFFFFF"/>
                </a:solidFill>
                <a:latin typeface="Anton"/>
                <a:ea typeface="Anton"/>
                <a:cs typeface="Anton"/>
                <a:sym typeface="Anton"/>
              </a:rPr>
              <a:t>Cloud security is a shared responsibility between AWS and their customers as we will see in the shared responsibility model. AWS is responsible for protecting it’s global infrastructure and the customer is responsible for protecting resources in the cloud. IAM is one way of doing this.</a:t>
            </a:r>
          </a:p>
          <a:p>
            <a:pPr algn="l">
              <a:lnSpc>
                <a:spcPts val="3451"/>
              </a:lnSpc>
            </a:pPr>
          </a:p>
          <a:p>
            <a:pPr algn="l">
              <a:lnSpc>
                <a:spcPts val="3451"/>
              </a:lnSpc>
            </a:pPr>
            <a:r>
              <a:rPr lang="en-US" sz="2465">
                <a:solidFill>
                  <a:srgbClr val="FDA104"/>
                </a:solidFill>
                <a:latin typeface="Anton"/>
                <a:ea typeface="Anton"/>
                <a:cs typeface="Anton"/>
                <a:sym typeface="Anton"/>
              </a:rPr>
              <a:t>IAM</a:t>
            </a:r>
            <a:r>
              <a:rPr lang="en-US" sz="2465">
                <a:solidFill>
                  <a:srgbClr val="FFFFFF"/>
                </a:solidFill>
                <a:latin typeface="Anton"/>
                <a:ea typeface="Anton"/>
                <a:cs typeface="Anton"/>
                <a:sym typeface="Anton"/>
              </a:rPr>
              <a:t> stands for Identity and Access Management. It’s a free service that allows you to govern users who can access your account and what they can access.</a:t>
            </a:r>
          </a:p>
          <a:p>
            <a:pPr algn="l">
              <a:lnSpc>
                <a:spcPts val="3451"/>
              </a:lnSpc>
            </a:pPr>
          </a:p>
          <a:p>
            <a:pPr algn="l">
              <a:lnSpc>
                <a:spcPts val="3451"/>
              </a:lnSpc>
            </a:pPr>
          </a:p>
          <a:p>
            <a:pPr algn="l">
              <a:lnSpc>
                <a:spcPts val="3451"/>
              </a:lnSpc>
            </a:pPr>
          </a:p>
          <a:p>
            <a:pPr algn="l">
              <a:lnSpc>
                <a:spcPts val="3451"/>
              </a:lnSpc>
            </a:pPr>
          </a:p>
          <a:p>
            <a:pPr algn="l">
              <a:lnSpc>
                <a:spcPts val="3451"/>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914867" y="1771650"/>
            <a:ext cx="38100" cy="7524693"/>
            <a:chOff x="0" y="0"/>
            <a:chExt cx="50800" cy="10032924"/>
          </a:xfrm>
        </p:grpSpPr>
        <p:sp>
          <p:nvSpPr>
            <p:cNvPr name="Freeform 5" id="5"/>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6" id="6"/>
          <p:cNvGrpSpPr/>
          <p:nvPr/>
        </p:nvGrpSpPr>
        <p:grpSpPr>
          <a:xfrm rot="0">
            <a:off x="636137" y="2254625"/>
            <a:ext cx="38100" cy="7524693"/>
            <a:chOff x="0" y="0"/>
            <a:chExt cx="50800" cy="10032924"/>
          </a:xfrm>
        </p:grpSpPr>
        <p:sp>
          <p:nvSpPr>
            <p:cNvPr name="Freeform 7" id="7"/>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8" id="8"/>
          <p:cNvGrpSpPr/>
          <p:nvPr/>
        </p:nvGrpSpPr>
        <p:grpSpPr>
          <a:xfrm rot="0">
            <a:off x="226028" y="1495425"/>
            <a:ext cx="17297400" cy="38100"/>
            <a:chOff x="0" y="0"/>
            <a:chExt cx="23063200" cy="50800"/>
          </a:xfrm>
        </p:grpSpPr>
        <p:sp>
          <p:nvSpPr>
            <p:cNvPr name="Freeform 9" id="9"/>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grpSp>
        <p:nvGrpSpPr>
          <p:cNvPr name="Group 10" id="10"/>
          <p:cNvGrpSpPr/>
          <p:nvPr/>
        </p:nvGrpSpPr>
        <p:grpSpPr>
          <a:xfrm rot="0">
            <a:off x="9831353" y="1771650"/>
            <a:ext cx="38100" cy="7524693"/>
            <a:chOff x="0" y="0"/>
            <a:chExt cx="50800" cy="10032924"/>
          </a:xfrm>
        </p:grpSpPr>
        <p:sp>
          <p:nvSpPr>
            <p:cNvPr name="Freeform 11" id="11"/>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2" id="12"/>
          <p:cNvGrpSpPr/>
          <p:nvPr/>
        </p:nvGrpSpPr>
        <p:grpSpPr>
          <a:xfrm rot="0">
            <a:off x="9552622" y="2254625"/>
            <a:ext cx="38100" cy="7524693"/>
            <a:chOff x="0" y="0"/>
            <a:chExt cx="50800" cy="10032924"/>
          </a:xfrm>
        </p:grpSpPr>
        <p:sp>
          <p:nvSpPr>
            <p:cNvPr name="Freeform 13" id="13"/>
            <p:cNvSpPr/>
            <p:nvPr/>
          </p:nvSpPr>
          <p:spPr>
            <a:xfrm flipH="false" flipV="false" rot="0">
              <a:off x="0" y="0"/>
              <a:ext cx="50800" cy="10032873"/>
            </a:xfrm>
            <a:custGeom>
              <a:avLst/>
              <a:gdLst/>
              <a:ahLst/>
              <a:cxnLst/>
              <a:rect r="r" b="b" t="t" l="l"/>
              <a:pathLst>
                <a:path h="10032873" w="50800">
                  <a:moveTo>
                    <a:pt x="0" y="10032873"/>
                  </a:moveTo>
                  <a:lnTo>
                    <a:pt x="50800" y="0"/>
                  </a:lnTo>
                </a:path>
              </a:pathLst>
            </a:custGeom>
            <a:blipFill>
              <a:blip r:embed="rId2">
                <a:alphaModFix amt="0"/>
              </a:blip>
              <a:stretch>
                <a:fillRect l="-25289762" t="0" r="-25289762" b="0"/>
              </a:stretch>
            </a:blipFill>
            <a:ln w="38100" cap="sq">
              <a:solidFill>
                <a:srgbClr val="FDA104"/>
              </a:solidFill>
              <a:prstDash val="solid"/>
              <a:miter/>
            </a:ln>
          </p:spPr>
        </p:sp>
      </p:grpSp>
      <p:sp>
        <p:nvSpPr>
          <p:cNvPr name="Freeform 14" id="14"/>
          <p:cNvSpPr/>
          <p:nvPr/>
        </p:nvSpPr>
        <p:spPr>
          <a:xfrm flipH="false" flipV="false" rot="0">
            <a:off x="904480" y="1666624"/>
            <a:ext cx="15248803" cy="7262016"/>
          </a:xfrm>
          <a:custGeom>
            <a:avLst/>
            <a:gdLst/>
            <a:ahLst/>
            <a:cxnLst/>
            <a:rect r="r" b="b" t="t" l="l"/>
            <a:pathLst>
              <a:path h="7262016" w="15248803">
                <a:moveTo>
                  <a:pt x="0" y="0"/>
                </a:moveTo>
                <a:lnTo>
                  <a:pt x="15248803" y="0"/>
                </a:lnTo>
                <a:lnTo>
                  <a:pt x="15248803" y="7262016"/>
                </a:lnTo>
                <a:lnTo>
                  <a:pt x="0" y="7262016"/>
                </a:lnTo>
                <a:lnTo>
                  <a:pt x="0" y="0"/>
                </a:lnTo>
                <a:close/>
              </a:path>
            </a:pathLst>
          </a:custGeom>
          <a:blipFill>
            <a:blip r:embed="rId3"/>
            <a:stretch>
              <a:fillRect l="0" t="-2846" r="0" b="-2846"/>
            </a:stretch>
          </a:blipFill>
        </p:spPr>
      </p:sp>
      <p:sp>
        <p:nvSpPr>
          <p:cNvPr name="TextBox 15" id="15"/>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6" id="16"/>
          <p:cNvSpPr txBox="true"/>
          <p:nvPr/>
        </p:nvSpPr>
        <p:spPr>
          <a:xfrm rot="0">
            <a:off x="-371846" y="341157"/>
            <a:ext cx="12010371" cy="1019150"/>
          </a:xfrm>
          <a:prstGeom prst="rect">
            <a:avLst/>
          </a:prstGeom>
        </p:spPr>
        <p:txBody>
          <a:bodyPr anchor="t" rtlCol="false" tIns="0" lIns="0" bIns="0" rIns="0">
            <a:spAutoFit/>
          </a:bodyPr>
          <a:lstStyle/>
          <a:p>
            <a:pPr algn="ctr">
              <a:lnSpc>
                <a:spcPts val="8398"/>
              </a:lnSpc>
            </a:pPr>
            <a:r>
              <a:rPr lang="en-US" sz="5998">
                <a:solidFill>
                  <a:srgbClr val="FFFFFF"/>
                </a:solidFill>
                <a:latin typeface="Gagalin"/>
                <a:ea typeface="Gagalin"/>
                <a:cs typeface="Gagalin"/>
                <a:sym typeface="Gagalin"/>
              </a:rPr>
              <a:t>Shared responsibility model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54386" y="2004184"/>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191092" y="2160308"/>
            <a:ext cx="15739234" cy="672592"/>
          </a:xfrm>
          <a:prstGeom prst="rect">
            <a:avLst/>
          </a:prstGeom>
        </p:spPr>
        <p:txBody>
          <a:bodyPr anchor="t" rtlCol="false" tIns="0" lIns="0" bIns="0" rIns="0">
            <a:spAutoFit/>
          </a:bodyPr>
          <a:lstStyle/>
          <a:p>
            <a:pPr algn="l">
              <a:lnSpc>
                <a:spcPts val="5459"/>
              </a:lnSpc>
            </a:pPr>
          </a:p>
        </p:txBody>
      </p:sp>
      <p:sp>
        <p:nvSpPr>
          <p:cNvPr name="TextBox 14" id="1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245078" y="378152"/>
            <a:ext cx="13853227"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Principle OF LEAST PRIVILEDGE &amp; MFA</a:t>
            </a:r>
          </a:p>
        </p:txBody>
      </p:sp>
      <p:sp>
        <p:nvSpPr>
          <p:cNvPr name="Freeform 16" id="1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47699" y="2799995"/>
            <a:ext cx="15682627" cy="5233275"/>
          </a:xfrm>
          <a:prstGeom prst="rect">
            <a:avLst/>
          </a:prstGeom>
        </p:spPr>
        <p:txBody>
          <a:bodyPr anchor="t" rtlCol="false" tIns="0" lIns="0" bIns="0" rIns="0">
            <a:spAutoFit/>
          </a:bodyPr>
          <a:lstStyle/>
          <a:p>
            <a:pPr algn="l">
              <a:lnSpc>
                <a:spcPts val="3451"/>
              </a:lnSpc>
            </a:pPr>
            <a:r>
              <a:rPr lang="en-US" sz="2465">
                <a:solidFill>
                  <a:srgbClr val="FFFFFF"/>
                </a:solidFill>
                <a:latin typeface="Anton"/>
                <a:ea typeface="Anton"/>
                <a:cs typeface="Anton"/>
                <a:sym typeface="Anton"/>
              </a:rPr>
              <a:t>One best practice of cloud security is the principle of least privilege.  It states that you should only grant the necessary permissions  needed by an entity or resource to perform an action.</a:t>
            </a:r>
          </a:p>
          <a:p>
            <a:pPr algn="l">
              <a:lnSpc>
                <a:spcPts val="3451"/>
              </a:lnSpc>
            </a:pPr>
          </a:p>
          <a:p>
            <a:pPr algn="l">
              <a:lnSpc>
                <a:spcPts val="3451"/>
              </a:lnSpc>
            </a:pPr>
            <a:r>
              <a:rPr lang="en-US" sz="2465">
                <a:solidFill>
                  <a:srgbClr val="FFFFFF"/>
                </a:solidFill>
                <a:latin typeface="Anton"/>
                <a:ea typeface="Anton"/>
                <a:cs typeface="Anton"/>
                <a:sym typeface="Anton"/>
              </a:rPr>
              <a:t>It’s more secure to start with a minimum set of permissions and grant additional permissions later on as needed.</a:t>
            </a:r>
          </a:p>
          <a:p>
            <a:pPr algn="l">
              <a:lnSpc>
                <a:spcPts val="3451"/>
              </a:lnSpc>
            </a:pPr>
          </a:p>
          <a:p>
            <a:pPr algn="l">
              <a:lnSpc>
                <a:spcPts val="3451"/>
              </a:lnSpc>
            </a:pPr>
            <a:r>
              <a:rPr lang="en-US" sz="2465">
                <a:solidFill>
                  <a:srgbClr val="FFFFFF"/>
                </a:solidFill>
                <a:latin typeface="Anton"/>
                <a:ea typeface="Anton"/>
                <a:cs typeface="Anton"/>
                <a:sym typeface="Anton"/>
              </a:rPr>
              <a:t>IAM also support Multi-Factor Authentication </a:t>
            </a:r>
            <a:r>
              <a:rPr lang="en-US" sz="2465">
                <a:solidFill>
                  <a:srgbClr val="FDA104"/>
                </a:solidFill>
                <a:latin typeface="Anton"/>
                <a:ea typeface="Anton"/>
                <a:cs typeface="Anton"/>
                <a:sym typeface="Anton"/>
              </a:rPr>
              <a:t>MFA. </a:t>
            </a:r>
            <a:r>
              <a:rPr lang="en-US" sz="2465">
                <a:solidFill>
                  <a:srgbClr val="FFFFFF"/>
                </a:solidFill>
                <a:latin typeface="Anton"/>
                <a:ea typeface="Anton"/>
                <a:cs typeface="Anton"/>
                <a:sym typeface="Anton"/>
              </a:rPr>
              <a:t>MFA is</a:t>
            </a:r>
            <a:r>
              <a:rPr lang="en-US" sz="2465">
                <a:solidFill>
                  <a:srgbClr val="FDA104"/>
                </a:solidFill>
                <a:latin typeface="Anton"/>
                <a:ea typeface="Anton"/>
                <a:cs typeface="Anton"/>
                <a:sym typeface="Anton"/>
              </a:rPr>
              <a:t> </a:t>
            </a:r>
            <a:r>
              <a:rPr lang="en-US" sz="2465">
                <a:solidFill>
                  <a:srgbClr val="FFFFFF"/>
                </a:solidFill>
                <a:latin typeface="Anton"/>
                <a:ea typeface="Anton"/>
                <a:cs typeface="Anton"/>
                <a:sym typeface="Anton"/>
              </a:rPr>
              <a:t> a security process that requires more than just a password to access an account or system. It verifies your identity using at least two different methods, such as a code sent to your phone.</a:t>
            </a:r>
          </a:p>
          <a:p>
            <a:pPr algn="l">
              <a:lnSpc>
                <a:spcPts val="3451"/>
              </a:lnSpc>
            </a:pPr>
          </a:p>
          <a:p>
            <a:pPr algn="l">
              <a:lnSpc>
                <a:spcPts val="3451"/>
              </a:lnSpc>
            </a:pPr>
            <a:r>
              <a:rPr lang="en-US" sz="2465">
                <a:solidFill>
                  <a:srgbClr val="FFFFFF"/>
                </a:solidFill>
                <a:latin typeface="Anton"/>
                <a:ea typeface="Anton"/>
                <a:cs typeface="Anton"/>
                <a:sym typeface="Anton"/>
              </a:rPr>
              <a:t>IF MFA is enabled an IAM user attempts to login they will be prompted for an auth code, This is delivered to an MFA device For example Google Authenticator.</a:t>
            </a:r>
          </a:p>
          <a:p>
            <a:pPr algn="l">
              <a:lnSpc>
                <a:spcPts val="3451"/>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IAM terminologies</a:t>
            </a:r>
          </a:p>
        </p:txBody>
      </p:sp>
      <p:sp>
        <p:nvSpPr>
          <p:cNvPr name="Freeform 15" id="15"/>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247699" y="2413658"/>
            <a:ext cx="14579566" cy="5568137"/>
          </a:xfrm>
          <a:prstGeom prst="rect">
            <a:avLst/>
          </a:prstGeom>
        </p:spPr>
        <p:txBody>
          <a:bodyPr anchor="t" rtlCol="false" tIns="0" lIns="0" bIns="0" rIns="0">
            <a:spAutoFit/>
          </a:bodyPr>
          <a:lstStyle/>
          <a:p>
            <a:pPr algn="l">
              <a:lnSpc>
                <a:spcPts val="4495"/>
              </a:lnSpc>
            </a:pPr>
            <a:r>
              <a:rPr lang="en-US" sz="2469">
                <a:solidFill>
                  <a:srgbClr val="FDA104"/>
                </a:solidFill>
                <a:latin typeface="Antic Bold"/>
                <a:ea typeface="Antic Bold"/>
                <a:cs typeface="Antic Bold"/>
                <a:sym typeface="Antic Bold"/>
              </a:rPr>
              <a:t>IAM User:</a:t>
            </a:r>
            <a:r>
              <a:rPr lang="en-US" sz="2469">
                <a:solidFill>
                  <a:srgbClr val="FFFFFF"/>
                </a:solidFill>
                <a:latin typeface="Antic Bold"/>
                <a:ea typeface="Antic Bold"/>
                <a:cs typeface="Antic Bold"/>
                <a:sym typeface="Antic Bold"/>
              </a:rPr>
              <a:t> A person or application that can authenticate to an AWS account and interact with AWS resources and services. A user is given permanent credentials which stay with the user until a forced rotation occurs.</a:t>
            </a:r>
          </a:p>
          <a:p>
            <a:pPr algn="l">
              <a:lnSpc>
                <a:spcPts val="4495"/>
              </a:lnSpc>
            </a:pPr>
          </a:p>
          <a:p>
            <a:pPr algn="l">
              <a:lnSpc>
                <a:spcPts val="4495"/>
              </a:lnSpc>
            </a:pPr>
            <a:r>
              <a:rPr lang="en-US" sz="2469">
                <a:solidFill>
                  <a:srgbClr val="FDA104"/>
                </a:solidFill>
                <a:latin typeface="Antic Bold"/>
                <a:ea typeface="Antic Bold"/>
                <a:cs typeface="Antic Bold"/>
                <a:sym typeface="Antic Bold"/>
              </a:rPr>
              <a:t>IAM Group:</a:t>
            </a:r>
            <a:r>
              <a:rPr lang="en-US" sz="2469">
                <a:solidFill>
                  <a:srgbClr val="FFFFFF"/>
                </a:solidFill>
                <a:latin typeface="Antic Bold"/>
                <a:ea typeface="Antic Bold"/>
                <a:cs typeface="Antic Bold"/>
                <a:sym typeface="Antic Bold"/>
              </a:rPr>
              <a:t> A collectionof IAM users who share a given set of permissions.</a:t>
            </a:r>
          </a:p>
          <a:p>
            <a:pPr algn="l">
              <a:lnSpc>
                <a:spcPts val="4495"/>
              </a:lnSpc>
            </a:pPr>
          </a:p>
          <a:p>
            <a:pPr algn="l">
              <a:lnSpc>
                <a:spcPts val="4495"/>
              </a:lnSpc>
            </a:pPr>
            <a:r>
              <a:rPr lang="en-US" sz="2469">
                <a:solidFill>
                  <a:srgbClr val="FDA104"/>
                </a:solidFill>
                <a:latin typeface="Antic Bold"/>
                <a:ea typeface="Antic Bold"/>
                <a:cs typeface="Antic Bold"/>
                <a:sym typeface="Antic Bold"/>
              </a:rPr>
              <a:t>IAM Role:</a:t>
            </a:r>
            <a:r>
              <a:rPr lang="en-US" sz="2469">
                <a:solidFill>
                  <a:srgbClr val="FFFFFF"/>
                </a:solidFill>
                <a:latin typeface="Antic Bold"/>
                <a:ea typeface="Antic Bold"/>
                <a:cs typeface="Antic Bold"/>
                <a:sym typeface="Antic Bold"/>
              </a:rPr>
              <a:t> A set of temporary permissions that is granted to AWS resources to perform a given task. You can think of an IAM role as a container for polices.</a:t>
            </a:r>
          </a:p>
          <a:p>
            <a:pPr algn="l">
              <a:lnSpc>
                <a:spcPts val="4495"/>
              </a:lnSpc>
            </a:pPr>
          </a:p>
          <a:p>
            <a:pPr algn="l">
              <a:lnSpc>
                <a:spcPts val="4495"/>
              </a:lnSpc>
              <a:spcBef>
                <a:spcPct val="0"/>
              </a:spcBef>
            </a:pPr>
            <a:r>
              <a:rPr lang="en-US" sz="2469">
                <a:solidFill>
                  <a:srgbClr val="FDA104"/>
                </a:solidFill>
                <a:latin typeface="Antic Bold"/>
                <a:ea typeface="Antic Bold"/>
                <a:cs typeface="Antic Bold"/>
                <a:sym typeface="Antic Bold"/>
              </a:rPr>
              <a:t>IAM Policy: </a:t>
            </a:r>
            <a:r>
              <a:rPr lang="en-US" sz="2469">
                <a:solidFill>
                  <a:srgbClr val="FFFFFF"/>
                </a:solidFill>
                <a:latin typeface="Antic Bold"/>
                <a:ea typeface="Antic Bold"/>
                <a:cs typeface="Antic Bold"/>
                <a:sym typeface="Antic Bold"/>
              </a:rPr>
              <a:t>This a JSON document that defines the rules that determine who can do what within an AWS account. A Policy can be attached to a user, role, group.</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TYPES OF POLICIES</a:t>
            </a:r>
          </a:p>
        </p:txBody>
      </p:sp>
      <p:sp>
        <p:nvSpPr>
          <p:cNvPr name="Freeform 15" id="15"/>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247699" y="2413658"/>
            <a:ext cx="14579566" cy="6130112"/>
          </a:xfrm>
          <a:prstGeom prst="rect">
            <a:avLst/>
          </a:prstGeom>
        </p:spPr>
        <p:txBody>
          <a:bodyPr anchor="t" rtlCol="false" tIns="0" lIns="0" bIns="0" rIns="0">
            <a:spAutoFit/>
          </a:bodyPr>
          <a:lstStyle/>
          <a:p>
            <a:pPr algn="l">
              <a:lnSpc>
                <a:spcPts val="4495"/>
              </a:lnSpc>
            </a:pPr>
            <a:r>
              <a:rPr lang="en-US" sz="2469">
                <a:solidFill>
                  <a:srgbClr val="FDA104"/>
                </a:solidFill>
                <a:latin typeface="Antic Bold"/>
                <a:ea typeface="Antic Bold"/>
                <a:cs typeface="Antic Bold"/>
                <a:sym typeface="Antic Bold"/>
              </a:rPr>
              <a:t>Identity Based Polices:</a:t>
            </a:r>
            <a:r>
              <a:rPr lang="en-US" sz="2469">
                <a:solidFill>
                  <a:srgbClr val="FFFFFF"/>
                </a:solidFill>
                <a:latin typeface="Antic Bold"/>
                <a:ea typeface="Antic Bold"/>
                <a:cs typeface="Antic Bold"/>
                <a:sym typeface="Antic Bold"/>
              </a:rPr>
              <a:t> which are attached to an IAM user, role or group and they indicate what an IAM identity  is allowed to do.</a:t>
            </a:r>
          </a:p>
          <a:p>
            <a:pPr algn="l">
              <a:lnSpc>
                <a:spcPts val="4495"/>
              </a:lnSpc>
            </a:pPr>
          </a:p>
          <a:p>
            <a:pPr algn="l">
              <a:lnSpc>
                <a:spcPts val="4495"/>
              </a:lnSpc>
            </a:pPr>
            <a:r>
              <a:rPr lang="en-US" sz="2469">
                <a:solidFill>
                  <a:srgbClr val="FDA104"/>
                </a:solidFill>
                <a:latin typeface="Antic Bold"/>
                <a:ea typeface="Antic Bold"/>
                <a:cs typeface="Antic Bold"/>
                <a:sym typeface="Antic Bold"/>
              </a:rPr>
              <a:t>Resource Based Policies:</a:t>
            </a:r>
            <a:r>
              <a:rPr lang="en-US" sz="2469">
                <a:solidFill>
                  <a:srgbClr val="FFFFFF"/>
                </a:solidFill>
                <a:latin typeface="Antic Bold"/>
                <a:ea typeface="Antic Bold"/>
                <a:cs typeface="Antic Bold"/>
                <a:sym typeface="Antic Bold"/>
              </a:rPr>
              <a:t> which are attached to a resource i.e an S3 bucket and indicate what a given user is allowed to do within that resource.</a:t>
            </a:r>
          </a:p>
          <a:p>
            <a:pPr algn="l">
              <a:lnSpc>
                <a:spcPts val="4495"/>
              </a:lnSpc>
            </a:pPr>
          </a:p>
          <a:p>
            <a:pPr algn="l">
              <a:lnSpc>
                <a:spcPts val="4495"/>
              </a:lnSpc>
            </a:pPr>
            <a:r>
              <a:rPr lang="en-US" sz="2469">
                <a:solidFill>
                  <a:srgbClr val="FFFFFF"/>
                </a:solidFill>
                <a:latin typeface="Antic Bold"/>
                <a:ea typeface="Antic Bold"/>
                <a:cs typeface="Antic Bold"/>
                <a:sym typeface="Antic Bold"/>
              </a:rPr>
              <a:t>Polices are evaluted whenever a request comes in in the following format shown in the next slide</a:t>
            </a:r>
          </a:p>
          <a:p>
            <a:pPr algn="l">
              <a:lnSpc>
                <a:spcPts val="4495"/>
              </a:lnSpc>
            </a:pPr>
          </a:p>
          <a:p>
            <a:pPr algn="l">
              <a:lnSpc>
                <a:spcPts val="4495"/>
              </a:lnSpc>
            </a:pPr>
          </a:p>
          <a:p>
            <a:pPr algn="l">
              <a:lnSpc>
                <a:spcPts val="4495"/>
              </a:lnSpc>
            </a:pPr>
          </a:p>
          <a:p>
            <a:pPr algn="l">
              <a:lnSpc>
                <a:spcPts val="449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433846" y="1762125"/>
            <a:ext cx="16804985" cy="7496175"/>
          </a:xfrm>
          <a:custGeom>
            <a:avLst/>
            <a:gdLst/>
            <a:ahLst/>
            <a:cxnLst/>
            <a:rect r="r" b="b" t="t" l="l"/>
            <a:pathLst>
              <a:path h="7496175" w="16804985">
                <a:moveTo>
                  <a:pt x="0" y="0"/>
                </a:moveTo>
                <a:lnTo>
                  <a:pt x="16804985" y="0"/>
                </a:lnTo>
                <a:lnTo>
                  <a:pt x="16804985" y="7496175"/>
                </a:lnTo>
                <a:lnTo>
                  <a:pt x="0" y="7496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POLICY EXAMPLE</a:t>
            </a:r>
          </a:p>
        </p:txBody>
      </p:sp>
      <p:sp>
        <p:nvSpPr>
          <p:cNvPr name="TextBox 15" id="15"/>
          <p:cNvSpPr txBox="true"/>
          <p:nvPr/>
        </p:nvSpPr>
        <p:spPr>
          <a:xfrm rot="0">
            <a:off x="674237" y="2021073"/>
            <a:ext cx="15153028" cy="7543294"/>
          </a:xfrm>
          <a:prstGeom prst="rect">
            <a:avLst/>
          </a:prstGeom>
        </p:spPr>
        <p:txBody>
          <a:bodyPr anchor="t" rtlCol="false" tIns="0" lIns="0" bIns="0" rIns="0">
            <a:spAutoFit/>
          </a:bodyPr>
          <a:lstStyle/>
          <a:p>
            <a:pPr algn="l">
              <a:lnSpc>
                <a:spcPts val="4672"/>
              </a:lnSpc>
            </a:pPr>
            <a:r>
              <a:rPr lang="en-US" sz="2567">
                <a:solidFill>
                  <a:srgbClr val="FFFFFF"/>
                </a:solidFill>
                <a:latin typeface="Antic Bold"/>
                <a:ea typeface="Antic Bold"/>
                <a:cs typeface="Antic Bold"/>
                <a:sym typeface="Antic Bold"/>
              </a:rPr>
              <a:t>{</a:t>
            </a:r>
          </a:p>
          <a:p>
            <a:pPr algn="l">
              <a:lnSpc>
                <a:spcPts val="4672"/>
              </a:lnSpc>
            </a:pPr>
            <a:r>
              <a:rPr lang="en-US" sz="2567">
                <a:solidFill>
                  <a:srgbClr val="FFFFFF"/>
                </a:solidFill>
                <a:latin typeface="Antic Bold"/>
                <a:ea typeface="Antic Bold"/>
                <a:cs typeface="Antic Bold"/>
                <a:sym typeface="Antic Bold"/>
              </a:rPr>
              <a:t>  "Version": "2012-10-17",</a:t>
            </a:r>
          </a:p>
          <a:p>
            <a:pPr algn="l">
              <a:lnSpc>
                <a:spcPts val="4672"/>
              </a:lnSpc>
            </a:pPr>
            <a:r>
              <a:rPr lang="en-US" sz="2567">
                <a:solidFill>
                  <a:srgbClr val="FFFFFF"/>
                </a:solidFill>
                <a:latin typeface="Antic Bold"/>
                <a:ea typeface="Antic Bold"/>
                <a:cs typeface="Antic Bold"/>
                <a:sym typeface="Antic Bold"/>
              </a:rPr>
              <a:t>  "Statement": [</a:t>
            </a:r>
          </a:p>
          <a:p>
            <a:pPr algn="l">
              <a:lnSpc>
                <a:spcPts val="4672"/>
              </a:lnSpc>
            </a:pPr>
            <a:r>
              <a:rPr lang="en-US" sz="2567">
                <a:solidFill>
                  <a:srgbClr val="FFFFFF"/>
                </a:solidFill>
                <a:latin typeface="Antic Bold"/>
                <a:ea typeface="Antic Bold"/>
                <a:cs typeface="Antic Bold"/>
                <a:sym typeface="Antic Bold"/>
              </a:rPr>
              <a:t>    {</a:t>
            </a:r>
          </a:p>
          <a:p>
            <a:pPr algn="l">
              <a:lnSpc>
                <a:spcPts val="4672"/>
              </a:lnSpc>
            </a:pPr>
            <a:r>
              <a:rPr lang="en-US" sz="2567">
                <a:solidFill>
                  <a:srgbClr val="FFFFFF"/>
                </a:solidFill>
                <a:latin typeface="Antic Bold"/>
                <a:ea typeface="Antic Bold"/>
                <a:cs typeface="Antic Bold"/>
                <a:sym typeface="Antic Bold"/>
              </a:rPr>
              <a:t>      "Sid": "AllowS3ReadAccess",</a:t>
            </a:r>
          </a:p>
          <a:p>
            <a:pPr algn="l">
              <a:lnSpc>
                <a:spcPts val="4672"/>
              </a:lnSpc>
            </a:pPr>
            <a:r>
              <a:rPr lang="en-US" sz="2567">
                <a:solidFill>
                  <a:srgbClr val="FFFFFF"/>
                </a:solidFill>
                <a:latin typeface="Antic Bold"/>
                <a:ea typeface="Antic Bold"/>
                <a:cs typeface="Antic Bold"/>
                <a:sym typeface="Antic Bold"/>
              </a:rPr>
              <a:t>      "Effect": "Allow",</a:t>
            </a:r>
          </a:p>
          <a:p>
            <a:pPr algn="l">
              <a:lnSpc>
                <a:spcPts val="4672"/>
              </a:lnSpc>
            </a:pPr>
            <a:r>
              <a:rPr lang="en-US" sz="2567">
                <a:solidFill>
                  <a:srgbClr val="FFFFFF"/>
                </a:solidFill>
                <a:latin typeface="Antic Bold"/>
                <a:ea typeface="Antic Bold"/>
                <a:cs typeface="Antic Bold"/>
                <a:sym typeface="Antic Bold"/>
              </a:rPr>
              <a:t>      "Action": [</a:t>
            </a:r>
          </a:p>
          <a:p>
            <a:pPr algn="l">
              <a:lnSpc>
                <a:spcPts val="4672"/>
              </a:lnSpc>
            </a:pPr>
            <a:r>
              <a:rPr lang="en-US" sz="2567">
                <a:solidFill>
                  <a:srgbClr val="FFFFFF"/>
                </a:solidFill>
                <a:latin typeface="Antic Bold"/>
                <a:ea typeface="Antic Bold"/>
                <a:cs typeface="Antic Bold"/>
                <a:sym typeface="Antic Bold"/>
              </a:rPr>
              <a:t>        "s3:GetObject",</a:t>
            </a:r>
          </a:p>
          <a:p>
            <a:pPr algn="l">
              <a:lnSpc>
                <a:spcPts val="4672"/>
              </a:lnSpc>
            </a:pPr>
            <a:r>
              <a:rPr lang="en-US" sz="2567">
                <a:solidFill>
                  <a:srgbClr val="FFFFFF"/>
                </a:solidFill>
                <a:latin typeface="Antic Bold"/>
                <a:ea typeface="Antic Bold"/>
                <a:cs typeface="Antic Bold"/>
                <a:sym typeface="Antic Bold"/>
              </a:rPr>
              <a:t>        "s3:ListBucket"</a:t>
            </a:r>
          </a:p>
          <a:p>
            <a:pPr algn="l">
              <a:lnSpc>
                <a:spcPts val="4672"/>
              </a:lnSpc>
            </a:pPr>
            <a:r>
              <a:rPr lang="en-US" sz="2567">
                <a:solidFill>
                  <a:srgbClr val="FFFFFF"/>
                </a:solidFill>
                <a:latin typeface="Antic Bold"/>
                <a:ea typeface="Antic Bold"/>
                <a:cs typeface="Antic Bold"/>
                <a:sym typeface="Antic Bold"/>
              </a:rPr>
              <a:t>      ],</a:t>
            </a:r>
          </a:p>
          <a:p>
            <a:pPr algn="l">
              <a:lnSpc>
                <a:spcPts val="4672"/>
              </a:lnSpc>
            </a:pPr>
            <a:r>
              <a:rPr lang="en-US" sz="2567">
                <a:solidFill>
                  <a:srgbClr val="FFFFFF"/>
                </a:solidFill>
                <a:latin typeface="Antic Bold"/>
                <a:ea typeface="Antic Bold"/>
                <a:cs typeface="Antic Bold"/>
                <a:sym typeface="Antic Bold"/>
              </a:rPr>
              <a:t>      "Resource": "arn:aws:s3:::my-example-bucket/*"</a:t>
            </a:r>
          </a:p>
          <a:p>
            <a:pPr algn="l">
              <a:lnSpc>
                <a:spcPts val="4672"/>
              </a:lnSpc>
            </a:pPr>
            <a:r>
              <a:rPr lang="en-US" sz="2567">
                <a:solidFill>
                  <a:srgbClr val="FFFFFF"/>
                </a:solidFill>
                <a:latin typeface="Antic Bold"/>
                <a:ea typeface="Antic Bold"/>
                <a:cs typeface="Antic Bold"/>
                <a:sym typeface="Antic Bold"/>
              </a:rPr>
              <a:t>    } ] }</a:t>
            </a:r>
          </a:p>
          <a:p>
            <a:pPr algn="l">
              <a:lnSpc>
                <a:spcPts val="4672"/>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2401016" y="439118"/>
            <a:ext cx="8470238" cy="7699743"/>
          </a:xfrm>
          <a:custGeom>
            <a:avLst/>
            <a:gdLst/>
            <a:ahLst/>
            <a:cxnLst/>
            <a:rect r="r" b="b" t="t" l="l"/>
            <a:pathLst>
              <a:path h="7699743" w="8470238">
                <a:moveTo>
                  <a:pt x="0" y="0"/>
                </a:moveTo>
                <a:lnTo>
                  <a:pt x="8470237" y="0"/>
                </a:lnTo>
                <a:lnTo>
                  <a:pt x="8470237" y="7699743"/>
                </a:lnTo>
                <a:lnTo>
                  <a:pt x="0" y="7699743"/>
                </a:lnTo>
                <a:lnTo>
                  <a:pt x="0" y="0"/>
                </a:lnTo>
                <a:close/>
              </a:path>
            </a:pathLst>
          </a:custGeom>
          <a:blipFill>
            <a:blip r:embed="rId2"/>
            <a:stretch>
              <a:fillRect l="-2317" t="-18182" r="0" b="-239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1491015"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75228" y="-6376749"/>
            <a:ext cx="8266243" cy="8266243"/>
          </a:xfrm>
          <a:custGeom>
            <a:avLst/>
            <a:gdLst/>
            <a:ahLst/>
            <a:cxnLst/>
            <a:rect r="r" b="b" t="t" l="l"/>
            <a:pathLst>
              <a:path h="8266243" w="8266243">
                <a:moveTo>
                  <a:pt x="0" y="0"/>
                </a:moveTo>
                <a:lnTo>
                  <a:pt x="8266242" y="0"/>
                </a:lnTo>
                <a:lnTo>
                  <a:pt x="8266242"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1470"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6946" y="2246728"/>
            <a:ext cx="2315166" cy="3492046"/>
          </a:xfrm>
          <a:custGeom>
            <a:avLst/>
            <a:gdLst/>
            <a:ahLst/>
            <a:cxnLst/>
            <a:rect r="r" b="b" t="t" l="l"/>
            <a:pathLst>
              <a:path h="3492046" w="2315166">
                <a:moveTo>
                  <a:pt x="0" y="0"/>
                </a:moveTo>
                <a:lnTo>
                  <a:pt x="2315165" y="0"/>
                </a:lnTo>
                <a:lnTo>
                  <a:pt x="2315165" y="3492046"/>
                </a:lnTo>
                <a:lnTo>
                  <a:pt x="0" y="3492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4071" y="2373278"/>
            <a:ext cx="1980905" cy="2477110"/>
          </a:xfrm>
          <a:prstGeom prst="rect">
            <a:avLst/>
          </a:prstGeom>
        </p:spPr>
        <p:txBody>
          <a:bodyPr anchor="t" rtlCol="false" tIns="0" lIns="0" bIns="0" rIns="0">
            <a:spAutoFit/>
          </a:bodyPr>
          <a:lstStyle/>
          <a:p>
            <a:pPr algn="ctr">
              <a:lnSpc>
                <a:spcPts val="9939"/>
              </a:lnSpc>
            </a:pPr>
            <a:r>
              <a:rPr lang="en-US" sz="7098">
                <a:solidFill>
                  <a:srgbClr val="000000"/>
                </a:solidFill>
                <a:latin typeface="Gagalin"/>
                <a:ea typeface="Gagalin"/>
                <a:cs typeface="Gagalin"/>
                <a:sym typeface="Gagalin"/>
              </a:rPr>
              <a:t>week</a:t>
            </a:r>
          </a:p>
          <a:p>
            <a:pPr algn="ctr">
              <a:lnSpc>
                <a:spcPts val="9939"/>
              </a:lnSpc>
            </a:pPr>
            <a:r>
              <a:rPr lang="en-US" sz="7098">
                <a:solidFill>
                  <a:srgbClr val="000000"/>
                </a:solidFill>
                <a:latin typeface="Gagalin"/>
                <a:ea typeface="Gagalin"/>
                <a:cs typeface="Gagalin"/>
                <a:sym typeface="Gagalin"/>
              </a:rPr>
              <a:t>4</a:t>
            </a:r>
          </a:p>
        </p:txBody>
      </p:sp>
      <p:sp>
        <p:nvSpPr>
          <p:cNvPr name="Freeform 7" id="7"/>
          <p:cNvSpPr/>
          <p:nvPr/>
        </p:nvSpPr>
        <p:spPr>
          <a:xfrm flipH="false" flipV="false" rot="0">
            <a:off x="2642111" y="4285412"/>
            <a:ext cx="15162552" cy="3611442"/>
          </a:xfrm>
          <a:custGeom>
            <a:avLst/>
            <a:gdLst/>
            <a:ahLst/>
            <a:cxnLst/>
            <a:rect r="r" b="b" t="t" l="l"/>
            <a:pathLst>
              <a:path h="3611442" w="15162552">
                <a:moveTo>
                  <a:pt x="0" y="0"/>
                </a:moveTo>
                <a:lnTo>
                  <a:pt x="15162552" y="0"/>
                </a:lnTo>
                <a:lnTo>
                  <a:pt x="15162552" y="3611442"/>
                </a:lnTo>
                <a:lnTo>
                  <a:pt x="0" y="3611442"/>
                </a:lnTo>
                <a:lnTo>
                  <a:pt x="0" y="0"/>
                </a:lnTo>
                <a:close/>
              </a:path>
            </a:pathLst>
          </a:custGeom>
          <a:blipFill>
            <a:blip r:embed="rId6">
              <a:extLst>
                <a:ext uri="{96DAC541-7B7A-43D3-8B79-37D633B846F1}">
                  <asvg:svgBlip xmlns:asvg="http://schemas.microsoft.com/office/drawing/2016/SVG/main" r:embed="rId7"/>
                </a:ext>
              </a:extLst>
            </a:blip>
            <a:stretch>
              <a:fillRect l="-80" t="0" r="-80" b="0"/>
            </a:stretch>
          </a:blipFill>
        </p:spPr>
      </p:sp>
      <p:sp>
        <p:nvSpPr>
          <p:cNvPr name="TextBox 8" id="8"/>
          <p:cNvSpPr txBox="true"/>
          <p:nvPr/>
        </p:nvSpPr>
        <p:spPr>
          <a:xfrm rot="0">
            <a:off x="3839251" y="2079527"/>
            <a:ext cx="12768272" cy="5346611"/>
          </a:xfrm>
          <a:prstGeom prst="rect">
            <a:avLst/>
          </a:prstGeom>
        </p:spPr>
        <p:txBody>
          <a:bodyPr anchor="t" rtlCol="false" tIns="0" lIns="0" bIns="0" rIns="0">
            <a:spAutoFit/>
          </a:bodyPr>
          <a:lstStyle/>
          <a:p>
            <a:pPr algn="ctr">
              <a:lnSpc>
                <a:spcPts val="20300"/>
              </a:lnSpc>
            </a:pPr>
            <a:r>
              <a:rPr lang="en-US" sz="14500">
                <a:solidFill>
                  <a:srgbClr val="FDA104"/>
                </a:solidFill>
                <a:latin typeface="Gagalin"/>
                <a:ea typeface="Gagalin"/>
                <a:cs typeface="Gagalin"/>
                <a:sym typeface="Gagalin"/>
              </a:rPr>
              <a:t>Any</a:t>
            </a:r>
          </a:p>
          <a:p>
            <a:pPr algn="ctr">
              <a:lnSpc>
                <a:spcPts val="20300"/>
              </a:lnSpc>
            </a:pPr>
            <a:r>
              <a:rPr lang="en-US" sz="14500">
                <a:solidFill>
                  <a:srgbClr val="FFFFFF"/>
                </a:solidFill>
                <a:latin typeface="Gagalin"/>
                <a:ea typeface="Gagalin"/>
                <a:cs typeface="Gagalin"/>
                <a:sym typeface="Gagalin"/>
              </a:rPr>
              <a:t>questions??</a:t>
            </a:r>
          </a:p>
        </p:txBody>
      </p:sp>
      <p:sp>
        <p:nvSpPr>
          <p:cNvPr name="TextBox 9" id="9"/>
          <p:cNvSpPr txBox="true"/>
          <p:nvPr/>
        </p:nvSpPr>
        <p:spPr>
          <a:xfrm rot="0">
            <a:off x="623306" y="5538740"/>
            <a:ext cx="2018805" cy="2034035"/>
          </a:xfrm>
          <a:prstGeom prst="rect">
            <a:avLst/>
          </a:prstGeom>
        </p:spPr>
        <p:txBody>
          <a:bodyPr anchor="t" rtlCol="false" tIns="0" lIns="0" bIns="0" rIns="0">
            <a:spAutoFit/>
          </a:bodyPr>
          <a:lstStyle/>
          <a:p>
            <a:pPr algn="ctr">
              <a:lnSpc>
                <a:spcPts val="7811"/>
              </a:lnSpc>
            </a:pPr>
            <a:r>
              <a:rPr lang="en-US" sz="5578">
                <a:solidFill>
                  <a:srgbClr val="FFFFFF"/>
                </a:solidFill>
                <a:latin typeface="Gagalin"/>
                <a:ea typeface="Gagalin"/>
                <a:cs typeface="Gagalin"/>
                <a:sym typeface="Gagalin"/>
              </a:rPr>
              <a:t>CLOUD </a:t>
            </a:r>
          </a:p>
          <a:p>
            <a:pPr algn="ctr">
              <a:lnSpc>
                <a:spcPts val="7811"/>
              </a:lnSpc>
            </a:pPr>
          </a:p>
        </p:txBody>
      </p:sp>
      <p:sp>
        <p:nvSpPr>
          <p:cNvPr name="TextBox 10" id="10"/>
          <p:cNvSpPr txBox="true"/>
          <p:nvPr/>
        </p:nvSpPr>
        <p:spPr>
          <a:xfrm rot="0">
            <a:off x="604256" y="6382045"/>
            <a:ext cx="1825371" cy="2034026"/>
          </a:xfrm>
          <a:prstGeom prst="rect">
            <a:avLst/>
          </a:prstGeom>
        </p:spPr>
        <p:txBody>
          <a:bodyPr anchor="t" rtlCol="false" tIns="0" lIns="0" bIns="0" rIns="0">
            <a:spAutoFit/>
          </a:bodyPr>
          <a:lstStyle/>
          <a:p>
            <a:pPr algn="ctr">
              <a:lnSpc>
                <a:spcPts val="7811"/>
              </a:lnSpc>
            </a:pPr>
            <a:r>
              <a:rPr lang="en-US" sz="5578">
                <a:solidFill>
                  <a:srgbClr val="FDA104"/>
                </a:solidFill>
                <a:latin typeface="Gagalin"/>
                <a:ea typeface="Gagalin"/>
                <a:cs typeface="Gagalin"/>
                <a:sym typeface="Gagalin"/>
              </a:rPr>
              <a:t>FORGE</a:t>
            </a:r>
          </a:p>
          <a:p>
            <a:pPr algn="ctr">
              <a:lnSpc>
                <a:spcPts val="7811"/>
              </a:lnSpc>
            </a:pPr>
          </a:p>
        </p:txBody>
      </p:sp>
      <p:sp>
        <p:nvSpPr>
          <p:cNvPr name="TextBox 11" id="11"/>
          <p:cNvSpPr txBox="true"/>
          <p:nvPr/>
        </p:nvSpPr>
        <p:spPr>
          <a:xfrm rot="0">
            <a:off x="-1002992" y="-100012"/>
            <a:ext cx="8884891" cy="580711"/>
          </a:xfrm>
          <a:prstGeom prst="rect">
            <a:avLst/>
          </a:prstGeom>
        </p:spPr>
        <p:txBody>
          <a:bodyPr anchor="t" rtlCol="false" tIns="0" lIns="0" bIns="0" rIns="0">
            <a:spAutoFit/>
          </a:bodyPr>
          <a:lstStyle/>
          <a:p>
            <a:pPr algn="ctr">
              <a:lnSpc>
                <a:spcPts val="4480"/>
              </a:lnSpc>
            </a:pPr>
            <a:r>
              <a:rPr lang="en-US" sz="3200" b="true">
                <a:solidFill>
                  <a:srgbClr val="FDA104"/>
                </a:solidFill>
                <a:latin typeface="Inter Bold"/>
                <a:ea typeface="Inter Bold"/>
                <a:cs typeface="Inter Bold"/>
                <a:sym typeface="Inter Bold"/>
              </a:rPr>
              <a:t>AWS STUDENT BUILDER GROUP</a:t>
            </a:r>
          </a:p>
        </p:txBody>
      </p:sp>
      <p:sp>
        <p:nvSpPr>
          <p:cNvPr name="TextBox 12" id="12"/>
          <p:cNvSpPr txBox="true"/>
          <p:nvPr/>
        </p:nvSpPr>
        <p:spPr>
          <a:xfrm rot="0">
            <a:off x="921458" y="413861"/>
            <a:ext cx="5667785" cy="424967"/>
          </a:xfrm>
          <a:prstGeom prst="rect">
            <a:avLst/>
          </a:prstGeom>
        </p:spPr>
        <p:txBody>
          <a:bodyPr anchor="t" rtlCol="false" tIns="0" lIns="0" bIns="0" rIns="0">
            <a:spAutoFit/>
          </a:bodyPr>
          <a:lstStyle/>
          <a:p>
            <a:pPr algn="ctr">
              <a:lnSpc>
                <a:spcPts val="3220"/>
              </a:lnSpc>
            </a:pPr>
            <a:r>
              <a:rPr lang="en-US" sz="2300" i="true">
                <a:solidFill>
                  <a:srgbClr val="FDA104"/>
                </a:solidFill>
                <a:latin typeface="Inter Italics"/>
                <a:ea typeface="Inter Italics"/>
                <a:cs typeface="Inter Italics"/>
                <a:sym typeface="Inter Italics"/>
              </a:rPr>
              <a:t>EGERTON UNIVERSITY</a:t>
            </a:r>
          </a:p>
        </p:txBody>
      </p:sp>
      <p:sp>
        <p:nvSpPr>
          <p:cNvPr name="TextBox 13" id="13"/>
          <p:cNvSpPr txBox="true"/>
          <p:nvPr/>
        </p:nvSpPr>
        <p:spPr>
          <a:xfrm rot="0">
            <a:off x="14360119" y="9201150"/>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3349998" y="9181176"/>
            <a:ext cx="1514773"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4th July</a:t>
            </a:r>
            <a:r>
              <a:rPr lang="en-US" sz="2200">
                <a:solidFill>
                  <a:srgbClr val="4D4D4D"/>
                </a:solidFill>
                <a:latin typeface="Anton"/>
                <a:ea typeface="Anton"/>
                <a:cs typeface="Anton"/>
                <a:sym typeface="Anton"/>
              </a:rPr>
              <a:t> 2026</a:t>
            </a:r>
          </a:p>
        </p:txBody>
      </p:sp>
      <p:sp>
        <p:nvSpPr>
          <p:cNvPr name="TextBox 15" id="15"/>
          <p:cNvSpPr txBox="true"/>
          <p:nvPr/>
        </p:nvSpPr>
        <p:spPr>
          <a:xfrm rot="0">
            <a:off x="0" y="9201150"/>
            <a:ext cx="2429627"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Ephy Kimotho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DAHObnRPR6o</dc:identifier>
  <dcterms:modified xsi:type="dcterms:W3CDTF">2011-08-01T06:04:30Z</dcterms:modified>
  <cp:revision>1</cp:revision>
  <dc:title>Week 4 part 2 Cloud security</dc:title>
</cp:coreProperties>
</file>