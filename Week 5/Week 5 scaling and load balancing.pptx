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agalin" charset="1" panose="00000500000000000000"/>
      <p:regular r:id="rId19"/>
    </p:embeddedFont>
    <p:embeddedFont>
      <p:font typeface="Inter Bold" charset="1" panose="02000503000000020004"/>
      <p:regular r:id="rId20"/>
    </p:embeddedFont>
    <p:embeddedFont>
      <p:font typeface="Inter Italics" charset="1" panose="02000503000000020004"/>
      <p:regular r:id="rId21"/>
    </p:embeddedFont>
    <p:embeddedFont>
      <p:font typeface="Anton" charset="1" panose="00000500000000000000"/>
      <p:regular r:id="rId22"/>
    </p:embeddedFont>
    <p:embeddedFont>
      <p:font typeface="Antic" charset="1" panose="00000000000000000000"/>
      <p:regular r:id="rId23"/>
    </p:embeddedFont>
    <p:embeddedFont>
      <p:font typeface="Sigher" charset="1" panose="00000000000000000000"/>
      <p:regular r:id="rId24"/>
    </p:embeddedFont>
    <p:embeddedFont>
      <p:font typeface="Antic Bold" charset="1" panose="000000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18.png" Type="http://schemas.openxmlformats.org/officeDocument/2006/relationships/image"/><Relationship Id="rId14" Target="../media/image19.svg" Type="http://schemas.openxmlformats.org/officeDocument/2006/relationships/image"/><Relationship Id="rId2" Target="../media/image7.jpe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 Id="rId5" Target="../media/image10.png" Type="http://schemas.openxmlformats.org/officeDocument/2006/relationships/image"/><Relationship Id="rId6" Target="../media/image11.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0.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1491015"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75228" y="-6376749"/>
            <a:ext cx="8266243" cy="8266243"/>
          </a:xfrm>
          <a:custGeom>
            <a:avLst/>
            <a:gdLst/>
            <a:ahLst/>
            <a:cxnLst/>
            <a:rect r="r" b="b" t="t" l="l"/>
            <a:pathLst>
              <a:path h="8266243" w="8266243">
                <a:moveTo>
                  <a:pt x="0" y="0"/>
                </a:moveTo>
                <a:lnTo>
                  <a:pt x="8266242" y="0"/>
                </a:lnTo>
                <a:lnTo>
                  <a:pt x="8266242"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1470"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6946" y="2246728"/>
            <a:ext cx="2315166" cy="3492046"/>
          </a:xfrm>
          <a:custGeom>
            <a:avLst/>
            <a:gdLst/>
            <a:ahLst/>
            <a:cxnLst/>
            <a:rect r="r" b="b" t="t" l="l"/>
            <a:pathLst>
              <a:path h="3492046" w="2315166">
                <a:moveTo>
                  <a:pt x="0" y="0"/>
                </a:moveTo>
                <a:lnTo>
                  <a:pt x="2315165" y="0"/>
                </a:lnTo>
                <a:lnTo>
                  <a:pt x="2315165" y="3492046"/>
                </a:lnTo>
                <a:lnTo>
                  <a:pt x="0" y="3492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4071" y="2373278"/>
            <a:ext cx="1980905" cy="2477110"/>
          </a:xfrm>
          <a:prstGeom prst="rect">
            <a:avLst/>
          </a:prstGeom>
        </p:spPr>
        <p:txBody>
          <a:bodyPr anchor="t" rtlCol="false" tIns="0" lIns="0" bIns="0" rIns="0">
            <a:spAutoFit/>
          </a:bodyPr>
          <a:lstStyle/>
          <a:p>
            <a:pPr algn="ctr">
              <a:lnSpc>
                <a:spcPts val="9939"/>
              </a:lnSpc>
            </a:pPr>
            <a:r>
              <a:rPr lang="en-US" sz="7098">
                <a:solidFill>
                  <a:srgbClr val="000000"/>
                </a:solidFill>
                <a:latin typeface="Gagalin"/>
                <a:ea typeface="Gagalin"/>
                <a:cs typeface="Gagalin"/>
                <a:sym typeface="Gagalin"/>
              </a:rPr>
              <a:t>week</a:t>
            </a:r>
          </a:p>
          <a:p>
            <a:pPr algn="ctr">
              <a:lnSpc>
                <a:spcPts val="9939"/>
              </a:lnSpc>
            </a:pPr>
            <a:r>
              <a:rPr lang="en-US" sz="7098">
                <a:solidFill>
                  <a:srgbClr val="000000"/>
                </a:solidFill>
                <a:latin typeface="Gagalin"/>
                <a:ea typeface="Gagalin"/>
                <a:cs typeface="Gagalin"/>
                <a:sym typeface="Gagalin"/>
              </a:rPr>
              <a:t>5</a:t>
            </a:r>
          </a:p>
        </p:txBody>
      </p:sp>
      <p:sp>
        <p:nvSpPr>
          <p:cNvPr name="Freeform 7" id="7"/>
          <p:cNvSpPr/>
          <p:nvPr/>
        </p:nvSpPr>
        <p:spPr>
          <a:xfrm flipH="false" flipV="false" rot="0">
            <a:off x="2642111" y="3992751"/>
            <a:ext cx="15162552" cy="3611442"/>
          </a:xfrm>
          <a:custGeom>
            <a:avLst/>
            <a:gdLst/>
            <a:ahLst/>
            <a:cxnLst/>
            <a:rect r="r" b="b" t="t" l="l"/>
            <a:pathLst>
              <a:path h="3611442" w="15162552">
                <a:moveTo>
                  <a:pt x="0" y="0"/>
                </a:moveTo>
                <a:lnTo>
                  <a:pt x="15162552" y="0"/>
                </a:lnTo>
                <a:lnTo>
                  <a:pt x="15162552" y="3611442"/>
                </a:lnTo>
                <a:lnTo>
                  <a:pt x="0" y="3611442"/>
                </a:lnTo>
                <a:lnTo>
                  <a:pt x="0" y="0"/>
                </a:lnTo>
                <a:close/>
              </a:path>
            </a:pathLst>
          </a:custGeom>
          <a:blipFill>
            <a:blip r:embed="rId6">
              <a:extLst>
                <a:ext uri="{96DAC541-7B7A-43D3-8B79-37D633B846F1}">
                  <asvg:svgBlip xmlns:asvg="http://schemas.microsoft.com/office/drawing/2016/SVG/main" r:embed="rId7"/>
                </a:ext>
              </a:extLst>
            </a:blip>
            <a:stretch>
              <a:fillRect l="-80" t="0" r="-80" b="0"/>
            </a:stretch>
          </a:blipFill>
        </p:spPr>
      </p:sp>
      <p:sp>
        <p:nvSpPr>
          <p:cNvPr name="TextBox 8" id="8"/>
          <p:cNvSpPr txBox="true"/>
          <p:nvPr/>
        </p:nvSpPr>
        <p:spPr>
          <a:xfrm rot="0">
            <a:off x="3887772" y="1848860"/>
            <a:ext cx="12768272" cy="5060950"/>
          </a:xfrm>
          <a:prstGeom prst="rect">
            <a:avLst/>
          </a:prstGeom>
        </p:spPr>
        <p:txBody>
          <a:bodyPr anchor="t" rtlCol="false" tIns="0" lIns="0" bIns="0" rIns="0">
            <a:spAutoFit/>
          </a:bodyPr>
          <a:lstStyle/>
          <a:p>
            <a:pPr algn="ctr">
              <a:lnSpc>
                <a:spcPts val="20300"/>
              </a:lnSpc>
            </a:pPr>
            <a:r>
              <a:rPr lang="en-US" sz="14500">
                <a:solidFill>
                  <a:srgbClr val="FDA104"/>
                </a:solidFill>
                <a:latin typeface="Gagalin"/>
                <a:ea typeface="Gagalin"/>
                <a:cs typeface="Gagalin"/>
                <a:sym typeface="Gagalin"/>
              </a:rPr>
              <a:t>CLOUD SCALING </a:t>
            </a:r>
          </a:p>
          <a:p>
            <a:pPr algn="ctr">
              <a:lnSpc>
                <a:spcPts val="20300"/>
              </a:lnSpc>
            </a:pPr>
            <a:r>
              <a:rPr lang="en-US" sz="14500">
                <a:solidFill>
                  <a:srgbClr val="FFFFFF"/>
                </a:solidFill>
                <a:latin typeface="Gagalin"/>
                <a:ea typeface="Gagalin"/>
                <a:cs typeface="Gagalin"/>
                <a:sym typeface="Gagalin"/>
              </a:rPr>
              <a:t>AWS ELB</a:t>
            </a:r>
          </a:p>
        </p:txBody>
      </p:sp>
      <p:sp>
        <p:nvSpPr>
          <p:cNvPr name="TextBox 9" id="9"/>
          <p:cNvSpPr txBox="true"/>
          <p:nvPr/>
        </p:nvSpPr>
        <p:spPr>
          <a:xfrm rot="0">
            <a:off x="623306" y="5538740"/>
            <a:ext cx="2018805" cy="2034035"/>
          </a:xfrm>
          <a:prstGeom prst="rect">
            <a:avLst/>
          </a:prstGeom>
        </p:spPr>
        <p:txBody>
          <a:bodyPr anchor="t" rtlCol="false" tIns="0" lIns="0" bIns="0" rIns="0">
            <a:spAutoFit/>
          </a:bodyPr>
          <a:lstStyle/>
          <a:p>
            <a:pPr algn="ctr">
              <a:lnSpc>
                <a:spcPts val="7811"/>
              </a:lnSpc>
            </a:pPr>
            <a:r>
              <a:rPr lang="en-US" sz="5578">
                <a:solidFill>
                  <a:srgbClr val="FFFFFF"/>
                </a:solidFill>
                <a:latin typeface="Gagalin"/>
                <a:ea typeface="Gagalin"/>
                <a:cs typeface="Gagalin"/>
                <a:sym typeface="Gagalin"/>
              </a:rPr>
              <a:t>CLOUD </a:t>
            </a:r>
          </a:p>
          <a:p>
            <a:pPr algn="ctr">
              <a:lnSpc>
                <a:spcPts val="7811"/>
              </a:lnSpc>
            </a:pPr>
          </a:p>
        </p:txBody>
      </p:sp>
      <p:sp>
        <p:nvSpPr>
          <p:cNvPr name="TextBox 10" id="10"/>
          <p:cNvSpPr txBox="true"/>
          <p:nvPr/>
        </p:nvSpPr>
        <p:spPr>
          <a:xfrm rot="0">
            <a:off x="604256" y="6382045"/>
            <a:ext cx="1825371" cy="2034026"/>
          </a:xfrm>
          <a:prstGeom prst="rect">
            <a:avLst/>
          </a:prstGeom>
        </p:spPr>
        <p:txBody>
          <a:bodyPr anchor="t" rtlCol="false" tIns="0" lIns="0" bIns="0" rIns="0">
            <a:spAutoFit/>
          </a:bodyPr>
          <a:lstStyle/>
          <a:p>
            <a:pPr algn="ctr">
              <a:lnSpc>
                <a:spcPts val="7811"/>
              </a:lnSpc>
            </a:pPr>
            <a:r>
              <a:rPr lang="en-US" sz="5578">
                <a:solidFill>
                  <a:srgbClr val="FDA104"/>
                </a:solidFill>
                <a:latin typeface="Gagalin"/>
                <a:ea typeface="Gagalin"/>
                <a:cs typeface="Gagalin"/>
                <a:sym typeface="Gagalin"/>
              </a:rPr>
              <a:t>FORGE</a:t>
            </a:r>
          </a:p>
          <a:p>
            <a:pPr algn="ctr">
              <a:lnSpc>
                <a:spcPts val="7811"/>
              </a:lnSpc>
            </a:pPr>
          </a:p>
        </p:txBody>
      </p:sp>
      <p:sp>
        <p:nvSpPr>
          <p:cNvPr name="TextBox 11" id="11"/>
          <p:cNvSpPr txBox="true"/>
          <p:nvPr/>
        </p:nvSpPr>
        <p:spPr>
          <a:xfrm rot="0">
            <a:off x="-1002992" y="-100012"/>
            <a:ext cx="8884891" cy="580711"/>
          </a:xfrm>
          <a:prstGeom prst="rect">
            <a:avLst/>
          </a:prstGeom>
        </p:spPr>
        <p:txBody>
          <a:bodyPr anchor="t" rtlCol="false" tIns="0" lIns="0" bIns="0" rIns="0">
            <a:spAutoFit/>
          </a:bodyPr>
          <a:lstStyle/>
          <a:p>
            <a:pPr algn="ctr">
              <a:lnSpc>
                <a:spcPts val="4480"/>
              </a:lnSpc>
            </a:pPr>
            <a:r>
              <a:rPr lang="en-US" sz="3200" b="true">
                <a:solidFill>
                  <a:srgbClr val="FDA104"/>
                </a:solidFill>
                <a:latin typeface="Inter Bold"/>
                <a:ea typeface="Inter Bold"/>
                <a:cs typeface="Inter Bold"/>
                <a:sym typeface="Inter Bold"/>
              </a:rPr>
              <a:t>AWS STUDENT BUILDER GROUP</a:t>
            </a:r>
          </a:p>
        </p:txBody>
      </p:sp>
      <p:sp>
        <p:nvSpPr>
          <p:cNvPr name="TextBox 12" id="12"/>
          <p:cNvSpPr txBox="true"/>
          <p:nvPr/>
        </p:nvSpPr>
        <p:spPr>
          <a:xfrm rot="0">
            <a:off x="921458" y="413861"/>
            <a:ext cx="5667785" cy="424967"/>
          </a:xfrm>
          <a:prstGeom prst="rect">
            <a:avLst/>
          </a:prstGeom>
        </p:spPr>
        <p:txBody>
          <a:bodyPr anchor="t" rtlCol="false" tIns="0" lIns="0" bIns="0" rIns="0">
            <a:spAutoFit/>
          </a:bodyPr>
          <a:lstStyle/>
          <a:p>
            <a:pPr algn="ctr">
              <a:lnSpc>
                <a:spcPts val="3220"/>
              </a:lnSpc>
            </a:pPr>
            <a:r>
              <a:rPr lang="en-US" sz="2300" i="true">
                <a:solidFill>
                  <a:srgbClr val="FDA104"/>
                </a:solidFill>
                <a:latin typeface="Inter Italics"/>
                <a:ea typeface="Inter Italics"/>
                <a:cs typeface="Inter Italics"/>
                <a:sym typeface="Inter Italics"/>
              </a:rPr>
              <a:t>EGERTON UNIVERSITY</a:t>
            </a:r>
          </a:p>
        </p:txBody>
      </p:sp>
      <p:sp>
        <p:nvSpPr>
          <p:cNvPr name="TextBox 13" id="13"/>
          <p:cNvSpPr txBox="true"/>
          <p:nvPr/>
        </p:nvSpPr>
        <p:spPr>
          <a:xfrm rot="0">
            <a:off x="1991058" y="876300"/>
            <a:ext cx="2896791" cy="682628"/>
          </a:xfrm>
          <a:prstGeom prst="rect">
            <a:avLst/>
          </a:prstGeom>
        </p:spPr>
        <p:txBody>
          <a:bodyPr anchor="t" rtlCol="false" tIns="0" lIns="0" bIns="0" rIns="0">
            <a:spAutoFit/>
          </a:bodyPr>
          <a:lstStyle/>
          <a:p>
            <a:pPr algn="ctr">
              <a:lnSpc>
                <a:spcPts val="4900"/>
              </a:lnSpc>
            </a:pPr>
            <a:r>
              <a:rPr lang="en-US" sz="3500">
                <a:solidFill>
                  <a:srgbClr val="4D4D4D"/>
                </a:solidFill>
                <a:latin typeface="Anton"/>
                <a:ea typeface="Anton"/>
                <a:cs typeface="Anton"/>
                <a:sym typeface="Anton"/>
              </a:rPr>
              <a:t>PRESENTS</a:t>
            </a:r>
          </a:p>
        </p:txBody>
      </p:sp>
      <p:sp>
        <p:nvSpPr>
          <p:cNvPr name="TextBox 14" id="14"/>
          <p:cNvSpPr txBox="true"/>
          <p:nvPr/>
        </p:nvSpPr>
        <p:spPr>
          <a:xfrm rot="0">
            <a:off x="14360119" y="9201150"/>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3348659" y="9181176"/>
            <a:ext cx="1517452"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9th July 2026</a:t>
            </a:r>
          </a:p>
        </p:txBody>
      </p:sp>
      <p:sp>
        <p:nvSpPr>
          <p:cNvPr name="TextBox 16" id="16"/>
          <p:cNvSpPr txBox="true"/>
          <p:nvPr/>
        </p:nvSpPr>
        <p:spPr>
          <a:xfrm rot="0">
            <a:off x="0" y="9201150"/>
            <a:ext cx="2642111"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Ephy Kimotho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sp>
        <p:nvSpPr>
          <p:cNvPr name="TextBox 4" id="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Freeform 5" id="5"/>
          <p:cNvSpPr/>
          <p:nvPr/>
        </p:nvSpPr>
        <p:spPr>
          <a:xfrm flipH="false" flipV="false" rot="0">
            <a:off x="954386" y="2004184"/>
            <a:ext cx="7920342" cy="7273109"/>
          </a:xfrm>
          <a:custGeom>
            <a:avLst/>
            <a:gdLst/>
            <a:ahLst/>
            <a:cxnLst/>
            <a:rect r="r" b="b" t="t" l="l"/>
            <a:pathLst>
              <a:path h="7273109" w="7920342">
                <a:moveTo>
                  <a:pt x="0" y="0"/>
                </a:moveTo>
                <a:lnTo>
                  <a:pt x="7920342" y="0"/>
                </a:lnTo>
                <a:lnTo>
                  <a:pt x="7920342"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914867" y="1771650"/>
            <a:ext cx="38100" cy="7524693"/>
            <a:chOff x="0" y="0"/>
            <a:chExt cx="50800" cy="10032924"/>
          </a:xfrm>
        </p:grpSpPr>
        <p:sp>
          <p:nvSpPr>
            <p:cNvPr name="Freeform 7" id="7"/>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8" id="8"/>
          <p:cNvGrpSpPr/>
          <p:nvPr/>
        </p:nvGrpSpPr>
        <p:grpSpPr>
          <a:xfrm rot="0">
            <a:off x="636137" y="2254625"/>
            <a:ext cx="38100" cy="7524693"/>
            <a:chOff x="0" y="0"/>
            <a:chExt cx="50800" cy="10032924"/>
          </a:xfrm>
        </p:grpSpPr>
        <p:sp>
          <p:nvSpPr>
            <p:cNvPr name="Freeform 9" id="9"/>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0" id="10"/>
          <p:cNvGrpSpPr/>
          <p:nvPr/>
        </p:nvGrpSpPr>
        <p:grpSpPr>
          <a:xfrm rot="0">
            <a:off x="226028" y="1495425"/>
            <a:ext cx="17297400" cy="38100"/>
            <a:chOff x="0" y="0"/>
            <a:chExt cx="23063200" cy="50800"/>
          </a:xfrm>
        </p:grpSpPr>
        <p:sp>
          <p:nvSpPr>
            <p:cNvPr name="Freeform 11" id="11"/>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grpSp>
        <p:nvGrpSpPr>
          <p:cNvPr name="Group 12" id="12"/>
          <p:cNvGrpSpPr/>
          <p:nvPr/>
        </p:nvGrpSpPr>
        <p:grpSpPr>
          <a:xfrm rot="0">
            <a:off x="9831353" y="1771650"/>
            <a:ext cx="38100" cy="7524693"/>
            <a:chOff x="0" y="0"/>
            <a:chExt cx="50800" cy="10032924"/>
          </a:xfrm>
        </p:grpSpPr>
        <p:sp>
          <p:nvSpPr>
            <p:cNvPr name="Freeform 13" id="13"/>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4" id="14"/>
          <p:cNvGrpSpPr/>
          <p:nvPr/>
        </p:nvGrpSpPr>
        <p:grpSpPr>
          <a:xfrm rot="0">
            <a:off x="9552622" y="2254625"/>
            <a:ext cx="38100" cy="7524693"/>
            <a:chOff x="0" y="0"/>
            <a:chExt cx="50800" cy="10032924"/>
          </a:xfrm>
        </p:grpSpPr>
        <p:sp>
          <p:nvSpPr>
            <p:cNvPr name="Freeform 15" id="15"/>
            <p:cNvSpPr/>
            <p:nvPr/>
          </p:nvSpPr>
          <p:spPr>
            <a:xfrm flipH="false" flipV="false" rot="0">
              <a:off x="0" y="0"/>
              <a:ext cx="50800" cy="10032873"/>
            </a:xfrm>
            <a:custGeom>
              <a:avLst/>
              <a:gdLst/>
              <a:ahLst/>
              <a:cxnLst/>
              <a:rect r="r" b="b" t="t" l="l"/>
              <a:pathLst>
                <a:path h="10032873" w="50800">
                  <a:moveTo>
                    <a:pt x="0" y="10032873"/>
                  </a:moveTo>
                  <a:lnTo>
                    <a:pt x="50800" y="0"/>
                  </a:lnTo>
                </a:path>
              </a:pathLst>
            </a:custGeom>
            <a:blipFill>
              <a:blip r:embed="rId2">
                <a:alphaModFix amt="0"/>
              </a:blip>
              <a:stretch>
                <a:fillRect l="-25289762" t="0" r="-25289762" b="0"/>
              </a:stretch>
            </a:blipFill>
            <a:ln w="38100" cap="sq">
              <a:solidFill>
                <a:srgbClr val="FDA104"/>
              </a:solidFill>
              <a:prstDash val="solid"/>
              <a:miter/>
            </a:ln>
          </p:spPr>
        </p:sp>
      </p:grpSp>
      <p:sp>
        <p:nvSpPr>
          <p:cNvPr name="TextBox 16" id="16"/>
          <p:cNvSpPr txBox="true"/>
          <p:nvPr/>
        </p:nvSpPr>
        <p:spPr>
          <a:xfrm rot="0">
            <a:off x="-371846" y="341157"/>
            <a:ext cx="8874728" cy="1133475"/>
          </a:xfrm>
          <a:prstGeom prst="rect">
            <a:avLst/>
          </a:prstGeom>
        </p:spPr>
        <p:txBody>
          <a:bodyPr anchor="t" rtlCol="false" tIns="0" lIns="0" bIns="0" rIns="0">
            <a:spAutoFit/>
          </a:bodyPr>
          <a:lstStyle/>
          <a:p>
            <a:pPr algn="ctr">
              <a:lnSpc>
                <a:spcPts val="8398"/>
              </a:lnSpc>
            </a:pPr>
            <a:r>
              <a:rPr lang="en-US" sz="5998">
                <a:solidFill>
                  <a:srgbClr val="FFFFFF"/>
                </a:solidFill>
                <a:latin typeface="Gagalin"/>
                <a:ea typeface="Gagalin"/>
                <a:cs typeface="Gagalin"/>
                <a:sym typeface="Gagalin"/>
              </a:rPr>
              <a:t>Table of contents</a:t>
            </a:r>
          </a:p>
        </p:txBody>
      </p:sp>
      <p:sp>
        <p:nvSpPr>
          <p:cNvPr name="Freeform 17" id="17"/>
          <p:cNvSpPr/>
          <p:nvPr/>
        </p:nvSpPr>
        <p:spPr>
          <a:xfrm flipH="false" flipV="false" rot="0">
            <a:off x="956367" y="2532526"/>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8" id="18"/>
          <p:cNvSpPr/>
          <p:nvPr/>
        </p:nvSpPr>
        <p:spPr>
          <a:xfrm flipH="false" flipV="false" rot="0">
            <a:off x="956367" y="4055574"/>
            <a:ext cx="7346994" cy="1248099"/>
          </a:xfrm>
          <a:custGeom>
            <a:avLst/>
            <a:gdLst/>
            <a:ahLst/>
            <a:cxnLst/>
            <a:rect r="r" b="b" t="t" l="l"/>
            <a:pathLst>
              <a:path h="1248099" w="7346994">
                <a:moveTo>
                  <a:pt x="0" y="0"/>
                </a:moveTo>
                <a:lnTo>
                  <a:pt x="7346995" y="0"/>
                </a:lnTo>
                <a:lnTo>
                  <a:pt x="7346995" y="1248098"/>
                </a:lnTo>
                <a:lnTo>
                  <a:pt x="0" y="12480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0">
            <a:off x="1028700" y="5660065"/>
            <a:ext cx="7346994" cy="1434017"/>
          </a:xfrm>
          <a:custGeom>
            <a:avLst/>
            <a:gdLst/>
            <a:ahLst/>
            <a:cxnLst/>
            <a:rect r="r" b="b" t="t" l="l"/>
            <a:pathLst>
              <a:path h="1434017" w="7346994">
                <a:moveTo>
                  <a:pt x="0" y="0"/>
                </a:moveTo>
                <a:lnTo>
                  <a:pt x="7346994" y="0"/>
                </a:lnTo>
                <a:lnTo>
                  <a:pt x="7346994" y="1434017"/>
                </a:lnTo>
                <a:lnTo>
                  <a:pt x="0" y="14340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0" id="20"/>
          <p:cNvSpPr/>
          <p:nvPr/>
        </p:nvSpPr>
        <p:spPr>
          <a:xfrm flipH="false" flipV="false" rot="0">
            <a:off x="956367" y="7253869"/>
            <a:ext cx="7346994" cy="1297657"/>
          </a:xfrm>
          <a:custGeom>
            <a:avLst/>
            <a:gdLst/>
            <a:ahLst/>
            <a:cxnLst/>
            <a:rect r="r" b="b" t="t" l="l"/>
            <a:pathLst>
              <a:path h="1297657" w="7346994">
                <a:moveTo>
                  <a:pt x="0" y="0"/>
                </a:moveTo>
                <a:lnTo>
                  <a:pt x="7346995" y="0"/>
                </a:lnTo>
                <a:lnTo>
                  <a:pt x="7346995" y="1297657"/>
                </a:lnTo>
                <a:lnTo>
                  <a:pt x="0" y="129765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1" id="21"/>
          <p:cNvSpPr txBox="true"/>
          <p:nvPr/>
        </p:nvSpPr>
        <p:spPr>
          <a:xfrm rot="0">
            <a:off x="1193616" y="2637130"/>
            <a:ext cx="6691532"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INTRODUCTION TO LOAD BALANCING</a:t>
            </a:r>
          </a:p>
        </p:txBody>
      </p:sp>
      <p:sp>
        <p:nvSpPr>
          <p:cNvPr name="TextBox 22" id="22"/>
          <p:cNvSpPr txBox="true"/>
          <p:nvPr/>
        </p:nvSpPr>
        <p:spPr>
          <a:xfrm rot="0">
            <a:off x="1193616" y="4256227"/>
            <a:ext cx="3154412"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Types of Load Balancers</a:t>
            </a:r>
          </a:p>
        </p:txBody>
      </p:sp>
      <p:sp>
        <p:nvSpPr>
          <p:cNvPr name="TextBox 23" id="23"/>
          <p:cNvSpPr txBox="true"/>
          <p:nvPr/>
        </p:nvSpPr>
        <p:spPr>
          <a:xfrm rot="0">
            <a:off x="1193616" y="5767626"/>
            <a:ext cx="4161979"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Target groups &amp; Health checks </a:t>
            </a:r>
          </a:p>
        </p:txBody>
      </p:sp>
      <p:sp>
        <p:nvSpPr>
          <p:cNvPr name="TextBox 24" id="24"/>
          <p:cNvSpPr txBox="true"/>
          <p:nvPr/>
        </p:nvSpPr>
        <p:spPr>
          <a:xfrm rot="0">
            <a:off x="1193616" y="7402849"/>
            <a:ext cx="2468910"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Listeners and Rules</a:t>
            </a:r>
          </a:p>
        </p:txBody>
      </p:sp>
      <p:sp>
        <p:nvSpPr>
          <p:cNvPr name="TextBox 25" id="25"/>
          <p:cNvSpPr txBox="true"/>
          <p:nvPr/>
        </p:nvSpPr>
        <p:spPr>
          <a:xfrm rot="0">
            <a:off x="-3324044" y="119063"/>
            <a:ext cx="8238592" cy="429892"/>
          </a:xfrm>
          <a:prstGeom prst="rect">
            <a:avLst/>
          </a:prstGeom>
        </p:spPr>
        <p:txBody>
          <a:bodyPr anchor="t" rtlCol="false" tIns="0" lIns="0" bIns="0" rIns="0">
            <a:spAutoFit/>
          </a:bodyPr>
          <a:lstStyle/>
          <a:p>
            <a:pPr algn="ctr">
              <a:lnSpc>
                <a:spcPts val="3079"/>
              </a:lnSpc>
            </a:pPr>
            <a:r>
              <a:rPr lang="en-US" sz="2200">
                <a:solidFill>
                  <a:srgbClr val="FDA104"/>
                </a:solidFill>
                <a:latin typeface="Sigher"/>
                <a:ea typeface="Sigher"/>
                <a:cs typeface="Sigher"/>
                <a:sym typeface="Sigher"/>
              </a:rPr>
              <a:t>intro</a:t>
            </a:r>
          </a:p>
        </p:txBody>
      </p:sp>
      <p:sp>
        <p:nvSpPr>
          <p:cNvPr name="Freeform 26" id="2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27" id="27"/>
          <p:cNvSpPr/>
          <p:nvPr/>
        </p:nvSpPr>
        <p:spPr>
          <a:xfrm flipH="false" flipV="false" rot="0">
            <a:off x="9945653" y="2004184"/>
            <a:ext cx="7920342" cy="7273109"/>
          </a:xfrm>
          <a:custGeom>
            <a:avLst/>
            <a:gdLst/>
            <a:ahLst/>
            <a:cxnLst/>
            <a:rect r="r" b="b" t="t" l="l"/>
            <a:pathLst>
              <a:path h="7273109" w="7920342">
                <a:moveTo>
                  <a:pt x="0" y="0"/>
                </a:moveTo>
                <a:lnTo>
                  <a:pt x="7920342" y="0"/>
                </a:lnTo>
                <a:lnTo>
                  <a:pt x="7920342"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8" id="28"/>
          <p:cNvSpPr/>
          <p:nvPr/>
        </p:nvSpPr>
        <p:spPr>
          <a:xfrm flipH="false" flipV="false" rot="0">
            <a:off x="10229707" y="2535650"/>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10466956" y="2640263"/>
            <a:ext cx="9525" cy="405765"/>
          </a:xfrm>
          <a:prstGeom prst="rect">
            <a:avLst/>
          </a:prstGeom>
        </p:spPr>
        <p:txBody>
          <a:bodyPr anchor="t" rtlCol="false" tIns="0" lIns="0" bIns="0" rIns="0">
            <a:spAutoFit/>
          </a:bodyPr>
          <a:lstStyle/>
          <a:p>
            <a:pPr algn="l">
              <a:lnSpc>
                <a:spcPts val="3359"/>
              </a:lnSpc>
            </a:pPr>
          </a:p>
        </p:txBody>
      </p:sp>
      <p:sp>
        <p:nvSpPr>
          <p:cNvPr name="Freeform 30" id="30"/>
          <p:cNvSpPr/>
          <p:nvPr/>
        </p:nvSpPr>
        <p:spPr>
          <a:xfrm flipH="false" flipV="false" rot="0">
            <a:off x="10232326" y="4214736"/>
            <a:ext cx="7346994" cy="1319260"/>
          </a:xfrm>
          <a:custGeom>
            <a:avLst/>
            <a:gdLst/>
            <a:ahLst/>
            <a:cxnLst/>
            <a:rect r="r" b="b" t="t" l="l"/>
            <a:pathLst>
              <a:path h="1319260" w="7346994">
                <a:moveTo>
                  <a:pt x="0" y="0"/>
                </a:moveTo>
                <a:lnTo>
                  <a:pt x="7346995" y="0"/>
                </a:lnTo>
                <a:lnTo>
                  <a:pt x="7346995" y="1319260"/>
                </a:lnTo>
                <a:lnTo>
                  <a:pt x="0" y="1319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10466956" y="4435297"/>
            <a:ext cx="1959322"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Scaling Policies</a:t>
            </a:r>
          </a:p>
        </p:txBody>
      </p:sp>
      <p:sp>
        <p:nvSpPr>
          <p:cNvPr name="TextBox 32" id="32"/>
          <p:cNvSpPr txBox="true"/>
          <p:nvPr/>
        </p:nvSpPr>
        <p:spPr>
          <a:xfrm rot="0">
            <a:off x="10476481" y="2819333"/>
            <a:ext cx="3357116" cy="405765"/>
          </a:xfrm>
          <a:prstGeom prst="rect">
            <a:avLst/>
          </a:prstGeom>
        </p:spPr>
        <p:txBody>
          <a:bodyPr anchor="t" rtlCol="false" tIns="0" lIns="0" bIns="0" rIns="0">
            <a:spAutoFit/>
          </a:bodyPr>
          <a:lstStyle/>
          <a:p>
            <a:pPr algn="l">
              <a:lnSpc>
                <a:spcPts val="3359"/>
              </a:lnSpc>
            </a:pPr>
            <a:r>
              <a:rPr lang="en-US" sz="2400">
                <a:solidFill>
                  <a:srgbClr val="FDA104"/>
                </a:solidFill>
                <a:latin typeface="Antic"/>
                <a:ea typeface="Antic"/>
                <a:cs typeface="Antic"/>
                <a:sym typeface="Antic"/>
              </a:rPr>
              <a:t>Amazon EC2 Auto scaling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914867" y="1771650"/>
            <a:ext cx="38100" cy="7524693"/>
            <a:chOff x="0" y="0"/>
            <a:chExt cx="50800" cy="10032924"/>
          </a:xfrm>
        </p:grpSpPr>
        <p:sp>
          <p:nvSpPr>
            <p:cNvPr name="Freeform 5" id="5"/>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6" id="6"/>
          <p:cNvGrpSpPr/>
          <p:nvPr/>
        </p:nvGrpSpPr>
        <p:grpSpPr>
          <a:xfrm rot="0">
            <a:off x="636137" y="2254625"/>
            <a:ext cx="38100" cy="7524693"/>
            <a:chOff x="0" y="0"/>
            <a:chExt cx="50800" cy="10032924"/>
          </a:xfrm>
        </p:grpSpPr>
        <p:sp>
          <p:nvSpPr>
            <p:cNvPr name="Freeform 7" id="7"/>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8" id="8"/>
          <p:cNvGrpSpPr/>
          <p:nvPr/>
        </p:nvGrpSpPr>
        <p:grpSpPr>
          <a:xfrm rot="0">
            <a:off x="226028" y="1495425"/>
            <a:ext cx="17297400" cy="38100"/>
            <a:chOff x="0" y="0"/>
            <a:chExt cx="23063200" cy="50800"/>
          </a:xfrm>
        </p:grpSpPr>
        <p:sp>
          <p:nvSpPr>
            <p:cNvPr name="Freeform 9" id="9"/>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grpSp>
        <p:nvGrpSpPr>
          <p:cNvPr name="Group 10" id="10"/>
          <p:cNvGrpSpPr/>
          <p:nvPr/>
        </p:nvGrpSpPr>
        <p:grpSpPr>
          <a:xfrm rot="0">
            <a:off x="9831353" y="1771650"/>
            <a:ext cx="38100" cy="7524693"/>
            <a:chOff x="0" y="0"/>
            <a:chExt cx="50800" cy="10032924"/>
          </a:xfrm>
        </p:grpSpPr>
        <p:sp>
          <p:nvSpPr>
            <p:cNvPr name="Freeform 11" id="11"/>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2" id="12"/>
          <p:cNvGrpSpPr/>
          <p:nvPr/>
        </p:nvGrpSpPr>
        <p:grpSpPr>
          <a:xfrm rot="0">
            <a:off x="9552622" y="2254625"/>
            <a:ext cx="38100" cy="7524693"/>
            <a:chOff x="0" y="0"/>
            <a:chExt cx="50800" cy="10032924"/>
          </a:xfrm>
        </p:grpSpPr>
        <p:sp>
          <p:nvSpPr>
            <p:cNvPr name="Freeform 13" id="13"/>
            <p:cNvSpPr/>
            <p:nvPr/>
          </p:nvSpPr>
          <p:spPr>
            <a:xfrm flipH="false" flipV="false" rot="0">
              <a:off x="0" y="0"/>
              <a:ext cx="50800" cy="10032873"/>
            </a:xfrm>
            <a:custGeom>
              <a:avLst/>
              <a:gdLst/>
              <a:ahLst/>
              <a:cxnLst/>
              <a:rect r="r" b="b" t="t" l="l"/>
              <a:pathLst>
                <a:path h="10032873" w="50800">
                  <a:moveTo>
                    <a:pt x="0" y="10032873"/>
                  </a:moveTo>
                  <a:lnTo>
                    <a:pt x="50800" y="0"/>
                  </a:lnTo>
                </a:path>
              </a:pathLst>
            </a:custGeom>
            <a:blipFill>
              <a:blip r:embed="rId2">
                <a:alphaModFix amt="0"/>
              </a:blip>
              <a:stretch>
                <a:fillRect l="-25289762" t="0" r="-25289762" b="0"/>
              </a:stretch>
            </a:blipFill>
            <a:ln w="38100" cap="sq">
              <a:solidFill>
                <a:srgbClr val="FDA104"/>
              </a:solidFill>
              <a:prstDash val="solid"/>
              <a:miter/>
            </a:ln>
          </p:spPr>
        </p:sp>
      </p:grpSp>
      <p:sp>
        <p:nvSpPr>
          <p:cNvPr name="Freeform 14" id="14"/>
          <p:cNvSpPr/>
          <p:nvPr/>
        </p:nvSpPr>
        <p:spPr>
          <a:xfrm flipH="false" flipV="false" rot="0">
            <a:off x="3463831" y="1533525"/>
            <a:ext cx="9768579" cy="8549031"/>
          </a:xfrm>
          <a:custGeom>
            <a:avLst/>
            <a:gdLst/>
            <a:ahLst/>
            <a:cxnLst/>
            <a:rect r="r" b="b" t="t" l="l"/>
            <a:pathLst>
              <a:path h="8549031" w="9768579">
                <a:moveTo>
                  <a:pt x="0" y="0"/>
                </a:moveTo>
                <a:lnTo>
                  <a:pt x="9768579" y="0"/>
                </a:lnTo>
                <a:lnTo>
                  <a:pt x="9768579" y="8549031"/>
                </a:lnTo>
                <a:lnTo>
                  <a:pt x="0" y="8549031"/>
                </a:lnTo>
                <a:lnTo>
                  <a:pt x="0" y="0"/>
                </a:lnTo>
                <a:close/>
              </a:path>
            </a:pathLst>
          </a:custGeom>
          <a:blipFill>
            <a:blip r:embed="rId3"/>
            <a:stretch>
              <a:fillRect l="0" t="0" r="0" b="0"/>
            </a:stretch>
          </a:blipFill>
        </p:spPr>
      </p:sp>
      <p:sp>
        <p:nvSpPr>
          <p:cNvPr name="TextBox 15" id="15"/>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6" id="16"/>
          <p:cNvSpPr txBox="true"/>
          <p:nvPr/>
        </p:nvSpPr>
        <p:spPr>
          <a:xfrm rot="0">
            <a:off x="-371846" y="341157"/>
            <a:ext cx="12010371" cy="1019150"/>
          </a:xfrm>
          <a:prstGeom prst="rect">
            <a:avLst/>
          </a:prstGeom>
        </p:spPr>
        <p:txBody>
          <a:bodyPr anchor="t" rtlCol="false" tIns="0" lIns="0" bIns="0" rIns="0">
            <a:spAutoFit/>
          </a:bodyPr>
          <a:lstStyle/>
          <a:p>
            <a:pPr algn="ctr">
              <a:lnSpc>
                <a:spcPts val="8398"/>
              </a:lnSpc>
            </a:pPr>
            <a:r>
              <a:rPr lang="en-US" sz="5998">
                <a:solidFill>
                  <a:srgbClr val="FFFFFF"/>
                </a:solidFill>
                <a:latin typeface="Gagalin"/>
                <a:ea typeface="Gagalin"/>
                <a:cs typeface="Gagalin"/>
                <a:sym typeface="Gagalin"/>
              </a:rPr>
              <a:t>DEMO ARCHITECTURE DIAGRAM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54386" y="2004184"/>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191092" y="2160308"/>
            <a:ext cx="15739234" cy="672592"/>
          </a:xfrm>
          <a:prstGeom prst="rect">
            <a:avLst/>
          </a:prstGeom>
        </p:spPr>
        <p:txBody>
          <a:bodyPr anchor="t" rtlCol="false" tIns="0" lIns="0" bIns="0" rIns="0">
            <a:spAutoFit/>
          </a:bodyPr>
          <a:lstStyle/>
          <a:p>
            <a:pPr algn="l">
              <a:lnSpc>
                <a:spcPts val="5459"/>
              </a:lnSpc>
            </a:pPr>
          </a:p>
        </p:txBody>
      </p:sp>
      <p:sp>
        <p:nvSpPr>
          <p:cNvPr name="TextBox 14" id="1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245078" y="378152"/>
            <a:ext cx="13853227"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WHAT IS LOAD BALANCING ?</a:t>
            </a:r>
          </a:p>
        </p:txBody>
      </p:sp>
      <p:sp>
        <p:nvSpPr>
          <p:cNvPr name="Freeform 16" id="1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47699" y="2799995"/>
            <a:ext cx="15682627" cy="7862175"/>
          </a:xfrm>
          <a:prstGeom prst="rect">
            <a:avLst/>
          </a:prstGeom>
        </p:spPr>
        <p:txBody>
          <a:bodyPr anchor="t" rtlCol="false" tIns="0" lIns="0" bIns="0" rIns="0">
            <a:spAutoFit/>
          </a:bodyPr>
          <a:lstStyle/>
          <a:p>
            <a:pPr algn="l">
              <a:lnSpc>
                <a:spcPts val="3451"/>
              </a:lnSpc>
            </a:pPr>
            <a:r>
              <a:rPr lang="en-US" sz="2465">
                <a:solidFill>
                  <a:srgbClr val="FFFFFF"/>
                </a:solidFill>
                <a:latin typeface="Anton"/>
                <a:ea typeface="Anton"/>
                <a:cs typeface="Anton"/>
                <a:sym typeface="Anton"/>
              </a:rPr>
              <a:t>When you design and build production grade solutions, you should avoid </a:t>
            </a:r>
            <a:r>
              <a:rPr lang="en-US" sz="2465">
                <a:solidFill>
                  <a:srgbClr val="FDA104"/>
                </a:solidFill>
                <a:latin typeface="Anton"/>
                <a:ea typeface="Anton"/>
                <a:cs typeface="Anton"/>
                <a:sym typeface="Anton"/>
              </a:rPr>
              <a:t>single point of failure (SPF). </a:t>
            </a:r>
            <a:r>
              <a:rPr lang="en-US" sz="2465">
                <a:solidFill>
                  <a:srgbClr val="FFFFFF"/>
                </a:solidFill>
                <a:latin typeface="Anton"/>
                <a:ea typeface="Anton"/>
                <a:cs typeface="Anton"/>
                <a:sym typeface="Anton"/>
              </a:rPr>
              <a:t>For example having one database instance or one application instance. In the event that either fails or is unavailable then your application will fail. It’s always good to have a backup plan  in case such a scenario occurs.</a:t>
            </a:r>
          </a:p>
          <a:p>
            <a:pPr algn="l">
              <a:lnSpc>
                <a:spcPts val="3451"/>
              </a:lnSpc>
            </a:pPr>
          </a:p>
          <a:p>
            <a:pPr algn="l">
              <a:lnSpc>
                <a:spcPts val="3451"/>
              </a:lnSpc>
            </a:pPr>
            <a:r>
              <a:rPr lang="en-US" sz="2465">
                <a:solidFill>
                  <a:srgbClr val="FFFFFF"/>
                </a:solidFill>
                <a:latin typeface="Anton"/>
                <a:ea typeface="Anton"/>
                <a:cs typeface="Anton"/>
                <a:sym typeface="Anton"/>
              </a:rPr>
              <a:t>One way to mitigate this is to design you architecture to be highly available. That is a system that can withstand some measure of degradation while still remaining available. Minimize Downtime as much as possible and with minimal human intervention.</a:t>
            </a:r>
          </a:p>
          <a:p>
            <a:pPr algn="l">
              <a:lnSpc>
                <a:spcPts val="3451"/>
              </a:lnSpc>
            </a:pPr>
          </a:p>
          <a:p>
            <a:pPr algn="l">
              <a:lnSpc>
                <a:spcPts val="3451"/>
              </a:lnSpc>
            </a:pPr>
            <a:r>
              <a:rPr lang="en-US" sz="2465">
                <a:solidFill>
                  <a:srgbClr val="FDA104"/>
                </a:solidFill>
                <a:latin typeface="Anton"/>
                <a:ea typeface="Anton"/>
                <a:cs typeface="Anton"/>
                <a:sym typeface="Anton"/>
              </a:rPr>
              <a:t>Amazon Elastic Load Balancing (ELB) </a:t>
            </a:r>
            <a:r>
              <a:rPr lang="en-US" sz="2465">
                <a:solidFill>
                  <a:srgbClr val="FFFFFF"/>
                </a:solidFill>
                <a:latin typeface="Anton"/>
                <a:ea typeface="Anton"/>
                <a:cs typeface="Anton"/>
                <a:sym typeface="Anton"/>
              </a:rPr>
              <a:t>is a service that solves the SPF issue</a:t>
            </a:r>
            <a:r>
              <a:rPr lang="en-US" sz="2465">
                <a:solidFill>
                  <a:srgbClr val="FDA104"/>
                </a:solidFill>
                <a:latin typeface="Anton"/>
                <a:ea typeface="Anton"/>
                <a:cs typeface="Anton"/>
                <a:sym typeface="Anton"/>
              </a:rPr>
              <a:t> </a:t>
            </a:r>
            <a:r>
              <a:rPr lang="en-US" sz="2465">
                <a:solidFill>
                  <a:srgbClr val="FFFFFF"/>
                </a:solidFill>
                <a:latin typeface="Anton"/>
                <a:ea typeface="Anton"/>
                <a:cs typeface="Anton"/>
                <a:sym typeface="Anton"/>
              </a:rPr>
              <a:t>for AWS services. A Load balancer automatically distributes incoming traffic across multiple targets within a target group in one or more AZs.</a:t>
            </a:r>
          </a:p>
          <a:p>
            <a:pPr algn="l">
              <a:lnSpc>
                <a:spcPts val="3451"/>
              </a:lnSpc>
            </a:pPr>
          </a:p>
          <a:p>
            <a:pPr algn="l">
              <a:lnSpc>
                <a:spcPts val="3451"/>
              </a:lnSpc>
            </a:pPr>
            <a:r>
              <a:rPr lang="en-US" sz="2465">
                <a:solidFill>
                  <a:srgbClr val="FFFFFF"/>
                </a:solidFill>
                <a:latin typeface="Anton"/>
                <a:ea typeface="Anton"/>
                <a:cs typeface="Anton"/>
                <a:sym typeface="Anton"/>
              </a:rPr>
              <a:t>A load balancer can be external/internet facing or internal facing. External facing load balancers distributes inbound public traffic while internal load ballancers distribute private traffic.</a:t>
            </a:r>
          </a:p>
          <a:p>
            <a:pPr algn="l">
              <a:lnSpc>
                <a:spcPts val="3451"/>
              </a:lnSpc>
            </a:pPr>
          </a:p>
          <a:p>
            <a:pPr algn="l">
              <a:lnSpc>
                <a:spcPts val="3451"/>
              </a:lnSpc>
            </a:pPr>
            <a:r>
              <a:rPr lang="en-US" sz="2465">
                <a:solidFill>
                  <a:srgbClr val="FFFFFF"/>
                </a:solidFill>
                <a:latin typeface="Anton"/>
                <a:ea typeface="Anton"/>
                <a:cs typeface="Anton"/>
                <a:sym typeface="Anton"/>
              </a:rPr>
              <a:t>ELB monitors the health of it’s targets and send traffic to healthy instances only.</a:t>
            </a:r>
          </a:p>
          <a:p>
            <a:pPr algn="l">
              <a:lnSpc>
                <a:spcPts val="3451"/>
              </a:lnSpc>
            </a:pPr>
          </a:p>
          <a:p>
            <a:pPr algn="l">
              <a:lnSpc>
                <a:spcPts val="3451"/>
              </a:lnSpc>
            </a:pPr>
          </a:p>
          <a:p>
            <a:pPr algn="l">
              <a:lnSpc>
                <a:spcPts val="3451"/>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54386" y="2004184"/>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191092" y="2160308"/>
            <a:ext cx="15739234" cy="672592"/>
          </a:xfrm>
          <a:prstGeom prst="rect">
            <a:avLst/>
          </a:prstGeom>
        </p:spPr>
        <p:txBody>
          <a:bodyPr anchor="t" rtlCol="false" tIns="0" lIns="0" bIns="0" rIns="0">
            <a:spAutoFit/>
          </a:bodyPr>
          <a:lstStyle/>
          <a:p>
            <a:pPr algn="l">
              <a:lnSpc>
                <a:spcPts val="5459"/>
              </a:lnSpc>
            </a:pPr>
          </a:p>
        </p:txBody>
      </p:sp>
      <p:sp>
        <p:nvSpPr>
          <p:cNvPr name="TextBox 14" id="14"/>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5" id="15"/>
          <p:cNvSpPr txBox="true"/>
          <p:nvPr/>
        </p:nvSpPr>
        <p:spPr>
          <a:xfrm rot="0">
            <a:off x="245078" y="378152"/>
            <a:ext cx="13853227"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TYPES OF LOAD BALANCERS</a:t>
            </a:r>
          </a:p>
        </p:txBody>
      </p:sp>
      <p:sp>
        <p:nvSpPr>
          <p:cNvPr name="Freeform 16" id="16"/>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1247699" y="2799995"/>
            <a:ext cx="15682627" cy="3918825"/>
          </a:xfrm>
          <a:prstGeom prst="rect">
            <a:avLst/>
          </a:prstGeom>
        </p:spPr>
        <p:txBody>
          <a:bodyPr anchor="t" rtlCol="false" tIns="0" lIns="0" bIns="0" rIns="0">
            <a:spAutoFit/>
          </a:bodyPr>
          <a:lstStyle/>
          <a:p>
            <a:pPr algn="l">
              <a:lnSpc>
                <a:spcPts val="3451"/>
              </a:lnSpc>
            </a:pPr>
            <a:r>
              <a:rPr lang="en-US" sz="2465">
                <a:solidFill>
                  <a:srgbClr val="FFFFFF"/>
                </a:solidFill>
                <a:latin typeface="Anton"/>
                <a:ea typeface="Anton"/>
                <a:cs typeface="Anton"/>
                <a:sym typeface="Anton"/>
              </a:rPr>
              <a:t>We have 3 types of load balancers but in this demo we will only look the 2 most common ones.</a:t>
            </a:r>
          </a:p>
          <a:p>
            <a:pPr algn="l">
              <a:lnSpc>
                <a:spcPts val="3451"/>
              </a:lnSpc>
            </a:pPr>
          </a:p>
          <a:p>
            <a:pPr algn="l">
              <a:lnSpc>
                <a:spcPts val="3451"/>
              </a:lnSpc>
            </a:pPr>
            <a:r>
              <a:rPr lang="en-US" sz="2465">
                <a:solidFill>
                  <a:srgbClr val="FDA104"/>
                </a:solidFill>
                <a:latin typeface="Anton"/>
                <a:ea typeface="Anton"/>
                <a:cs typeface="Anton"/>
                <a:sym typeface="Anton"/>
              </a:rPr>
              <a:t>Application Load Balancer</a:t>
            </a:r>
            <a:r>
              <a:rPr lang="en-US" sz="2465">
                <a:solidFill>
                  <a:srgbClr val="FFFFFF"/>
                </a:solidFill>
                <a:latin typeface="Anton"/>
                <a:ea typeface="Anton"/>
                <a:cs typeface="Anton"/>
                <a:sym typeface="Anton"/>
              </a:rPr>
              <a:t> - functions at the application layer (7) of the OSI MODEL and it routes HTTP and HTTPS traffic to targets that can be (EC2, Lambda, Containers, IP address). ALB typically sits in a public subnet  and receives incoming user traffic and sends it to either web servers or application servers.</a:t>
            </a:r>
          </a:p>
          <a:p>
            <a:pPr algn="l">
              <a:lnSpc>
                <a:spcPts val="3451"/>
              </a:lnSpc>
            </a:pPr>
          </a:p>
          <a:p>
            <a:pPr algn="l">
              <a:lnSpc>
                <a:spcPts val="3451"/>
              </a:lnSpc>
              <a:spcBef>
                <a:spcPct val="0"/>
              </a:spcBef>
            </a:pPr>
            <a:r>
              <a:rPr lang="en-US" sz="2465">
                <a:solidFill>
                  <a:srgbClr val="FDA104"/>
                </a:solidFill>
                <a:latin typeface="Anton"/>
                <a:ea typeface="Anton"/>
                <a:cs typeface="Anton"/>
                <a:sym typeface="Anton"/>
              </a:rPr>
              <a:t>Network Load Balancers </a:t>
            </a:r>
            <a:r>
              <a:rPr lang="en-US" sz="2465">
                <a:solidFill>
                  <a:srgbClr val="FFFFFF"/>
                </a:solidFill>
                <a:latin typeface="Anton"/>
                <a:ea typeface="Anton"/>
                <a:cs typeface="Anton"/>
                <a:sym typeface="Anton"/>
              </a:rPr>
              <a:t>- functions at the network layer (4) of the OSI model. It can handle millions of requests per second to EC2 , Containers, ALB, or IP address targets. It supports TCP, UDP  and TLS protocols and performs with ultra low latencies. It’s optimized to handle spiky traffic or volatile/unpredictable traffic patterns.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TARGET GROUPS AND health checks</a:t>
            </a:r>
          </a:p>
        </p:txBody>
      </p:sp>
      <p:sp>
        <p:nvSpPr>
          <p:cNvPr name="Freeform 15" id="15"/>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592067" y="2413658"/>
            <a:ext cx="14579566" cy="8378012"/>
          </a:xfrm>
          <a:prstGeom prst="rect">
            <a:avLst/>
          </a:prstGeom>
        </p:spPr>
        <p:txBody>
          <a:bodyPr anchor="t" rtlCol="false" tIns="0" lIns="0" bIns="0" rIns="0">
            <a:spAutoFit/>
          </a:bodyPr>
          <a:lstStyle/>
          <a:p>
            <a:pPr algn="l">
              <a:lnSpc>
                <a:spcPts val="4495"/>
              </a:lnSpc>
            </a:pPr>
            <a:r>
              <a:rPr lang="en-US" sz="2469">
                <a:solidFill>
                  <a:srgbClr val="FFFFFF"/>
                </a:solidFill>
                <a:latin typeface="Antic Bold"/>
                <a:ea typeface="Antic Bold"/>
                <a:cs typeface="Antic Bold"/>
                <a:sym typeface="Antic Bold"/>
              </a:rPr>
              <a:t>A </a:t>
            </a:r>
            <a:r>
              <a:rPr lang="en-US" sz="2469">
                <a:solidFill>
                  <a:srgbClr val="FDA104"/>
                </a:solidFill>
                <a:latin typeface="Antic Bold"/>
                <a:ea typeface="Antic Bold"/>
                <a:cs typeface="Antic Bold"/>
                <a:sym typeface="Antic Bold"/>
              </a:rPr>
              <a:t>Target Group</a:t>
            </a:r>
            <a:r>
              <a:rPr lang="en-US" sz="2469">
                <a:solidFill>
                  <a:srgbClr val="FFFFFF"/>
                </a:solidFill>
                <a:latin typeface="Antic Bold"/>
                <a:ea typeface="Antic Bold"/>
                <a:cs typeface="Antic Bold"/>
                <a:sym typeface="Antic Bold"/>
              </a:rPr>
              <a:t> in AWS is a logical grouping of back-end resources (such as EC2 instances, IP addresses, containers, or Lambda functions) that receive incoming traffic from a load ballancer.</a:t>
            </a:r>
          </a:p>
          <a:p>
            <a:pPr algn="l">
              <a:lnSpc>
                <a:spcPts val="4495"/>
              </a:lnSpc>
            </a:pPr>
            <a:r>
              <a:rPr lang="en-US" sz="2469">
                <a:solidFill>
                  <a:srgbClr val="FFFFFF"/>
                </a:solidFill>
                <a:latin typeface="Antic Bold"/>
                <a:ea typeface="Antic Bold"/>
                <a:cs typeface="Antic Bold"/>
                <a:sym typeface="Antic Bold"/>
              </a:rPr>
              <a:t>Each target group routes requests to one or more registered targets by using the protocol and port number set when you are creating the group.</a:t>
            </a:r>
          </a:p>
          <a:p>
            <a:pPr algn="l">
              <a:lnSpc>
                <a:spcPts val="4495"/>
              </a:lnSpc>
            </a:pPr>
          </a:p>
          <a:p>
            <a:pPr algn="l">
              <a:lnSpc>
                <a:spcPts val="4495"/>
              </a:lnSpc>
            </a:pPr>
            <a:r>
              <a:rPr lang="en-US" sz="2469">
                <a:solidFill>
                  <a:srgbClr val="FFFFFF"/>
                </a:solidFill>
                <a:latin typeface="Antic Bold"/>
                <a:ea typeface="Antic Bold"/>
                <a:cs typeface="Antic Bold"/>
                <a:sym typeface="Antic Bold"/>
              </a:rPr>
              <a:t>To discover the availability of your EC2 targets, the load ballancer will periodically send pings, attempt connections, or send requests to test the EC2 instance. These periodic checks are known as </a:t>
            </a:r>
            <a:r>
              <a:rPr lang="en-US" sz="2469">
                <a:solidFill>
                  <a:srgbClr val="FDA104"/>
                </a:solidFill>
                <a:latin typeface="Antic Bold"/>
                <a:ea typeface="Antic Bold"/>
                <a:cs typeface="Antic Bold"/>
                <a:sym typeface="Antic Bold"/>
              </a:rPr>
              <a:t>Health checks.</a:t>
            </a:r>
          </a:p>
          <a:p>
            <a:pPr algn="l">
              <a:lnSpc>
                <a:spcPts val="4495"/>
              </a:lnSpc>
            </a:pPr>
            <a:r>
              <a:rPr lang="en-US" sz="2469">
                <a:solidFill>
                  <a:srgbClr val="FFFFFF"/>
                </a:solidFill>
                <a:latin typeface="Antic Bold"/>
                <a:ea typeface="Antic Bold"/>
                <a:cs typeface="Antic Bold"/>
                <a:sym typeface="Antic Bold"/>
              </a:rPr>
              <a:t>Each registered target must respond to the health check with an HTTP status code of 200 for it to be considered healthy by the load ballancer.</a:t>
            </a:r>
          </a:p>
          <a:p>
            <a:pPr algn="l">
              <a:lnSpc>
                <a:spcPts val="4495"/>
              </a:lnSpc>
            </a:pPr>
          </a:p>
          <a:p>
            <a:pPr algn="l">
              <a:lnSpc>
                <a:spcPts val="4495"/>
              </a:lnSpc>
            </a:pPr>
            <a:r>
              <a:rPr lang="en-US" sz="2469">
                <a:solidFill>
                  <a:srgbClr val="FFFFFF"/>
                </a:solidFill>
                <a:latin typeface="Antic Bold"/>
                <a:ea typeface="Antic Bold"/>
                <a:cs typeface="Antic Bold"/>
                <a:sym typeface="Antic Bold"/>
              </a:rPr>
              <a:t>If an unhealthy instance is detected, traffic will not be sent to that instance.</a:t>
            </a:r>
          </a:p>
          <a:p>
            <a:pPr algn="l">
              <a:lnSpc>
                <a:spcPts val="4495"/>
              </a:lnSpc>
            </a:pPr>
          </a:p>
          <a:p>
            <a:pPr algn="l">
              <a:lnSpc>
                <a:spcPts val="4495"/>
              </a:lnSpc>
            </a:pPr>
          </a:p>
          <a:p>
            <a:pPr algn="l">
              <a:lnSpc>
                <a:spcPts val="4495"/>
              </a:lnSpc>
            </a:pPr>
          </a:p>
          <a:p>
            <a:pPr algn="l">
              <a:lnSpc>
                <a:spcPts val="4495"/>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933917" y="1985191"/>
            <a:ext cx="16304914" cy="7273109"/>
          </a:xfrm>
          <a:custGeom>
            <a:avLst/>
            <a:gdLst/>
            <a:ahLst/>
            <a:cxnLst/>
            <a:rect r="r" b="b" t="t" l="l"/>
            <a:pathLst>
              <a:path h="7273109" w="16304914">
                <a:moveTo>
                  <a:pt x="0" y="0"/>
                </a:moveTo>
                <a:lnTo>
                  <a:pt x="16304914" y="0"/>
                </a:lnTo>
                <a:lnTo>
                  <a:pt x="16304914" y="7273109"/>
                </a:lnTo>
                <a:lnTo>
                  <a:pt x="0" y="72731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LISTENERS AND RULES</a:t>
            </a:r>
          </a:p>
        </p:txBody>
      </p:sp>
      <p:sp>
        <p:nvSpPr>
          <p:cNvPr name="Freeform 15" id="15"/>
          <p:cNvSpPr/>
          <p:nvPr/>
        </p:nvSpPr>
        <p:spPr>
          <a:xfrm flipH="false" flipV="false" rot="0">
            <a:off x="1247699" y="1675667"/>
            <a:ext cx="1385564" cy="341767"/>
          </a:xfrm>
          <a:custGeom>
            <a:avLst/>
            <a:gdLst/>
            <a:ahLst/>
            <a:cxnLst/>
            <a:rect r="r" b="b" t="t" l="l"/>
            <a:pathLst>
              <a:path h="341767" w="1385564">
                <a:moveTo>
                  <a:pt x="0" y="0"/>
                </a:moveTo>
                <a:lnTo>
                  <a:pt x="1385563" y="0"/>
                </a:lnTo>
                <a:lnTo>
                  <a:pt x="1385563" y="341766"/>
                </a:lnTo>
                <a:lnTo>
                  <a:pt x="0" y="3417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247699" y="2413658"/>
            <a:ext cx="14579566" cy="5568137"/>
          </a:xfrm>
          <a:prstGeom prst="rect">
            <a:avLst/>
          </a:prstGeom>
        </p:spPr>
        <p:txBody>
          <a:bodyPr anchor="t" rtlCol="false" tIns="0" lIns="0" bIns="0" rIns="0">
            <a:spAutoFit/>
          </a:bodyPr>
          <a:lstStyle/>
          <a:p>
            <a:pPr algn="l">
              <a:lnSpc>
                <a:spcPts val="4495"/>
              </a:lnSpc>
            </a:pPr>
            <a:r>
              <a:rPr lang="en-US" sz="2469">
                <a:solidFill>
                  <a:srgbClr val="FFFFFF"/>
                </a:solidFill>
                <a:latin typeface="Antic Bold"/>
                <a:ea typeface="Antic Bold"/>
                <a:cs typeface="Antic Bold"/>
                <a:sym typeface="Antic Bold"/>
              </a:rPr>
              <a:t>A </a:t>
            </a:r>
            <a:r>
              <a:rPr lang="en-US" sz="2469">
                <a:solidFill>
                  <a:srgbClr val="FDA104"/>
                </a:solidFill>
                <a:latin typeface="Antic Bold"/>
                <a:ea typeface="Antic Bold"/>
                <a:cs typeface="Antic Bold"/>
                <a:sym typeface="Antic Bold"/>
              </a:rPr>
              <a:t>listener</a:t>
            </a:r>
            <a:r>
              <a:rPr lang="en-US" sz="2469">
                <a:solidFill>
                  <a:srgbClr val="FFFFFF"/>
                </a:solidFill>
                <a:latin typeface="Antic Bold"/>
                <a:ea typeface="Antic Bold"/>
                <a:cs typeface="Antic Bold"/>
                <a:sym typeface="Antic Bold"/>
              </a:rPr>
              <a:t> is a process checks for connection requests from clients by using a protocol and port that you configure. A </a:t>
            </a:r>
            <a:r>
              <a:rPr lang="en-US" sz="2469">
                <a:solidFill>
                  <a:srgbClr val="FDA104"/>
                </a:solidFill>
                <a:latin typeface="Antic Bold"/>
                <a:ea typeface="Antic Bold"/>
                <a:cs typeface="Antic Bold"/>
                <a:sym typeface="Antic Bold"/>
              </a:rPr>
              <a:t>rule </a:t>
            </a:r>
            <a:r>
              <a:rPr lang="en-US" sz="2469">
                <a:solidFill>
                  <a:srgbClr val="FFFFFF"/>
                </a:solidFill>
                <a:latin typeface="Antic Bold"/>
                <a:ea typeface="Antic Bold"/>
                <a:cs typeface="Antic Bold"/>
                <a:sym typeface="Antic Bold"/>
              </a:rPr>
              <a:t>will determine how the load balancer routes the request to the targets. when the conditions for a rule are met then the appropriate action is taken.</a:t>
            </a:r>
          </a:p>
          <a:p>
            <a:pPr algn="l">
              <a:lnSpc>
                <a:spcPts val="4495"/>
              </a:lnSpc>
            </a:pPr>
          </a:p>
          <a:p>
            <a:pPr algn="l">
              <a:lnSpc>
                <a:spcPts val="4495"/>
              </a:lnSpc>
            </a:pPr>
            <a:r>
              <a:rPr lang="en-US" sz="2469">
                <a:solidFill>
                  <a:srgbClr val="FFFFFF"/>
                </a:solidFill>
                <a:latin typeface="Antic Bold"/>
                <a:ea typeface="Antic Bold"/>
                <a:cs typeface="Antic Bold"/>
                <a:sym typeface="Antic Bold"/>
              </a:rPr>
              <a:t> Some listeners such as HTTPS or TLS listeners require SSL/TLS certificates on your load balancer to ensure that traffic is protected in transit. HTTPS and TLS protocols use encryption to secure messages sent over shared networks. You can use </a:t>
            </a:r>
            <a:r>
              <a:rPr lang="en-US" sz="2469">
                <a:solidFill>
                  <a:srgbClr val="FDA104"/>
                </a:solidFill>
                <a:latin typeface="Antic Bold"/>
                <a:ea typeface="Antic Bold"/>
                <a:cs typeface="Antic Bold"/>
                <a:sym typeface="Antic Bold"/>
              </a:rPr>
              <a:t>AWS Certificate Manager ACM </a:t>
            </a:r>
            <a:r>
              <a:rPr lang="en-US" sz="2469">
                <a:solidFill>
                  <a:srgbClr val="FFFFFF"/>
                </a:solidFill>
                <a:latin typeface="Antic Bold"/>
                <a:ea typeface="Antic Bold"/>
                <a:cs typeface="Antic Bold"/>
                <a:sym typeface="Antic Bold"/>
              </a:rPr>
              <a:t>to aquire these certificates for use on AWS services.</a:t>
            </a:r>
          </a:p>
          <a:p>
            <a:pPr algn="l">
              <a:lnSpc>
                <a:spcPts val="4495"/>
              </a:lnSpc>
            </a:pPr>
          </a:p>
          <a:p>
            <a:pPr algn="l">
              <a:lnSpc>
                <a:spcPts val="4495"/>
              </a:lnSpc>
            </a:pPr>
          </a:p>
          <a:p>
            <a:pPr algn="l">
              <a:lnSpc>
                <a:spcPts val="4495"/>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433846" y="1762125"/>
            <a:ext cx="16804985" cy="7496175"/>
          </a:xfrm>
          <a:custGeom>
            <a:avLst/>
            <a:gdLst/>
            <a:ahLst/>
            <a:cxnLst/>
            <a:rect r="r" b="b" t="t" l="l"/>
            <a:pathLst>
              <a:path h="7496175" w="16804985">
                <a:moveTo>
                  <a:pt x="0" y="0"/>
                </a:moveTo>
                <a:lnTo>
                  <a:pt x="16804985" y="0"/>
                </a:lnTo>
                <a:lnTo>
                  <a:pt x="16804985" y="7496175"/>
                </a:lnTo>
                <a:lnTo>
                  <a:pt x="0" y="7496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what is SCALING ?</a:t>
            </a:r>
          </a:p>
        </p:txBody>
      </p:sp>
      <p:sp>
        <p:nvSpPr>
          <p:cNvPr name="TextBox 15" id="15"/>
          <p:cNvSpPr txBox="true"/>
          <p:nvPr/>
        </p:nvSpPr>
        <p:spPr>
          <a:xfrm rot="0">
            <a:off x="674237" y="2021073"/>
            <a:ext cx="15153028" cy="5855762"/>
          </a:xfrm>
          <a:prstGeom prst="rect">
            <a:avLst/>
          </a:prstGeom>
        </p:spPr>
        <p:txBody>
          <a:bodyPr anchor="t" rtlCol="false" tIns="0" lIns="0" bIns="0" rIns="0">
            <a:spAutoFit/>
          </a:bodyPr>
          <a:lstStyle/>
          <a:p>
            <a:pPr algn="l">
              <a:lnSpc>
                <a:spcPts val="4672"/>
              </a:lnSpc>
            </a:pPr>
            <a:r>
              <a:rPr lang="en-US" sz="2567">
                <a:solidFill>
                  <a:srgbClr val="FDA104"/>
                </a:solidFill>
                <a:latin typeface="Antic Bold"/>
                <a:ea typeface="Antic Bold"/>
                <a:cs typeface="Antic Bold"/>
                <a:sym typeface="Antic Bold"/>
              </a:rPr>
              <a:t>Scaling</a:t>
            </a:r>
            <a:r>
              <a:rPr lang="en-US" sz="2567">
                <a:solidFill>
                  <a:srgbClr val="FFFFFF"/>
                </a:solidFill>
                <a:latin typeface="Antic Bold"/>
                <a:ea typeface="Antic Bold"/>
                <a:cs typeface="Antic Bold"/>
                <a:sym typeface="Antic Bold"/>
              </a:rPr>
              <a:t> is the ability to increase or decrease the compute capacity of your appliaction. Auto scaling is a mechanisim to achieve scaling with no or little human intervention. We have 2 types of scaling</a:t>
            </a:r>
          </a:p>
          <a:p>
            <a:pPr algn="l">
              <a:lnSpc>
                <a:spcPts val="4672"/>
              </a:lnSpc>
            </a:pPr>
          </a:p>
          <a:p>
            <a:pPr algn="l">
              <a:lnSpc>
                <a:spcPts val="4672"/>
              </a:lnSpc>
            </a:pPr>
            <a:r>
              <a:rPr lang="en-US" sz="2567">
                <a:solidFill>
                  <a:srgbClr val="FDA104"/>
                </a:solidFill>
                <a:latin typeface="Antic Bold"/>
                <a:ea typeface="Antic Bold"/>
                <a:cs typeface="Antic Bold"/>
                <a:sym typeface="Antic Bold"/>
              </a:rPr>
              <a:t>Vertical scaling</a:t>
            </a:r>
            <a:r>
              <a:rPr lang="en-US" sz="2567">
                <a:solidFill>
                  <a:srgbClr val="FFFFFF"/>
                </a:solidFill>
                <a:latin typeface="Antic Bold"/>
                <a:ea typeface="Antic Bold"/>
                <a:cs typeface="Antic Bold"/>
                <a:sym typeface="Antic Bold"/>
              </a:rPr>
              <a:t> -  where you increase or decrease the specifications of your existing resource. For example adding more Memory (RAM) or compute (vCPU) to your instances. With vertical scaling Downtime is inevitable and you will eventually reach a limit beacuse it’s hardware bound. </a:t>
            </a:r>
          </a:p>
          <a:p>
            <a:pPr algn="l">
              <a:lnSpc>
                <a:spcPts val="4672"/>
              </a:lnSpc>
            </a:pPr>
          </a:p>
          <a:p>
            <a:pPr algn="l">
              <a:lnSpc>
                <a:spcPts val="4672"/>
              </a:lnSpc>
              <a:spcBef>
                <a:spcPct val="0"/>
              </a:spcBef>
            </a:pPr>
            <a:r>
              <a:rPr lang="en-US" sz="2567">
                <a:solidFill>
                  <a:srgbClr val="FDA104"/>
                </a:solidFill>
                <a:latin typeface="Antic Bold"/>
                <a:ea typeface="Antic Bold"/>
                <a:cs typeface="Antic Bold"/>
                <a:sym typeface="Antic Bold"/>
              </a:rPr>
              <a:t>Horizontal scaling</a:t>
            </a:r>
            <a:r>
              <a:rPr lang="en-US" sz="2567">
                <a:solidFill>
                  <a:srgbClr val="FFFFFF"/>
                </a:solidFill>
                <a:latin typeface="Antic Bold"/>
                <a:ea typeface="Antic Bold"/>
                <a:cs typeface="Antic Bold"/>
                <a:sym typeface="Antic Bold"/>
              </a:rPr>
              <a:t> - is where you add or remove resources available to the application. That is adding more servers serving your application. Adding more resources is called </a:t>
            </a:r>
            <a:r>
              <a:rPr lang="en-US" sz="2567">
                <a:solidFill>
                  <a:srgbClr val="FDA104"/>
                </a:solidFill>
                <a:latin typeface="Antic Bold"/>
                <a:ea typeface="Antic Bold"/>
                <a:cs typeface="Antic Bold"/>
                <a:sym typeface="Antic Bold"/>
              </a:rPr>
              <a:t>scale-out</a:t>
            </a:r>
            <a:r>
              <a:rPr lang="en-US" sz="2567">
                <a:solidFill>
                  <a:srgbClr val="FFFFFF"/>
                </a:solidFill>
                <a:latin typeface="Antic Bold"/>
                <a:ea typeface="Antic Bold"/>
                <a:cs typeface="Antic Bold"/>
                <a:sym typeface="Antic Bold"/>
              </a:rPr>
              <a:t> while removing resources is called </a:t>
            </a:r>
            <a:r>
              <a:rPr lang="en-US" sz="2567">
                <a:solidFill>
                  <a:srgbClr val="FDA104"/>
                </a:solidFill>
                <a:latin typeface="Antic Bold"/>
                <a:ea typeface="Antic Bold"/>
                <a:cs typeface="Antic Bold"/>
                <a:sym typeface="Antic Bold"/>
              </a:rPr>
              <a:t>scale-in.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433846" y="1762125"/>
            <a:ext cx="16804985" cy="7496175"/>
          </a:xfrm>
          <a:custGeom>
            <a:avLst/>
            <a:gdLst/>
            <a:ahLst/>
            <a:cxnLst/>
            <a:rect r="r" b="b" t="t" l="l"/>
            <a:pathLst>
              <a:path h="7496175" w="16804985">
                <a:moveTo>
                  <a:pt x="0" y="0"/>
                </a:moveTo>
                <a:lnTo>
                  <a:pt x="16804985" y="0"/>
                </a:lnTo>
                <a:lnTo>
                  <a:pt x="16804985" y="7496175"/>
                </a:lnTo>
                <a:lnTo>
                  <a:pt x="0" y="7496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Amazon EC2 AUTO SCALING</a:t>
            </a:r>
          </a:p>
        </p:txBody>
      </p:sp>
      <p:sp>
        <p:nvSpPr>
          <p:cNvPr name="TextBox 15" id="15"/>
          <p:cNvSpPr txBox="true"/>
          <p:nvPr/>
        </p:nvSpPr>
        <p:spPr>
          <a:xfrm rot="0">
            <a:off x="674237" y="2021073"/>
            <a:ext cx="15153028" cy="5855762"/>
          </a:xfrm>
          <a:prstGeom prst="rect">
            <a:avLst/>
          </a:prstGeom>
        </p:spPr>
        <p:txBody>
          <a:bodyPr anchor="t" rtlCol="false" tIns="0" lIns="0" bIns="0" rIns="0">
            <a:spAutoFit/>
          </a:bodyPr>
          <a:lstStyle/>
          <a:p>
            <a:pPr algn="l">
              <a:lnSpc>
                <a:spcPts val="4672"/>
              </a:lnSpc>
            </a:pPr>
            <a:r>
              <a:rPr lang="en-US" sz="2567">
                <a:solidFill>
                  <a:srgbClr val="FFFFFF"/>
                </a:solidFill>
                <a:latin typeface="Antic Bold"/>
                <a:ea typeface="Antic Bold"/>
                <a:cs typeface="Antic Bold"/>
                <a:sym typeface="Antic Bold"/>
              </a:rPr>
              <a:t>In the cloud, scaling can be done automiatically, </a:t>
            </a:r>
            <a:r>
              <a:rPr lang="en-US" sz="2567">
                <a:solidFill>
                  <a:srgbClr val="FDA104"/>
                </a:solidFill>
                <a:latin typeface="Antic Bold"/>
                <a:ea typeface="Antic Bold"/>
                <a:cs typeface="Antic Bold"/>
                <a:sym typeface="Antic Bold"/>
              </a:rPr>
              <a:t>Amazon EC2 Auto Scaling</a:t>
            </a:r>
            <a:r>
              <a:rPr lang="en-US" sz="2567">
                <a:solidFill>
                  <a:srgbClr val="FFFFFF"/>
                </a:solidFill>
                <a:latin typeface="Antic Bold"/>
                <a:ea typeface="Antic Bold"/>
                <a:cs typeface="Antic Bold"/>
                <a:sym typeface="Antic Bold"/>
              </a:rPr>
              <a:t> does this by grouping EC2 intances into a management group called and </a:t>
            </a:r>
            <a:r>
              <a:rPr lang="en-US" sz="2567">
                <a:solidFill>
                  <a:srgbClr val="FDA104"/>
                </a:solidFill>
                <a:latin typeface="Antic Bold"/>
                <a:ea typeface="Antic Bold"/>
                <a:cs typeface="Antic Bold"/>
                <a:sym typeface="Antic Bold"/>
              </a:rPr>
              <a:t>Auto-Scaling Group ASG</a:t>
            </a:r>
            <a:r>
              <a:rPr lang="en-US" sz="2567">
                <a:solidFill>
                  <a:srgbClr val="FFFFFF"/>
                </a:solidFill>
                <a:latin typeface="Antic Bold"/>
                <a:ea typeface="Antic Bold"/>
                <a:cs typeface="Antic Bold"/>
                <a:sym typeface="Antic Bold"/>
              </a:rPr>
              <a:t>. This group can span across multiple AZs</a:t>
            </a:r>
          </a:p>
          <a:p>
            <a:pPr algn="l">
              <a:lnSpc>
                <a:spcPts val="4672"/>
              </a:lnSpc>
            </a:pPr>
          </a:p>
          <a:p>
            <a:pPr algn="l">
              <a:lnSpc>
                <a:spcPts val="4672"/>
              </a:lnSpc>
            </a:pPr>
            <a:r>
              <a:rPr lang="en-US" sz="2567">
                <a:solidFill>
                  <a:srgbClr val="FFFFFF"/>
                </a:solidFill>
                <a:latin typeface="Antic Bold"/>
                <a:ea typeface="Antic Bold"/>
                <a:cs typeface="Antic Bold"/>
                <a:sym typeface="Antic Bold"/>
              </a:rPr>
              <a:t>An amazon EC2 ASG can automatically add or remove EC2 instances according to user-defined polices , scheduled actions, or ELB health checks.</a:t>
            </a:r>
          </a:p>
          <a:p>
            <a:pPr algn="l">
              <a:lnSpc>
                <a:spcPts val="4672"/>
              </a:lnSpc>
            </a:pPr>
          </a:p>
          <a:p>
            <a:pPr algn="l">
              <a:lnSpc>
                <a:spcPts val="4672"/>
              </a:lnSpc>
              <a:spcBef>
                <a:spcPct val="0"/>
              </a:spcBef>
            </a:pPr>
            <a:r>
              <a:rPr lang="en-US" sz="2567">
                <a:solidFill>
                  <a:srgbClr val="FFFFFF"/>
                </a:solidFill>
                <a:latin typeface="Antic Bold"/>
                <a:ea typeface="Antic Bold"/>
                <a:cs typeface="Antic Bold"/>
                <a:sym typeface="Antic Bold"/>
              </a:rPr>
              <a:t>When a new instance is added to the group,  the</a:t>
            </a:r>
            <a:r>
              <a:rPr lang="en-US" sz="2567">
                <a:solidFill>
                  <a:srgbClr val="FDA104"/>
                </a:solidFill>
                <a:latin typeface="Antic Bold"/>
                <a:ea typeface="Antic Bold"/>
                <a:cs typeface="Antic Bold"/>
                <a:sym typeface="Antic Bold"/>
              </a:rPr>
              <a:t> launch template</a:t>
            </a:r>
            <a:r>
              <a:rPr lang="en-US" sz="2567">
                <a:solidFill>
                  <a:srgbClr val="FFFFFF"/>
                </a:solidFill>
                <a:latin typeface="Antic Bold"/>
                <a:ea typeface="Antic Bold"/>
                <a:cs typeface="Antic Bold"/>
                <a:sym typeface="Antic Bold"/>
              </a:rPr>
              <a:t> that species the instance will be used. Amazon EC2 Auto scaling integrates with Amazon ELB to distribute application traffic. It automatically registers new instances to a load balancers target group, and once the health checks pass, the load balancer can begin to route traffic to the new instance.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433846" y="1762125"/>
            <a:ext cx="16804985" cy="7496175"/>
          </a:xfrm>
          <a:custGeom>
            <a:avLst/>
            <a:gdLst/>
            <a:ahLst/>
            <a:cxnLst/>
            <a:rect r="r" b="b" t="t" l="l"/>
            <a:pathLst>
              <a:path h="7496175" w="16804985">
                <a:moveTo>
                  <a:pt x="0" y="0"/>
                </a:moveTo>
                <a:lnTo>
                  <a:pt x="16804985" y="0"/>
                </a:lnTo>
                <a:lnTo>
                  <a:pt x="16804985" y="7496175"/>
                </a:lnTo>
                <a:lnTo>
                  <a:pt x="0" y="7496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TYPES OF SCALING POLICIES</a:t>
            </a:r>
          </a:p>
        </p:txBody>
      </p:sp>
      <p:sp>
        <p:nvSpPr>
          <p:cNvPr name="TextBox 15" id="15"/>
          <p:cNvSpPr txBox="true"/>
          <p:nvPr/>
        </p:nvSpPr>
        <p:spPr>
          <a:xfrm rot="0">
            <a:off x="674237" y="2021073"/>
            <a:ext cx="15153028" cy="7036862"/>
          </a:xfrm>
          <a:prstGeom prst="rect">
            <a:avLst/>
          </a:prstGeom>
        </p:spPr>
        <p:txBody>
          <a:bodyPr anchor="t" rtlCol="false" tIns="0" lIns="0" bIns="0" rIns="0">
            <a:spAutoFit/>
          </a:bodyPr>
          <a:lstStyle/>
          <a:p>
            <a:pPr algn="l">
              <a:lnSpc>
                <a:spcPts val="4672"/>
              </a:lnSpc>
            </a:pPr>
            <a:r>
              <a:rPr lang="en-US" sz="2567">
                <a:solidFill>
                  <a:srgbClr val="FFFFFF"/>
                </a:solidFill>
                <a:latin typeface="Antic Bold"/>
                <a:ea typeface="Antic Bold"/>
                <a:cs typeface="Antic Bold"/>
                <a:sym typeface="Antic Bold"/>
              </a:rPr>
              <a:t>A </a:t>
            </a:r>
            <a:r>
              <a:rPr lang="en-US" sz="2567">
                <a:solidFill>
                  <a:srgbClr val="FDA104"/>
                </a:solidFill>
                <a:latin typeface="Antic Bold"/>
                <a:ea typeface="Antic Bold"/>
                <a:cs typeface="Antic Bold"/>
                <a:sym typeface="Antic Bold"/>
              </a:rPr>
              <a:t>scaling policy</a:t>
            </a:r>
            <a:r>
              <a:rPr lang="en-US" sz="2567">
                <a:solidFill>
                  <a:srgbClr val="FFFFFF"/>
                </a:solidFill>
                <a:latin typeface="Antic Bold"/>
                <a:ea typeface="Antic Bold"/>
                <a:cs typeface="Antic Bold"/>
                <a:sym typeface="Antic Bold"/>
              </a:rPr>
              <a:t> defines when a scaling action needs to happen by using rules. Let’s look at the types of scaling policies.</a:t>
            </a:r>
          </a:p>
          <a:p>
            <a:pPr algn="l">
              <a:lnSpc>
                <a:spcPts val="4672"/>
              </a:lnSpc>
            </a:pPr>
          </a:p>
          <a:p>
            <a:pPr algn="l">
              <a:lnSpc>
                <a:spcPts val="4672"/>
              </a:lnSpc>
            </a:pPr>
            <a:r>
              <a:rPr lang="en-US" sz="2567">
                <a:solidFill>
                  <a:srgbClr val="FDA104"/>
                </a:solidFill>
                <a:latin typeface="Antic Bold"/>
                <a:ea typeface="Antic Bold"/>
                <a:cs typeface="Antic Bold"/>
                <a:sym typeface="Antic Bold"/>
              </a:rPr>
              <a:t>Schedule Action policy</a:t>
            </a:r>
            <a:r>
              <a:rPr lang="en-US" sz="2567">
                <a:solidFill>
                  <a:srgbClr val="FFFFFF"/>
                </a:solidFill>
                <a:latin typeface="Antic Bold"/>
                <a:ea typeface="Antic Bold"/>
                <a:cs typeface="Antic Bold"/>
                <a:sym typeface="Antic Bold"/>
              </a:rPr>
              <a:t> - here a scaling action is performed as a function of date and time.This policy is used when you have predictable workloads and know when to scale your instances.</a:t>
            </a:r>
          </a:p>
          <a:p>
            <a:pPr algn="l">
              <a:lnSpc>
                <a:spcPts val="4672"/>
              </a:lnSpc>
            </a:pPr>
          </a:p>
          <a:p>
            <a:pPr algn="l">
              <a:lnSpc>
                <a:spcPts val="4672"/>
              </a:lnSpc>
            </a:pPr>
            <a:r>
              <a:rPr lang="en-US" sz="2567">
                <a:solidFill>
                  <a:srgbClr val="FDA104"/>
                </a:solidFill>
                <a:latin typeface="Antic Bold"/>
                <a:ea typeface="Antic Bold"/>
                <a:cs typeface="Antic Bold"/>
                <a:sym typeface="Antic Bold"/>
              </a:rPr>
              <a:t>Target-tracking policy </a:t>
            </a:r>
            <a:r>
              <a:rPr lang="en-US" sz="2567">
                <a:solidFill>
                  <a:srgbClr val="FFFFFF"/>
                </a:solidFill>
                <a:latin typeface="Antic Bold"/>
                <a:ea typeface="Antic Bold"/>
                <a:cs typeface="Antic Bold"/>
                <a:sym typeface="Antic Bold"/>
              </a:rPr>
              <a:t>- this policy increases or decreases the current capacity of a target group based on</a:t>
            </a:r>
          </a:p>
          <a:p>
            <a:pPr algn="l">
              <a:lnSpc>
                <a:spcPts val="4672"/>
              </a:lnSpc>
            </a:pPr>
            <a:r>
              <a:rPr lang="en-US" sz="2567">
                <a:solidFill>
                  <a:srgbClr val="FFFFFF"/>
                </a:solidFill>
                <a:latin typeface="Antic Bold"/>
                <a:ea typeface="Antic Bold"/>
                <a:cs typeface="Antic Bold"/>
                <a:sym typeface="Antic Bold"/>
              </a:rPr>
              <a:t>a target value for a specific metric.</a:t>
            </a:r>
          </a:p>
          <a:p>
            <a:pPr algn="l">
              <a:lnSpc>
                <a:spcPts val="4672"/>
              </a:lnSpc>
            </a:pPr>
          </a:p>
          <a:p>
            <a:pPr algn="l">
              <a:lnSpc>
                <a:spcPts val="4672"/>
              </a:lnSpc>
              <a:spcBef>
                <a:spcPct val="0"/>
              </a:spcBef>
            </a:pPr>
            <a:r>
              <a:rPr lang="en-US" sz="2567">
                <a:solidFill>
                  <a:srgbClr val="FDA104"/>
                </a:solidFill>
                <a:latin typeface="Antic Bold"/>
                <a:ea typeface="Antic Bold"/>
                <a:cs typeface="Antic Bold"/>
                <a:sym typeface="Antic Bold"/>
              </a:rPr>
              <a:t>Predicitive scaling policy</a:t>
            </a:r>
            <a:r>
              <a:rPr lang="en-US" sz="2567">
                <a:solidFill>
                  <a:srgbClr val="FFFFFF"/>
                </a:solidFill>
                <a:latin typeface="Antic Bold"/>
                <a:ea typeface="Antic Bold"/>
                <a:cs typeface="Antic Bold"/>
                <a:sym typeface="Antic Bold"/>
              </a:rPr>
              <a:t>- where your capacity scales based on predicted demand. it works by analyzing historical laod data  to detect daily, and weekly patterns and uses this info to forecast future capacity needs so that Amazon EC2 Auto scaling can proactively increase the capacity of your ASG to match anticipated load.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433846" y="1762125"/>
            <a:ext cx="16804985" cy="7496175"/>
          </a:xfrm>
          <a:custGeom>
            <a:avLst/>
            <a:gdLst/>
            <a:ahLst/>
            <a:cxnLst/>
            <a:rect r="r" b="b" t="t" l="l"/>
            <a:pathLst>
              <a:path h="7496175" w="16804985">
                <a:moveTo>
                  <a:pt x="0" y="0"/>
                </a:moveTo>
                <a:lnTo>
                  <a:pt x="16804985" y="0"/>
                </a:lnTo>
                <a:lnTo>
                  <a:pt x="16804985" y="7496175"/>
                </a:lnTo>
                <a:lnTo>
                  <a:pt x="0" y="7496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Benefits of scaling</a:t>
            </a:r>
          </a:p>
        </p:txBody>
      </p:sp>
      <p:sp>
        <p:nvSpPr>
          <p:cNvPr name="TextBox 15" id="15"/>
          <p:cNvSpPr txBox="true"/>
          <p:nvPr/>
        </p:nvSpPr>
        <p:spPr>
          <a:xfrm rot="0">
            <a:off x="674237" y="1982973"/>
            <a:ext cx="15153028" cy="2768393"/>
          </a:xfrm>
          <a:prstGeom prst="rect">
            <a:avLst/>
          </a:prstGeom>
        </p:spPr>
        <p:txBody>
          <a:bodyPr anchor="t" rtlCol="false" tIns="0" lIns="0" bIns="0" rIns="0">
            <a:spAutoFit/>
          </a:bodyPr>
          <a:lstStyle/>
          <a:p>
            <a:pPr algn="l" marL="662196" indent="-331098" lvl="1">
              <a:lnSpc>
                <a:spcPts val="5582"/>
              </a:lnSpc>
              <a:buFont typeface="Arial"/>
              <a:buChar char="•"/>
            </a:pPr>
            <a:r>
              <a:rPr lang="en-US" sz="3067">
                <a:solidFill>
                  <a:srgbClr val="FFFFFF"/>
                </a:solidFill>
                <a:latin typeface="Antic Bold"/>
                <a:ea typeface="Antic Bold"/>
                <a:cs typeface="Antic Bold"/>
                <a:sym typeface="Antic Bold"/>
              </a:rPr>
              <a:t>It improves your application’s availability and reliablity</a:t>
            </a:r>
          </a:p>
          <a:p>
            <a:pPr algn="l" marL="662196" indent="-331098" lvl="1">
              <a:lnSpc>
                <a:spcPts val="5582"/>
              </a:lnSpc>
              <a:buFont typeface="Arial"/>
              <a:buChar char="•"/>
            </a:pPr>
            <a:r>
              <a:rPr lang="en-US" sz="3067">
                <a:solidFill>
                  <a:srgbClr val="FFFFFF"/>
                </a:solidFill>
                <a:latin typeface="Antic Bold"/>
                <a:ea typeface="Antic Bold"/>
                <a:cs typeface="Antic Bold"/>
                <a:sym typeface="Antic Bold"/>
              </a:rPr>
              <a:t>Auto scaling redues manual/human intervention for scaling to occur</a:t>
            </a:r>
          </a:p>
          <a:p>
            <a:pPr algn="l" marL="662196" indent="-331098" lvl="1">
              <a:lnSpc>
                <a:spcPts val="5582"/>
              </a:lnSpc>
              <a:buFont typeface="Arial"/>
              <a:buChar char="•"/>
            </a:pPr>
            <a:r>
              <a:rPr lang="en-US" sz="3067">
                <a:solidFill>
                  <a:srgbClr val="FFFFFF"/>
                </a:solidFill>
                <a:latin typeface="Antic Bold"/>
                <a:ea typeface="Antic Bold"/>
                <a:cs typeface="Antic Bold"/>
                <a:sym typeface="Antic Bold"/>
              </a:rPr>
              <a:t>Better cost management as auto-scaling can add and remove instances as needed.</a:t>
            </a:r>
          </a:p>
          <a:p>
            <a:pPr algn="l" marL="662196" indent="-331098" lvl="1">
              <a:lnSpc>
                <a:spcPts val="5582"/>
              </a:lnSpc>
              <a:buFont typeface="Arial"/>
              <a:buChar char="•"/>
            </a:pPr>
            <a:r>
              <a:rPr lang="en-US" sz="3067">
                <a:solidFill>
                  <a:srgbClr val="FFFFFF"/>
                </a:solidFill>
                <a:latin typeface="Antic Bold"/>
                <a:ea typeface="Antic Bold"/>
                <a:cs typeface="Antic Bold"/>
                <a:sym typeface="Antic Bold"/>
              </a:rPr>
              <a:t>It makes you architecture fault-tolerant.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grpSp>
        <p:nvGrpSpPr>
          <p:cNvPr name="Group 2" id="2"/>
          <p:cNvGrpSpPr/>
          <p:nvPr/>
        </p:nvGrpSpPr>
        <p:grpSpPr>
          <a:xfrm rot="0">
            <a:off x="-133350" y="0"/>
            <a:ext cx="18554700" cy="266700"/>
            <a:chOff x="0" y="0"/>
            <a:chExt cx="24739600" cy="355600"/>
          </a:xfrm>
        </p:grpSpPr>
        <p:sp>
          <p:nvSpPr>
            <p:cNvPr name="Freeform 3" id="3"/>
            <p:cNvSpPr/>
            <p:nvPr/>
          </p:nvSpPr>
          <p:spPr>
            <a:xfrm flipH="false" flipV="false" rot="0">
              <a:off x="0" y="0"/>
              <a:ext cx="24739600" cy="355600"/>
            </a:xfrm>
            <a:custGeom>
              <a:avLst/>
              <a:gdLst/>
              <a:ahLst/>
              <a:cxnLst/>
              <a:rect r="r" b="b" t="t" l="l"/>
              <a:pathLst>
                <a:path h="355600" w="24739600">
                  <a:moveTo>
                    <a:pt x="0" y="355600"/>
                  </a:moveTo>
                  <a:lnTo>
                    <a:pt x="24739600" y="0"/>
                  </a:lnTo>
                </a:path>
              </a:pathLst>
            </a:custGeom>
            <a:blipFill>
              <a:blip r:embed="rId2">
                <a:alphaModFix amt="0"/>
              </a:blip>
              <a:stretch>
                <a:fillRect l="0" t="-1305601" r="0" b="-1305601"/>
              </a:stretch>
            </a:blipFill>
            <a:ln w="266700" cap="sq">
              <a:solidFill>
                <a:srgbClr val="FDA104"/>
              </a:solidFill>
              <a:prstDash val="solid"/>
              <a:miter/>
            </a:ln>
          </p:spPr>
        </p:sp>
      </p:grpSp>
      <p:grpSp>
        <p:nvGrpSpPr>
          <p:cNvPr name="Group 4" id="4"/>
          <p:cNvGrpSpPr/>
          <p:nvPr/>
        </p:nvGrpSpPr>
        <p:grpSpPr>
          <a:xfrm rot="0">
            <a:off x="-133350" y="10020300"/>
            <a:ext cx="18554700" cy="266700"/>
            <a:chOff x="0" y="0"/>
            <a:chExt cx="24739600" cy="355600"/>
          </a:xfrm>
        </p:grpSpPr>
        <p:sp>
          <p:nvSpPr>
            <p:cNvPr name="Freeform 5" id="5"/>
            <p:cNvSpPr/>
            <p:nvPr/>
          </p:nvSpPr>
          <p:spPr>
            <a:xfrm flipH="false" flipV="false" rot="0">
              <a:off x="0" y="0"/>
              <a:ext cx="24739600" cy="355600"/>
            </a:xfrm>
            <a:custGeom>
              <a:avLst/>
              <a:gdLst/>
              <a:ahLst/>
              <a:cxnLst/>
              <a:rect r="r" b="b" t="t" l="l"/>
              <a:pathLst>
                <a:path h="355600" w="24739600">
                  <a:moveTo>
                    <a:pt x="0" y="0"/>
                  </a:moveTo>
                  <a:lnTo>
                    <a:pt x="24739600" y="355600"/>
                  </a:lnTo>
                </a:path>
              </a:pathLst>
            </a:custGeom>
            <a:blipFill>
              <a:blip r:embed="rId2">
                <a:alphaModFix amt="0"/>
              </a:blip>
              <a:stretch>
                <a:fillRect l="0" t="-1305601" r="0" b="-1305601"/>
              </a:stretch>
            </a:blipFill>
            <a:ln w="266700" cap="sq">
              <a:solidFill>
                <a:srgbClr val="FDA104"/>
              </a:solidFill>
              <a:prstDash val="solid"/>
              <a:miter/>
            </a:ln>
          </p:spPr>
        </p:sp>
      </p:grpSp>
      <p:sp>
        <p:nvSpPr>
          <p:cNvPr name="Freeform 6" id="6"/>
          <p:cNvSpPr/>
          <p:nvPr/>
        </p:nvSpPr>
        <p:spPr>
          <a:xfrm flipH="false" flipV="false" rot="0">
            <a:off x="433846" y="1762125"/>
            <a:ext cx="16804985" cy="7496175"/>
          </a:xfrm>
          <a:custGeom>
            <a:avLst/>
            <a:gdLst/>
            <a:ahLst/>
            <a:cxnLst/>
            <a:rect r="r" b="b" t="t" l="l"/>
            <a:pathLst>
              <a:path h="7496175" w="16804985">
                <a:moveTo>
                  <a:pt x="0" y="0"/>
                </a:moveTo>
                <a:lnTo>
                  <a:pt x="16804985" y="0"/>
                </a:lnTo>
                <a:lnTo>
                  <a:pt x="16804985" y="7496175"/>
                </a:lnTo>
                <a:lnTo>
                  <a:pt x="0" y="74961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914867" y="1771650"/>
            <a:ext cx="38100" cy="7524693"/>
            <a:chOff x="0" y="0"/>
            <a:chExt cx="50800" cy="10032924"/>
          </a:xfrm>
        </p:grpSpPr>
        <p:sp>
          <p:nvSpPr>
            <p:cNvPr name="Freeform 8" id="8"/>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9" id="9"/>
          <p:cNvGrpSpPr/>
          <p:nvPr/>
        </p:nvGrpSpPr>
        <p:grpSpPr>
          <a:xfrm rot="0">
            <a:off x="636137" y="2254625"/>
            <a:ext cx="38100" cy="7524693"/>
            <a:chOff x="0" y="0"/>
            <a:chExt cx="50800" cy="10032924"/>
          </a:xfrm>
        </p:grpSpPr>
        <p:sp>
          <p:nvSpPr>
            <p:cNvPr name="Freeform 10" id="10"/>
            <p:cNvSpPr/>
            <p:nvPr/>
          </p:nvSpPr>
          <p:spPr>
            <a:xfrm flipH="false" flipV="false" rot="0">
              <a:off x="0" y="0"/>
              <a:ext cx="50800" cy="10032873"/>
            </a:xfrm>
            <a:custGeom>
              <a:avLst/>
              <a:gdLst/>
              <a:ahLst/>
              <a:cxnLst/>
              <a:rect r="r" b="b" t="t" l="l"/>
              <a:pathLst>
                <a:path h="10032873" w="50800">
                  <a:moveTo>
                    <a:pt x="50800" y="10032873"/>
                  </a:moveTo>
                  <a:lnTo>
                    <a:pt x="0" y="0"/>
                  </a:lnTo>
                </a:path>
              </a:pathLst>
            </a:custGeom>
            <a:blipFill>
              <a:blip r:embed="rId2">
                <a:alphaModFix amt="0"/>
              </a:blip>
              <a:stretch>
                <a:fillRect l="-25289762" t="0" r="-25289762" b="0"/>
              </a:stretch>
            </a:blipFill>
            <a:ln w="38100" cap="sq">
              <a:solidFill>
                <a:srgbClr val="FDA104"/>
              </a:solidFill>
              <a:prstDash val="solid"/>
              <a:miter/>
            </a:ln>
          </p:spPr>
        </p:sp>
      </p:grpSp>
      <p:grpSp>
        <p:nvGrpSpPr>
          <p:cNvPr name="Group 11" id="11"/>
          <p:cNvGrpSpPr/>
          <p:nvPr/>
        </p:nvGrpSpPr>
        <p:grpSpPr>
          <a:xfrm rot="0">
            <a:off x="226028" y="1495425"/>
            <a:ext cx="17297400" cy="38100"/>
            <a:chOff x="0" y="0"/>
            <a:chExt cx="23063200" cy="50800"/>
          </a:xfrm>
        </p:grpSpPr>
        <p:sp>
          <p:nvSpPr>
            <p:cNvPr name="Freeform 12" id="12"/>
            <p:cNvSpPr/>
            <p:nvPr/>
          </p:nvSpPr>
          <p:spPr>
            <a:xfrm flipH="false" flipV="false" rot="0">
              <a:off x="0" y="0"/>
              <a:ext cx="23063200" cy="50800"/>
            </a:xfrm>
            <a:custGeom>
              <a:avLst/>
              <a:gdLst/>
              <a:ahLst/>
              <a:cxnLst/>
              <a:rect r="r" b="b" t="t" l="l"/>
              <a:pathLst>
                <a:path h="50800" w="23063200">
                  <a:moveTo>
                    <a:pt x="0" y="0"/>
                  </a:moveTo>
                  <a:lnTo>
                    <a:pt x="23063200" y="50800"/>
                  </a:lnTo>
                </a:path>
              </a:pathLst>
            </a:custGeom>
            <a:blipFill>
              <a:blip r:embed="rId2">
                <a:alphaModFix amt="0"/>
              </a:blip>
              <a:stretch>
                <a:fillRect l="0" t="-8796207" r="0" b="-8796207"/>
              </a:stretch>
            </a:blipFill>
            <a:ln w="38100" cap="sq">
              <a:solidFill>
                <a:srgbClr val="4D4D4D"/>
              </a:solidFill>
              <a:prstDash val="solid"/>
              <a:miter/>
            </a:ln>
          </p:spPr>
        </p:sp>
      </p:grpSp>
      <p:sp>
        <p:nvSpPr>
          <p:cNvPr name="TextBox 13" id="13"/>
          <p:cNvSpPr txBox="true"/>
          <p:nvPr/>
        </p:nvSpPr>
        <p:spPr>
          <a:xfrm rot="0">
            <a:off x="14098305" y="9535792"/>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245078" y="378152"/>
            <a:ext cx="16428082" cy="954989"/>
          </a:xfrm>
          <a:prstGeom prst="rect">
            <a:avLst/>
          </a:prstGeom>
        </p:spPr>
        <p:txBody>
          <a:bodyPr anchor="t" rtlCol="false" tIns="0" lIns="0" bIns="0" rIns="0">
            <a:spAutoFit/>
          </a:bodyPr>
          <a:lstStyle/>
          <a:p>
            <a:pPr algn="l">
              <a:lnSpc>
                <a:spcPts val="7738"/>
              </a:lnSpc>
            </a:pPr>
            <a:r>
              <a:rPr lang="en-US" sz="5528">
                <a:solidFill>
                  <a:srgbClr val="FDA104"/>
                </a:solidFill>
                <a:latin typeface="Gagalin"/>
                <a:ea typeface="Gagalin"/>
                <a:cs typeface="Gagalin"/>
                <a:sym typeface="Gagalin"/>
              </a:rPr>
              <a:t>LIVE DEMO</a:t>
            </a:r>
          </a:p>
        </p:txBody>
      </p:sp>
      <p:sp>
        <p:nvSpPr>
          <p:cNvPr name="TextBox 15" id="15"/>
          <p:cNvSpPr txBox="true"/>
          <p:nvPr/>
        </p:nvSpPr>
        <p:spPr>
          <a:xfrm rot="0">
            <a:off x="1028700" y="5167312"/>
            <a:ext cx="15153028" cy="1201600"/>
          </a:xfrm>
          <a:prstGeom prst="rect">
            <a:avLst/>
          </a:prstGeom>
        </p:spPr>
        <p:txBody>
          <a:bodyPr anchor="t" rtlCol="false" tIns="0" lIns="0" bIns="0" rIns="0">
            <a:spAutoFit/>
          </a:bodyPr>
          <a:lstStyle/>
          <a:p>
            <a:pPr algn="ctr">
              <a:lnSpc>
                <a:spcPts val="10314"/>
              </a:lnSpc>
            </a:pPr>
            <a:r>
              <a:rPr lang="en-US" sz="5667">
                <a:solidFill>
                  <a:srgbClr val="FFFFFF"/>
                </a:solidFill>
                <a:latin typeface="Antic Bold"/>
                <a:ea typeface="Antic Bold"/>
                <a:cs typeface="Antic Bold"/>
                <a:sym typeface="Antic Bold"/>
              </a:rPr>
              <a:t>DEMO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D1117"/>
        </a:solidFill>
      </p:bgPr>
    </p:bg>
    <p:spTree>
      <p:nvGrpSpPr>
        <p:cNvPr id="1" name=""/>
        <p:cNvGrpSpPr/>
        <p:nvPr/>
      </p:nvGrpSpPr>
      <p:grpSpPr>
        <a:xfrm>
          <a:off x="0" y="0"/>
          <a:ext cx="0" cy="0"/>
          <a:chOff x="0" y="0"/>
          <a:chExt cx="0" cy="0"/>
        </a:xfrm>
      </p:grpSpPr>
      <p:sp>
        <p:nvSpPr>
          <p:cNvPr name="Freeform 2" id="2"/>
          <p:cNvSpPr/>
          <p:nvPr/>
        </p:nvSpPr>
        <p:spPr>
          <a:xfrm flipH="false" flipV="false" rot="0">
            <a:off x="-1491015"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775228" y="-6376749"/>
            <a:ext cx="8266243" cy="8266243"/>
          </a:xfrm>
          <a:custGeom>
            <a:avLst/>
            <a:gdLst/>
            <a:ahLst/>
            <a:cxnLst/>
            <a:rect r="r" b="b" t="t" l="l"/>
            <a:pathLst>
              <a:path h="8266243" w="8266243">
                <a:moveTo>
                  <a:pt x="0" y="0"/>
                </a:moveTo>
                <a:lnTo>
                  <a:pt x="8266242" y="0"/>
                </a:lnTo>
                <a:lnTo>
                  <a:pt x="8266242"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1470" y="-6376749"/>
            <a:ext cx="8266243" cy="8266243"/>
          </a:xfrm>
          <a:custGeom>
            <a:avLst/>
            <a:gdLst/>
            <a:ahLst/>
            <a:cxnLst/>
            <a:rect r="r" b="b" t="t" l="l"/>
            <a:pathLst>
              <a:path h="8266243" w="8266243">
                <a:moveTo>
                  <a:pt x="0" y="0"/>
                </a:moveTo>
                <a:lnTo>
                  <a:pt x="8266243" y="0"/>
                </a:lnTo>
                <a:lnTo>
                  <a:pt x="8266243" y="8266242"/>
                </a:lnTo>
                <a:lnTo>
                  <a:pt x="0" y="82662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326946" y="2246728"/>
            <a:ext cx="2315166" cy="3492046"/>
          </a:xfrm>
          <a:custGeom>
            <a:avLst/>
            <a:gdLst/>
            <a:ahLst/>
            <a:cxnLst/>
            <a:rect r="r" b="b" t="t" l="l"/>
            <a:pathLst>
              <a:path h="3492046" w="2315166">
                <a:moveTo>
                  <a:pt x="0" y="0"/>
                </a:moveTo>
                <a:lnTo>
                  <a:pt x="2315165" y="0"/>
                </a:lnTo>
                <a:lnTo>
                  <a:pt x="2315165" y="3492046"/>
                </a:lnTo>
                <a:lnTo>
                  <a:pt x="0" y="349204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4071" y="2373278"/>
            <a:ext cx="1980905" cy="2477110"/>
          </a:xfrm>
          <a:prstGeom prst="rect">
            <a:avLst/>
          </a:prstGeom>
        </p:spPr>
        <p:txBody>
          <a:bodyPr anchor="t" rtlCol="false" tIns="0" lIns="0" bIns="0" rIns="0">
            <a:spAutoFit/>
          </a:bodyPr>
          <a:lstStyle/>
          <a:p>
            <a:pPr algn="ctr">
              <a:lnSpc>
                <a:spcPts val="9939"/>
              </a:lnSpc>
            </a:pPr>
            <a:r>
              <a:rPr lang="en-US" sz="7098">
                <a:solidFill>
                  <a:srgbClr val="000000"/>
                </a:solidFill>
                <a:latin typeface="Gagalin"/>
                <a:ea typeface="Gagalin"/>
                <a:cs typeface="Gagalin"/>
                <a:sym typeface="Gagalin"/>
              </a:rPr>
              <a:t>week</a:t>
            </a:r>
          </a:p>
          <a:p>
            <a:pPr algn="ctr">
              <a:lnSpc>
                <a:spcPts val="9939"/>
              </a:lnSpc>
            </a:pPr>
            <a:r>
              <a:rPr lang="en-US" sz="7098">
                <a:solidFill>
                  <a:srgbClr val="000000"/>
                </a:solidFill>
                <a:latin typeface="Gagalin"/>
                <a:ea typeface="Gagalin"/>
                <a:cs typeface="Gagalin"/>
                <a:sym typeface="Gagalin"/>
              </a:rPr>
              <a:t>5</a:t>
            </a:r>
          </a:p>
        </p:txBody>
      </p:sp>
      <p:sp>
        <p:nvSpPr>
          <p:cNvPr name="Freeform 7" id="7"/>
          <p:cNvSpPr/>
          <p:nvPr/>
        </p:nvSpPr>
        <p:spPr>
          <a:xfrm flipH="false" flipV="false" rot="0">
            <a:off x="2642111" y="4285412"/>
            <a:ext cx="15162552" cy="3611442"/>
          </a:xfrm>
          <a:custGeom>
            <a:avLst/>
            <a:gdLst/>
            <a:ahLst/>
            <a:cxnLst/>
            <a:rect r="r" b="b" t="t" l="l"/>
            <a:pathLst>
              <a:path h="3611442" w="15162552">
                <a:moveTo>
                  <a:pt x="0" y="0"/>
                </a:moveTo>
                <a:lnTo>
                  <a:pt x="15162552" y="0"/>
                </a:lnTo>
                <a:lnTo>
                  <a:pt x="15162552" y="3611442"/>
                </a:lnTo>
                <a:lnTo>
                  <a:pt x="0" y="3611442"/>
                </a:lnTo>
                <a:lnTo>
                  <a:pt x="0" y="0"/>
                </a:lnTo>
                <a:close/>
              </a:path>
            </a:pathLst>
          </a:custGeom>
          <a:blipFill>
            <a:blip r:embed="rId6">
              <a:extLst>
                <a:ext uri="{96DAC541-7B7A-43D3-8B79-37D633B846F1}">
                  <asvg:svgBlip xmlns:asvg="http://schemas.microsoft.com/office/drawing/2016/SVG/main" r:embed="rId7"/>
                </a:ext>
              </a:extLst>
            </a:blip>
            <a:stretch>
              <a:fillRect l="-80" t="0" r="-80" b="0"/>
            </a:stretch>
          </a:blipFill>
        </p:spPr>
      </p:sp>
      <p:sp>
        <p:nvSpPr>
          <p:cNvPr name="TextBox 8" id="8"/>
          <p:cNvSpPr txBox="true"/>
          <p:nvPr/>
        </p:nvSpPr>
        <p:spPr>
          <a:xfrm rot="0">
            <a:off x="3839251" y="2079527"/>
            <a:ext cx="12768272" cy="5346611"/>
          </a:xfrm>
          <a:prstGeom prst="rect">
            <a:avLst/>
          </a:prstGeom>
        </p:spPr>
        <p:txBody>
          <a:bodyPr anchor="t" rtlCol="false" tIns="0" lIns="0" bIns="0" rIns="0">
            <a:spAutoFit/>
          </a:bodyPr>
          <a:lstStyle/>
          <a:p>
            <a:pPr algn="ctr">
              <a:lnSpc>
                <a:spcPts val="20300"/>
              </a:lnSpc>
            </a:pPr>
            <a:r>
              <a:rPr lang="en-US" sz="14500">
                <a:solidFill>
                  <a:srgbClr val="FDA104"/>
                </a:solidFill>
                <a:latin typeface="Gagalin"/>
                <a:ea typeface="Gagalin"/>
                <a:cs typeface="Gagalin"/>
                <a:sym typeface="Gagalin"/>
              </a:rPr>
              <a:t>Any</a:t>
            </a:r>
          </a:p>
          <a:p>
            <a:pPr algn="ctr">
              <a:lnSpc>
                <a:spcPts val="20300"/>
              </a:lnSpc>
            </a:pPr>
            <a:r>
              <a:rPr lang="en-US" sz="14500">
                <a:solidFill>
                  <a:srgbClr val="FFFFFF"/>
                </a:solidFill>
                <a:latin typeface="Gagalin"/>
                <a:ea typeface="Gagalin"/>
                <a:cs typeface="Gagalin"/>
                <a:sym typeface="Gagalin"/>
              </a:rPr>
              <a:t>questions??</a:t>
            </a:r>
          </a:p>
        </p:txBody>
      </p:sp>
      <p:sp>
        <p:nvSpPr>
          <p:cNvPr name="TextBox 9" id="9"/>
          <p:cNvSpPr txBox="true"/>
          <p:nvPr/>
        </p:nvSpPr>
        <p:spPr>
          <a:xfrm rot="0">
            <a:off x="623306" y="5538740"/>
            <a:ext cx="2018805" cy="2034035"/>
          </a:xfrm>
          <a:prstGeom prst="rect">
            <a:avLst/>
          </a:prstGeom>
        </p:spPr>
        <p:txBody>
          <a:bodyPr anchor="t" rtlCol="false" tIns="0" lIns="0" bIns="0" rIns="0">
            <a:spAutoFit/>
          </a:bodyPr>
          <a:lstStyle/>
          <a:p>
            <a:pPr algn="ctr">
              <a:lnSpc>
                <a:spcPts val="7811"/>
              </a:lnSpc>
            </a:pPr>
            <a:r>
              <a:rPr lang="en-US" sz="5578">
                <a:solidFill>
                  <a:srgbClr val="FFFFFF"/>
                </a:solidFill>
                <a:latin typeface="Gagalin"/>
                <a:ea typeface="Gagalin"/>
                <a:cs typeface="Gagalin"/>
                <a:sym typeface="Gagalin"/>
              </a:rPr>
              <a:t>CLOUD </a:t>
            </a:r>
          </a:p>
          <a:p>
            <a:pPr algn="ctr">
              <a:lnSpc>
                <a:spcPts val="7811"/>
              </a:lnSpc>
            </a:pPr>
          </a:p>
        </p:txBody>
      </p:sp>
      <p:sp>
        <p:nvSpPr>
          <p:cNvPr name="TextBox 10" id="10"/>
          <p:cNvSpPr txBox="true"/>
          <p:nvPr/>
        </p:nvSpPr>
        <p:spPr>
          <a:xfrm rot="0">
            <a:off x="604256" y="6382045"/>
            <a:ext cx="1825371" cy="2034026"/>
          </a:xfrm>
          <a:prstGeom prst="rect">
            <a:avLst/>
          </a:prstGeom>
        </p:spPr>
        <p:txBody>
          <a:bodyPr anchor="t" rtlCol="false" tIns="0" lIns="0" bIns="0" rIns="0">
            <a:spAutoFit/>
          </a:bodyPr>
          <a:lstStyle/>
          <a:p>
            <a:pPr algn="ctr">
              <a:lnSpc>
                <a:spcPts val="7811"/>
              </a:lnSpc>
            </a:pPr>
            <a:r>
              <a:rPr lang="en-US" sz="5578">
                <a:solidFill>
                  <a:srgbClr val="FDA104"/>
                </a:solidFill>
                <a:latin typeface="Gagalin"/>
                <a:ea typeface="Gagalin"/>
                <a:cs typeface="Gagalin"/>
                <a:sym typeface="Gagalin"/>
              </a:rPr>
              <a:t>FORGE</a:t>
            </a:r>
          </a:p>
          <a:p>
            <a:pPr algn="ctr">
              <a:lnSpc>
                <a:spcPts val="7811"/>
              </a:lnSpc>
            </a:pPr>
          </a:p>
        </p:txBody>
      </p:sp>
      <p:sp>
        <p:nvSpPr>
          <p:cNvPr name="TextBox 11" id="11"/>
          <p:cNvSpPr txBox="true"/>
          <p:nvPr/>
        </p:nvSpPr>
        <p:spPr>
          <a:xfrm rot="0">
            <a:off x="-1002992" y="-100012"/>
            <a:ext cx="8884891" cy="580711"/>
          </a:xfrm>
          <a:prstGeom prst="rect">
            <a:avLst/>
          </a:prstGeom>
        </p:spPr>
        <p:txBody>
          <a:bodyPr anchor="t" rtlCol="false" tIns="0" lIns="0" bIns="0" rIns="0">
            <a:spAutoFit/>
          </a:bodyPr>
          <a:lstStyle/>
          <a:p>
            <a:pPr algn="ctr">
              <a:lnSpc>
                <a:spcPts val="4480"/>
              </a:lnSpc>
            </a:pPr>
            <a:r>
              <a:rPr lang="en-US" sz="3200" b="true">
                <a:solidFill>
                  <a:srgbClr val="FDA104"/>
                </a:solidFill>
                <a:latin typeface="Inter Bold"/>
                <a:ea typeface="Inter Bold"/>
                <a:cs typeface="Inter Bold"/>
                <a:sym typeface="Inter Bold"/>
              </a:rPr>
              <a:t>AWS STUDENT BUILDER GROUP</a:t>
            </a:r>
          </a:p>
        </p:txBody>
      </p:sp>
      <p:sp>
        <p:nvSpPr>
          <p:cNvPr name="TextBox 12" id="12"/>
          <p:cNvSpPr txBox="true"/>
          <p:nvPr/>
        </p:nvSpPr>
        <p:spPr>
          <a:xfrm rot="0">
            <a:off x="921458" y="413861"/>
            <a:ext cx="5667785" cy="424967"/>
          </a:xfrm>
          <a:prstGeom prst="rect">
            <a:avLst/>
          </a:prstGeom>
        </p:spPr>
        <p:txBody>
          <a:bodyPr anchor="t" rtlCol="false" tIns="0" lIns="0" bIns="0" rIns="0">
            <a:spAutoFit/>
          </a:bodyPr>
          <a:lstStyle/>
          <a:p>
            <a:pPr algn="ctr">
              <a:lnSpc>
                <a:spcPts val="3220"/>
              </a:lnSpc>
            </a:pPr>
            <a:r>
              <a:rPr lang="en-US" sz="2300" i="true">
                <a:solidFill>
                  <a:srgbClr val="FDA104"/>
                </a:solidFill>
                <a:latin typeface="Inter Italics"/>
                <a:ea typeface="Inter Italics"/>
                <a:cs typeface="Inter Italics"/>
                <a:sym typeface="Inter Italics"/>
              </a:rPr>
              <a:t>EGERTON UNIVERSITY</a:t>
            </a:r>
          </a:p>
        </p:txBody>
      </p:sp>
      <p:sp>
        <p:nvSpPr>
          <p:cNvPr name="TextBox 13" id="13"/>
          <p:cNvSpPr txBox="true"/>
          <p:nvPr/>
        </p:nvSpPr>
        <p:spPr>
          <a:xfrm rot="0">
            <a:off x="14360119" y="9201150"/>
            <a:ext cx="4591860" cy="391792"/>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#AwsStudentbuilders</a:t>
            </a:r>
          </a:p>
        </p:txBody>
      </p:sp>
      <p:sp>
        <p:nvSpPr>
          <p:cNvPr name="TextBox 14" id="14"/>
          <p:cNvSpPr txBox="true"/>
          <p:nvPr/>
        </p:nvSpPr>
        <p:spPr>
          <a:xfrm rot="0">
            <a:off x="3348585" y="9181176"/>
            <a:ext cx="1517600"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9th July</a:t>
            </a:r>
            <a:r>
              <a:rPr lang="en-US" sz="2200">
                <a:solidFill>
                  <a:srgbClr val="4D4D4D"/>
                </a:solidFill>
                <a:latin typeface="Anton"/>
                <a:ea typeface="Anton"/>
                <a:cs typeface="Anton"/>
                <a:sym typeface="Anton"/>
              </a:rPr>
              <a:t> 2026</a:t>
            </a:r>
          </a:p>
        </p:txBody>
      </p:sp>
      <p:sp>
        <p:nvSpPr>
          <p:cNvPr name="TextBox 15" id="15"/>
          <p:cNvSpPr txBox="true"/>
          <p:nvPr/>
        </p:nvSpPr>
        <p:spPr>
          <a:xfrm rot="0">
            <a:off x="0" y="9201150"/>
            <a:ext cx="2429627" cy="363220"/>
          </a:xfrm>
          <a:prstGeom prst="rect">
            <a:avLst/>
          </a:prstGeom>
        </p:spPr>
        <p:txBody>
          <a:bodyPr anchor="t" rtlCol="false" tIns="0" lIns="0" bIns="0" rIns="0">
            <a:spAutoFit/>
          </a:bodyPr>
          <a:lstStyle/>
          <a:p>
            <a:pPr algn="ctr">
              <a:lnSpc>
                <a:spcPts val="3079"/>
              </a:lnSpc>
            </a:pPr>
            <a:r>
              <a:rPr lang="en-US" sz="2200">
                <a:solidFill>
                  <a:srgbClr val="4D4D4D"/>
                </a:solidFill>
                <a:latin typeface="Anton"/>
                <a:ea typeface="Anton"/>
                <a:cs typeface="Anton"/>
                <a:sym typeface="Anton"/>
              </a:rPr>
              <a:t>Ephy Kimotho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DAHO0LRfR4c</dc:identifier>
  <dcterms:modified xsi:type="dcterms:W3CDTF">2011-08-01T06:04:30Z</dcterms:modified>
  <cp:revision>1</cp:revision>
  <dc:title>Week 5 scaling and load balancing</dc:title>
</cp:coreProperties>
</file>