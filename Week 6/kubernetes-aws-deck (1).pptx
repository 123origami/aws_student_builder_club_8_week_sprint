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0F1B2D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Cloud Forge Week 6  //  Kubernetes Core Concepts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8778240" y="457200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344F"/>
              </a:buClr>
              <a:buSzPts val="18000"/>
              <a:buFont typeface="Arial"/>
              <a:buNone/>
            </a:pPr>
            <a:r>
              <a:rPr b="1" i="0" lang="en-US" sz="18000" u="none" cap="none" strike="noStrike">
                <a:solidFill>
                  <a:srgbClr val="22344F"/>
                </a:solidFill>
                <a:latin typeface="Arial"/>
                <a:ea typeface="Arial"/>
                <a:cs typeface="Arial"/>
                <a:sym typeface="Arial"/>
              </a:rPr>
              <a:t>K8s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731520" y="219456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KUBERNETES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731520" y="32918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Core Concepts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777240" y="40233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2600"/>
              <a:buFont typeface="Calibri"/>
              <a:buNone/>
            </a:pPr>
            <a:r>
              <a:rPr b="0" i="1" lang="en-US" sz="26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and where they meet AWS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731520" y="539496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960120" y="5285232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Cloud Forge Week 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960120" y="56235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AWS Student Builder Group  //  Egerton University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Presented by </a:t>
            </a:r>
            <a:r>
              <a:rPr i="1" lang="en-US" sz="1200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Cecil Lwala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01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Tonight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548640" y="128016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731520" y="2112264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1051560" y="1920240"/>
            <a:ext cx="10195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The story: how we got to Kubernetes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731520" y="2798064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1051560" y="2606040"/>
            <a:ext cx="10195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The six concepts, one at a time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731520" y="3483864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1051560" y="3291840"/>
            <a:ext cx="10195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6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 demo on a VPS</a:t>
            </a:r>
            <a:endParaRPr sz="2600">
              <a:solidFill>
                <a:srgbClr val="F2F4F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600"/>
              <a:buFont typeface="Calibri"/>
              <a:buNone/>
            </a:pPr>
            <a:r>
              <a:t/>
            </a:r>
            <a:endParaRPr sz="2600">
              <a:solidFill>
                <a:srgbClr val="F2F4F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731520" y="4169664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1051560" y="3977640"/>
            <a:ext cx="10195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What's actually running underneath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731520" y="5852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Questions welcome at the end.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02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SECTION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548640" y="914400"/>
            <a:ext cx="1109167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we got here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548640" y="1874520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From bare servers to Kubernetes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548640" y="3017520"/>
            <a:ext cx="11091672" cy="3200400"/>
          </a:xfrm>
          <a:prstGeom prst="roundRect">
            <a:avLst>
              <a:gd fmla="val 2286" name="adj"/>
            </a:avLst>
          </a:prstGeom>
          <a:solidFill>
            <a:srgbClr val="1A2A44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One app, one server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822960" y="4151376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1143000" y="3977640"/>
            <a:ext cx="10195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SSH in, install what you need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822960" y="4700016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1143000" y="4526280"/>
            <a:ext cx="10195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Configure the OS the way this app wants it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822960" y="5248656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1143000" y="5074920"/>
            <a:ext cx="10195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Hope you documented what you did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03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Docker: ship the code AND its environment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548640" y="128016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731520" y="2295144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7"/>
          <p:cNvSpPr/>
          <p:nvPr/>
        </p:nvSpPr>
        <p:spPr>
          <a:xfrm>
            <a:off x="1051560" y="2103120"/>
            <a:ext cx="10195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App + dependencies + libraries into one image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731520" y="3072384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1051560" y="2880360"/>
            <a:ext cx="10195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Same image runs on your laptop, a VPS, the cloud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731520" y="3849624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1051560" y="3657600"/>
            <a:ext cx="10195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Isolated from the host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731520" y="4626864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1051560" y="4434840"/>
            <a:ext cx="10195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The "works on my machine" problem, solved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04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Containers solved one thing, created another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548640" y="128016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548640" y="2011680"/>
            <a:ext cx="5394960" cy="4206240"/>
          </a:xfrm>
          <a:prstGeom prst="roundRect">
            <a:avLst>
              <a:gd fmla="val 1739" name="adj"/>
            </a:avLst>
          </a:prstGeom>
          <a:solidFill>
            <a:srgbClr val="1A2A44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8"/>
          <p:cNvSpPr/>
          <p:nvPr/>
        </p:nvSpPr>
        <p:spPr>
          <a:xfrm>
            <a:off x="777240" y="21488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The new problem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777240" y="2903220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"/>
          <p:cNvSpPr/>
          <p:nvPr/>
        </p:nvSpPr>
        <p:spPr>
          <a:xfrm>
            <a:off x="1097280" y="274320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What if a container crashes?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777240" y="3451860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/>
          <p:cNvSpPr/>
          <p:nvPr/>
        </p:nvSpPr>
        <p:spPr>
          <a:xfrm>
            <a:off x="1097280" y="329184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What if traffic doubles?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777240" y="4000500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/>
          <p:cNvSpPr/>
          <p:nvPr/>
        </p:nvSpPr>
        <p:spPr>
          <a:xfrm>
            <a:off x="1097280" y="384048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How do containers find each other?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777240" y="4549140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1097280" y="438912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How do you roll out safely?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6217920" y="2011680"/>
            <a:ext cx="5394960" cy="4206240"/>
          </a:xfrm>
          <a:prstGeom prst="roundRect">
            <a:avLst>
              <a:gd fmla="val 1739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6446520" y="21488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The answer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6446520" y="2903220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6766560" y="274320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Kubernetes: the container orchestrator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6446520" y="3451860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"/>
          <p:cNvSpPr/>
          <p:nvPr/>
        </p:nvSpPr>
        <p:spPr>
          <a:xfrm>
            <a:off x="6766560" y="329184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Runs containers across a group of machines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6446520" y="4000500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6766560" y="384048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Heals, scales, updates, routes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6446520" y="4549140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6766560" y="438912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Came from Google, open-sourced 2014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05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 the first orchestrator. The one that stuck.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548640" y="128016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"/>
          <p:cNvSpPr/>
          <p:nvPr/>
        </p:nvSpPr>
        <p:spPr>
          <a:xfrm>
            <a:off x="731520" y="2194560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"/>
          <p:cNvSpPr/>
          <p:nvPr/>
        </p:nvSpPr>
        <p:spPr>
          <a:xfrm>
            <a:off x="1051560" y="2011680"/>
            <a:ext cx="10195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Open source, vendor-neutral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731520" y="2834640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"/>
          <p:cNvSpPr/>
          <p:nvPr/>
        </p:nvSpPr>
        <p:spPr>
          <a:xfrm>
            <a:off x="1051560" y="2651760"/>
            <a:ext cx="10195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Runs anywhere: laptop, on-prem, every cloud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731520" y="3474720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1051560" y="3291840"/>
            <a:ext cx="10195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Enormous ecosystem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731520" y="4114800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1051560" y="3931920"/>
            <a:ext cx="10195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The industry standard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1371600" y="5029200"/>
            <a:ext cx="9418320" cy="1280160"/>
          </a:xfrm>
          <a:prstGeom prst="roundRect">
            <a:avLst>
              <a:gd fmla="val 5714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1371600" y="5029200"/>
            <a:ext cx="9418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Learn Kubernetes once. Deploy anywhere.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06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SECTION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548640" y="914400"/>
            <a:ext cx="1109167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six concepts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548640" y="1874520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(plus a couple of supporting ideas)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914400" y="3108960"/>
            <a:ext cx="10332720" cy="3017520"/>
          </a:xfrm>
          <a:prstGeom prst="roundRect">
            <a:avLst>
              <a:gd fmla="val 2424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"/>
          <p:cNvSpPr/>
          <p:nvPr/>
        </p:nvSpPr>
        <p:spPr>
          <a:xfrm>
            <a:off x="914400" y="3108960"/>
            <a:ext cx="103327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 describe what you want.</a:t>
            </a:r>
            <a:b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Kubernetes makes it real.</a:t>
            </a:r>
            <a:br>
              <a:rPr b="1" i="0" lang="en-US" sz="4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4000" u="none" cap="none" strike="noStrike">
                <a:solidFill>
                  <a:srgbClr val="A3B0C2"/>
                </a:solidFill>
                <a:latin typeface="Arial"/>
                <a:ea typeface="Arial"/>
                <a:cs typeface="Arial"/>
                <a:sym typeface="Arial"/>
              </a:rPr>
              <a:t>Then it keeps making it real.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07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/>
          <p:nvPr/>
        </p:nvSpPr>
        <p:spPr>
          <a:xfrm>
            <a:off x="9601200" y="182880"/>
            <a:ext cx="21945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344F"/>
              </a:buClr>
              <a:buSzPts val="18000"/>
              <a:buFont typeface="Arial"/>
              <a:buNone/>
            </a:pPr>
            <a:r>
              <a:rPr b="1" i="0" lang="en-US" sz="18000" u="none" cap="none" strike="noStrike">
                <a:solidFill>
                  <a:srgbClr val="22344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CONCEPT 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Clusters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548640" y="1874520"/>
            <a:ext cx="11091672" cy="822960"/>
          </a:xfrm>
          <a:prstGeom prst="roundRect">
            <a:avLst>
              <a:gd fmla="val 8889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640080" y="1828800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51560" y="1874520"/>
            <a:ext cx="104515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The arena itself: a set of machines working as one under Kubernetes control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731520" y="3191256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"/>
          <p:cNvSpPr/>
          <p:nvPr/>
        </p:nvSpPr>
        <p:spPr>
          <a:xfrm>
            <a:off x="1051560" y="3017520"/>
            <a:ext cx="10195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A group of machines that behave like one system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731520" y="3831336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1"/>
          <p:cNvSpPr/>
          <p:nvPr/>
        </p:nvSpPr>
        <p:spPr>
          <a:xfrm>
            <a:off x="1051560" y="3657600"/>
            <a:ext cx="10195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Two roles inside: control plane (the brain), worker nodes (the muscle)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731520" y="4471416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"/>
          <p:cNvSpPr/>
          <p:nvPr/>
        </p:nvSpPr>
        <p:spPr>
          <a:xfrm>
            <a:off x="1051560" y="4297680"/>
            <a:ext cx="10195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You talk to the cluster, not to individual machines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08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/>
          <p:nvPr/>
        </p:nvSpPr>
        <p:spPr>
          <a:xfrm>
            <a:off x="9601200" y="182880"/>
            <a:ext cx="21945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344F"/>
              </a:buClr>
              <a:buSzPts val="18000"/>
              <a:buFont typeface="Arial"/>
              <a:buNone/>
            </a:pPr>
            <a:r>
              <a:rPr b="1" i="0" lang="en-US" sz="18000" u="none" cap="none" strike="noStrike">
                <a:solidFill>
                  <a:srgbClr val="22344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CONCEPT 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Nodes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548640" y="1874520"/>
            <a:ext cx="11091672" cy="822960"/>
          </a:xfrm>
          <a:prstGeom prst="roundRect">
            <a:avLst>
              <a:gd fmla="val 8889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"/>
          <p:cNvSpPr/>
          <p:nvPr/>
        </p:nvSpPr>
        <p:spPr>
          <a:xfrm>
            <a:off x="640080" y="1828800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1051560" y="1874520"/>
            <a:ext cx="104515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The individual tributes: worker machines that run your workloads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731520" y="318211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/>
          <p:cNvSpPr/>
          <p:nvPr/>
        </p:nvSpPr>
        <p:spPr>
          <a:xfrm>
            <a:off x="1051560" y="3017520"/>
            <a:ext cx="6537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One machine in the cluster (EC2 instance, VPS, laptop VM)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731520" y="386791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"/>
          <p:cNvSpPr/>
          <p:nvPr/>
        </p:nvSpPr>
        <p:spPr>
          <a:xfrm>
            <a:off x="1051560" y="3703320"/>
            <a:ext cx="6537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Every node runs an agent called the </a:t>
            </a:r>
            <a:r>
              <a:rPr b="1" i="0" lang="en-US" sz="2000" u="none" cap="none" strike="noStrike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kubelet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731520" y="455371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"/>
          <p:cNvSpPr/>
          <p:nvPr/>
        </p:nvSpPr>
        <p:spPr>
          <a:xfrm>
            <a:off x="1051560" y="4389120"/>
            <a:ext cx="6537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If a node dies, Kubernetes reschedules its work elsewhere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7863840" y="3017520"/>
            <a:ext cx="3794760" cy="3017520"/>
          </a:xfrm>
          <a:prstGeom prst="roundRect">
            <a:avLst>
              <a:gd fmla="val 2424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"/>
          <p:cNvSpPr/>
          <p:nvPr/>
        </p:nvSpPr>
        <p:spPr>
          <a:xfrm>
            <a:off x="8046720" y="31089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Three "kube" tools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8046720" y="35204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kubelet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8046720" y="381304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agent on every node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8046720" y="42976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kubeadm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8046720" y="459028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bootstraps the cluster (once)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8046720" y="50749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kubectl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8046720" y="536752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the command-line client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09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/>
          <p:nvPr/>
        </p:nvSpPr>
        <p:spPr>
          <a:xfrm>
            <a:off x="9601200" y="182880"/>
            <a:ext cx="21945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344F"/>
              </a:buClr>
              <a:buSzPts val="18000"/>
              <a:buFont typeface="Arial"/>
              <a:buNone/>
            </a:pPr>
            <a:r>
              <a:rPr b="1" i="0" lang="en-US" sz="18000" u="none" cap="none" strike="noStrike">
                <a:solidFill>
                  <a:srgbClr val="22344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CONCEPT 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Pods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548640" y="1874520"/>
            <a:ext cx="11091672" cy="822960"/>
          </a:xfrm>
          <a:prstGeom prst="roundRect">
            <a:avLst>
              <a:gd fmla="val 8889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"/>
          <p:cNvSpPr/>
          <p:nvPr/>
        </p:nvSpPr>
        <p:spPr>
          <a:xfrm>
            <a:off x="640080" y="1828800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1051560" y="1874520"/>
            <a:ext cx="104515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The smallest unit of the arena: one or more containers deployed together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731520" y="318211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"/>
          <p:cNvSpPr/>
          <p:nvPr/>
        </p:nvSpPr>
        <p:spPr>
          <a:xfrm>
            <a:off x="1051560" y="3017520"/>
            <a:ext cx="6537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The smallest thing Kubernetes schedules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731520" y="377647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"/>
          <p:cNvSpPr/>
          <p:nvPr/>
        </p:nvSpPr>
        <p:spPr>
          <a:xfrm>
            <a:off x="1051560" y="3611880"/>
            <a:ext cx="6537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One (usually) or more containers, sharing an IP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731520" y="437083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3"/>
          <p:cNvSpPr/>
          <p:nvPr/>
        </p:nvSpPr>
        <p:spPr>
          <a:xfrm>
            <a:off x="1051560" y="4206240"/>
            <a:ext cx="6537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Containers in a pod can talk over localhost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731520" y="496519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3"/>
          <p:cNvSpPr/>
          <p:nvPr/>
        </p:nvSpPr>
        <p:spPr>
          <a:xfrm>
            <a:off x="1051560" y="4800600"/>
            <a:ext cx="6537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Pods are disposable: they come and go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7863840" y="3063240"/>
            <a:ext cx="3794760" cy="2971800"/>
          </a:xfrm>
          <a:prstGeom prst="roundRect">
            <a:avLst>
              <a:gd fmla="val 3692" name="adj"/>
            </a:avLst>
          </a:prstGeom>
          <a:solidFill>
            <a:srgbClr val="22344F"/>
          </a:solidFill>
          <a:ln cap="flat" cmpd="sng" w="19050">
            <a:solidFill>
              <a:srgbClr val="FF99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3"/>
          <p:cNvSpPr/>
          <p:nvPr/>
        </p:nvSpPr>
        <p:spPr>
          <a:xfrm>
            <a:off x="8001000" y="3172968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POD  //  one IP address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8092440" y="3566160"/>
            <a:ext cx="3337560" cy="777240"/>
          </a:xfrm>
          <a:prstGeom prst="roundRect">
            <a:avLst>
              <a:gd fmla="val 7059" name="adj"/>
            </a:avLst>
          </a:prstGeom>
          <a:solidFill>
            <a:srgbClr val="0A1220"/>
          </a:solidFill>
          <a:ln cap="flat" cmpd="sng" w="12700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"/>
          <p:cNvSpPr/>
          <p:nvPr/>
        </p:nvSpPr>
        <p:spPr>
          <a:xfrm>
            <a:off x="8092440" y="3566160"/>
            <a:ext cx="3337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Container 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8092440" y="4754880"/>
            <a:ext cx="3337560" cy="777240"/>
          </a:xfrm>
          <a:prstGeom prst="roundRect">
            <a:avLst>
              <a:gd fmla="val 7059" name="adj"/>
            </a:avLst>
          </a:prstGeom>
          <a:solidFill>
            <a:srgbClr val="0A1220"/>
          </a:solidFill>
          <a:ln cap="flat" cmpd="sng" w="12700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"/>
          <p:cNvSpPr/>
          <p:nvPr/>
        </p:nvSpPr>
        <p:spPr>
          <a:xfrm>
            <a:off x="8092440" y="4754880"/>
            <a:ext cx="3337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Container 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13"/>
          <p:cNvCxnSpPr/>
          <p:nvPr/>
        </p:nvCxnSpPr>
        <p:spPr>
          <a:xfrm>
            <a:off x="9761220" y="4416552"/>
            <a:ext cx="0" cy="265176"/>
          </a:xfrm>
          <a:prstGeom prst="straightConnector1">
            <a:avLst/>
          </a:prstGeom>
          <a:noFill/>
          <a:ln cap="flat" cmpd="sng" w="31750">
            <a:solidFill>
              <a:srgbClr val="FF99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4" name="Google Shape;204;p13"/>
          <p:cNvSpPr/>
          <p:nvPr/>
        </p:nvSpPr>
        <p:spPr>
          <a:xfrm>
            <a:off x="9898380" y="438454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localhost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10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/>
          <p:nvPr/>
        </p:nvSpPr>
        <p:spPr>
          <a:xfrm>
            <a:off x="9601200" y="182880"/>
            <a:ext cx="21945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344F"/>
              </a:buClr>
              <a:buSzPts val="18000"/>
              <a:buFont typeface="Arial"/>
              <a:buNone/>
            </a:pPr>
            <a:r>
              <a:rPr b="1" i="0" lang="en-US" sz="18000" u="none" cap="none" strike="noStrike">
                <a:solidFill>
                  <a:srgbClr val="22344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CONCEPT 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Deployments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548640" y="1874520"/>
            <a:ext cx="11091672" cy="822960"/>
          </a:xfrm>
          <a:prstGeom prst="roundRect">
            <a:avLst>
              <a:gd fmla="val 8889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/>
          <p:nvPr/>
        </p:nvSpPr>
        <p:spPr>
          <a:xfrm>
            <a:off x="640080" y="1828800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1051560" y="1874520"/>
            <a:ext cx="104515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Declare how many pods you want; Kubernetes fights to maintain that number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731520" y="3172968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"/>
          <p:cNvSpPr/>
          <p:nvPr/>
        </p:nvSpPr>
        <p:spPr>
          <a:xfrm>
            <a:off x="1051560" y="3017520"/>
            <a:ext cx="5166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A promise Kubernetes keeps enforcing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731520" y="3767328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"/>
          <p:cNvSpPr/>
          <p:nvPr/>
        </p:nvSpPr>
        <p:spPr>
          <a:xfrm>
            <a:off x="1051560" y="3611880"/>
            <a:ext cx="5166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Reality drifts, Kubernetes drags it back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731520" y="4361688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"/>
          <p:cNvSpPr/>
          <p:nvPr/>
        </p:nvSpPr>
        <p:spPr>
          <a:xfrm>
            <a:off x="1051560" y="4206240"/>
            <a:ext cx="5166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This is desired state 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6400800" y="2926080"/>
            <a:ext cx="5257800" cy="3383280"/>
          </a:xfrm>
          <a:prstGeom prst="roundRect">
            <a:avLst>
              <a:gd fmla="val 1622" name="adj"/>
            </a:avLst>
          </a:prstGeom>
          <a:solidFill>
            <a:srgbClr val="0A1220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"/>
          <p:cNvSpPr/>
          <p:nvPr/>
        </p:nvSpPr>
        <p:spPr>
          <a:xfrm>
            <a:off x="6583680" y="3063240"/>
            <a:ext cx="49377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apiVersion: apps/v1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kind: Deployment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metadata: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name: nginx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spec: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replicas: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selector: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matchLabels: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  app: nginx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template: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spec: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  containers: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  - name: nginx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    image: nginx:1.25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11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/>
          <p:nvPr/>
        </p:nvSpPr>
        <p:spPr>
          <a:xfrm>
            <a:off x="9601200" y="182880"/>
            <a:ext cx="21945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344F"/>
              </a:buClr>
              <a:buSzPts val="18000"/>
              <a:buFont typeface="Arial"/>
              <a:buNone/>
            </a:pPr>
            <a:r>
              <a:rPr b="1" i="0" lang="en-US" sz="18000" u="none" cap="none" strike="noStrike">
                <a:solidFill>
                  <a:srgbClr val="22344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CONCEPT 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Services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548640" y="1874520"/>
            <a:ext cx="11091672" cy="822960"/>
          </a:xfrm>
          <a:prstGeom prst="roundRect">
            <a:avLst>
              <a:gd fmla="val 8889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5"/>
          <p:cNvSpPr/>
          <p:nvPr/>
        </p:nvSpPr>
        <p:spPr>
          <a:xfrm>
            <a:off x="640080" y="1828800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1051560" y="1874520"/>
            <a:ext cx="104515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Expose your pods to traffic without caring which node they land 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731520" y="318211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5"/>
          <p:cNvSpPr/>
          <p:nvPr/>
        </p:nvSpPr>
        <p:spPr>
          <a:xfrm>
            <a:off x="1051560" y="3017520"/>
            <a:ext cx="10195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Pods change IPs; services stay stable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731520" y="368503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5"/>
          <p:cNvSpPr/>
          <p:nvPr/>
        </p:nvSpPr>
        <p:spPr>
          <a:xfrm>
            <a:off x="1051560" y="3520440"/>
            <a:ext cx="10195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Services find pods by label selectors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/>
          <p:nvPr/>
        </p:nvSpPr>
        <p:spPr>
          <a:xfrm>
            <a:off x="548640" y="4572000"/>
            <a:ext cx="3703320" cy="1645920"/>
          </a:xfrm>
          <a:prstGeom prst="roundRect">
            <a:avLst>
              <a:gd fmla="val 4444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5"/>
          <p:cNvSpPr/>
          <p:nvPr/>
        </p:nvSpPr>
        <p:spPr>
          <a:xfrm>
            <a:off x="731520" y="470916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ClusterIP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731520" y="5212080"/>
            <a:ext cx="3337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Internal only (default)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4389120" y="4572000"/>
            <a:ext cx="3703320" cy="1645920"/>
          </a:xfrm>
          <a:prstGeom prst="roundRect">
            <a:avLst>
              <a:gd fmla="val 4444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5"/>
          <p:cNvSpPr/>
          <p:nvPr/>
        </p:nvSpPr>
        <p:spPr>
          <a:xfrm>
            <a:off x="4572000" y="470916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NodePort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5"/>
          <p:cNvSpPr/>
          <p:nvPr/>
        </p:nvSpPr>
        <p:spPr>
          <a:xfrm>
            <a:off x="4572000" y="5212080"/>
            <a:ext cx="3337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Opens a port on every node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5"/>
          <p:cNvSpPr/>
          <p:nvPr/>
        </p:nvSpPr>
        <p:spPr>
          <a:xfrm>
            <a:off x="8229600" y="4572000"/>
            <a:ext cx="3703320" cy="1645920"/>
          </a:xfrm>
          <a:prstGeom prst="roundRect">
            <a:avLst>
              <a:gd fmla="val 4444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5"/>
          <p:cNvSpPr/>
          <p:nvPr/>
        </p:nvSpPr>
        <p:spPr>
          <a:xfrm>
            <a:off x="8412480" y="470916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LoadBalancer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5"/>
          <p:cNvSpPr/>
          <p:nvPr/>
        </p:nvSpPr>
        <p:spPr>
          <a:xfrm>
            <a:off x="8412480" y="5212080"/>
            <a:ext cx="3337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Asks the cloud for a real load balancer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12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BONUS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Ingress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548640" y="169164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6"/>
          <p:cNvSpPr/>
          <p:nvPr/>
        </p:nvSpPr>
        <p:spPr>
          <a:xfrm>
            <a:off x="731520" y="2377440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6"/>
          <p:cNvSpPr/>
          <p:nvPr/>
        </p:nvSpPr>
        <p:spPr>
          <a:xfrm>
            <a:off x="1051560" y="2194560"/>
            <a:ext cx="10195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Not one of the six, but you'll hear it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731520" y="3017520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6"/>
          <p:cNvSpPr/>
          <p:nvPr/>
        </p:nvSpPr>
        <p:spPr>
          <a:xfrm>
            <a:off x="1051560" y="2834640"/>
            <a:ext cx="10195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Smart routing in front of services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731520" y="3657600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6"/>
          <p:cNvSpPr/>
          <p:nvPr/>
        </p:nvSpPr>
        <p:spPr>
          <a:xfrm>
            <a:off x="1051560" y="3474720"/>
            <a:ext cx="10195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Rules like "requests to /api go here, /app goes there"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731520" y="4297680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6"/>
          <p:cNvSpPr/>
          <p:nvPr/>
        </p:nvSpPr>
        <p:spPr>
          <a:xfrm>
            <a:off x="1051560" y="4114800"/>
            <a:ext cx="10195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Handles TLS in production setups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fmla="val 7273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6"/>
          <p:cNvSpPr/>
          <p:nvPr/>
        </p:nvSpPr>
        <p:spPr>
          <a:xfrm>
            <a:off x="548640" y="5212080"/>
            <a:ext cx="1109167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We won't use ingress in tonight's demo. Just know the word.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13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"/>
          <p:cNvSpPr/>
          <p:nvPr/>
        </p:nvSpPr>
        <p:spPr>
          <a:xfrm>
            <a:off x="9601200" y="182880"/>
            <a:ext cx="21945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344F"/>
              </a:buClr>
              <a:buSzPts val="18000"/>
              <a:buFont typeface="Arial"/>
              <a:buNone/>
            </a:pPr>
            <a:r>
              <a:rPr b="1" i="0" lang="en-US" sz="18000" u="none" cap="none" strike="noStrike">
                <a:solidFill>
                  <a:srgbClr val="22344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CONCEPT 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kubectl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548640" y="1874520"/>
            <a:ext cx="11091672" cy="822960"/>
          </a:xfrm>
          <a:prstGeom prst="roundRect">
            <a:avLst>
              <a:gd fmla="val 8889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7"/>
          <p:cNvSpPr/>
          <p:nvPr/>
        </p:nvSpPr>
        <p:spPr>
          <a:xfrm>
            <a:off x="640080" y="1828800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1051560" y="1874520"/>
            <a:ext cx="104515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The command centre: run, inspect, scale, and destroy with one tool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731520" y="3172968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1051560" y="301752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The command-line client. What you actually type.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731520" y="3721608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7"/>
          <p:cNvSpPr/>
          <p:nvPr/>
        </p:nvSpPr>
        <p:spPr>
          <a:xfrm>
            <a:off x="1051560" y="356616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Not part of the cluster: an API client on your laptop.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6035040" y="2926080"/>
            <a:ext cx="5623560" cy="3291840"/>
          </a:xfrm>
          <a:prstGeom prst="roundRect">
            <a:avLst>
              <a:gd fmla="val 2222" name="adj"/>
            </a:avLst>
          </a:prstGeom>
          <a:solidFill>
            <a:srgbClr val="0A1220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7"/>
          <p:cNvSpPr/>
          <p:nvPr/>
        </p:nvSpPr>
        <p:spPr>
          <a:xfrm>
            <a:off x="6217920" y="30175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Tonight's commands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6217920" y="3383280"/>
            <a:ext cx="53035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$ kubectl get nodes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$ kubectl apply -f file.yaml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$ kubectl get pods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$ kubectl expose deployment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$ kubectl delete pod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$ kubectl scale --replicas=4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14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SECTION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548640" y="914400"/>
            <a:ext cx="1109167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Demo, Part One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548640" y="1874520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Building a Kubernetes cluster on a VPS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548640" y="2926080"/>
            <a:ext cx="11091672" cy="3200400"/>
          </a:xfrm>
          <a:prstGeom prst="roundRect">
            <a:avLst>
              <a:gd fmla="val 2286" name="adj"/>
            </a:avLst>
          </a:prstGeom>
          <a:solidFill>
            <a:srgbClr val="1A2A44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8"/>
          <p:cNvSpPr/>
          <p:nvPr/>
        </p:nvSpPr>
        <p:spPr>
          <a:xfrm>
            <a:off x="822960" y="3154680"/>
            <a:ext cx="502920" cy="502920"/>
          </a:xfrm>
          <a:prstGeom prst="ellipse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8"/>
          <p:cNvSpPr/>
          <p:nvPr/>
        </p:nvSpPr>
        <p:spPr>
          <a:xfrm>
            <a:off x="822960" y="3154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1B2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1508760" y="315468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Start with a plain VPS (2 CPUs minimum)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8"/>
          <p:cNvSpPr/>
          <p:nvPr/>
        </p:nvSpPr>
        <p:spPr>
          <a:xfrm>
            <a:off x="822960" y="3840480"/>
            <a:ext cx="502920" cy="502920"/>
          </a:xfrm>
          <a:prstGeom prst="ellipse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8"/>
          <p:cNvSpPr/>
          <p:nvPr/>
        </p:nvSpPr>
        <p:spPr>
          <a:xfrm>
            <a:off x="822960" y="38404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1B2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1508760" y="384048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Install and configure the components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822960" y="4526280"/>
            <a:ext cx="502920" cy="502920"/>
          </a:xfrm>
          <a:prstGeom prst="ellipse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8"/>
          <p:cNvSpPr/>
          <p:nvPr/>
        </p:nvSpPr>
        <p:spPr>
          <a:xfrm>
            <a:off x="822960" y="4526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1B2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1508760" y="452628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Initialise with kubeadm, add a network plugin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822960" y="5212080"/>
            <a:ext cx="502920" cy="502920"/>
          </a:xfrm>
          <a:prstGeom prst="ellipse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8"/>
          <p:cNvSpPr/>
          <p:nvPr/>
        </p:nvSpPr>
        <p:spPr>
          <a:xfrm>
            <a:off x="822960" y="5212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1B2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1508760" y="521208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Verify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15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we need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548640" y="128016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9"/>
          <p:cNvSpPr/>
          <p:nvPr/>
        </p:nvSpPr>
        <p:spPr>
          <a:xfrm>
            <a:off x="548640" y="1965960"/>
            <a:ext cx="6583680" cy="4251960"/>
          </a:xfrm>
          <a:prstGeom prst="roundRect">
            <a:avLst>
              <a:gd fmla="val 1720" name="adj"/>
            </a:avLst>
          </a:prstGeom>
          <a:solidFill>
            <a:srgbClr val="1A2A44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9"/>
          <p:cNvSpPr/>
          <p:nvPr/>
        </p:nvSpPr>
        <p:spPr>
          <a:xfrm>
            <a:off x="777240" y="21031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Five pieces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777240" y="2761488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9"/>
          <p:cNvSpPr/>
          <p:nvPr/>
        </p:nvSpPr>
        <p:spPr>
          <a:xfrm>
            <a:off x="1005840" y="2651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kubeadm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3063240" y="26517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bootstraps the cluster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777240" y="3419856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9"/>
          <p:cNvSpPr/>
          <p:nvPr/>
        </p:nvSpPr>
        <p:spPr>
          <a:xfrm>
            <a:off x="1005840" y="331012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Docker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9"/>
          <p:cNvSpPr/>
          <p:nvPr/>
        </p:nvSpPr>
        <p:spPr>
          <a:xfrm>
            <a:off x="3063240" y="331012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container runtime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9"/>
          <p:cNvSpPr/>
          <p:nvPr/>
        </p:nvSpPr>
        <p:spPr>
          <a:xfrm>
            <a:off x="777240" y="4078224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9"/>
          <p:cNvSpPr/>
          <p:nvPr/>
        </p:nvSpPr>
        <p:spPr>
          <a:xfrm>
            <a:off x="1005840" y="396849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kubectl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3063240" y="3968496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command-line client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777240" y="4736592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9"/>
          <p:cNvSpPr/>
          <p:nvPr/>
        </p:nvSpPr>
        <p:spPr>
          <a:xfrm>
            <a:off x="1005840" y="462686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kubelet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3063240" y="4626864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agent on every node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777240" y="539496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9"/>
          <p:cNvSpPr/>
          <p:nvPr/>
        </p:nvSpPr>
        <p:spPr>
          <a:xfrm>
            <a:off x="1005840" y="528523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CNI plugin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3063240" y="528523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pod networking (Flannel)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7315200" y="1965960"/>
            <a:ext cx="4343400" cy="4251960"/>
          </a:xfrm>
          <a:prstGeom prst="roundRect">
            <a:avLst>
              <a:gd fmla="val 1720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9"/>
          <p:cNvSpPr/>
          <p:nvPr/>
        </p:nvSpPr>
        <p:spPr>
          <a:xfrm>
            <a:off x="7543800" y="210312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Prerequisites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7543800" y="2852928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9"/>
          <p:cNvSpPr/>
          <p:nvPr/>
        </p:nvSpPr>
        <p:spPr>
          <a:xfrm>
            <a:off x="7772400" y="274320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A VPS with at least 2 CPUs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7543800" y="3511296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9"/>
          <p:cNvSpPr/>
          <p:nvPr/>
        </p:nvSpPr>
        <p:spPr>
          <a:xfrm>
            <a:off x="7772400" y="340156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Root or sudo access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9"/>
          <p:cNvSpPr/>
          <p:nvPr/>
        </p:nvSpPr>
        <p:spPr>
          <a:xfrm>
            <a:off x="7543800" y="4169664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9"/>
          <p:cNvSpPr/>
          <p:nvPr/>
        </p:nvSpPr>
        <p:spPr>
          <a:xfrm>
            <a:off x="7772400" y="4059936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A container image ready to deploy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16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prep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548640" y="128016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548640" y="1874520"/>
            <a:ext cx="5532120" cy="2194560"/>
          </a:xfrm>
          <a:prstGeom prst="roundRect">
            <a:avLst>
              <a:gd fmla="val 3333" name="adj"/>
            </a:avLst>
          </a:prstGeom>
          <a:solidFill>
            <a:srgbClr val="1A2A44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0"/>
          <p:cNvSpPr/>
          <p:nvPr/>
        </p:nvSpPr>
        <p:spPr>
          <a:xfrm>
            <a:off x="731520" y="2057400"/>
            <a:ext cx="365760" cy="365760"/>
          </a:xfrm>
          <a:prstGeom prst="ellipse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0"/>
          <p:cNvSpPr/>
          <p:nvPr/>
        </p:nvSpPr>
        <p:spPr>
          <a:xfrm>
            <a:off x="731520" y="2057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B2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1207008" y="203911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Turn swap off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1207008" y="23774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Kubernetes wants predictable memory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731520" y="2788920"/>
            <a:ext cx="5166360" cy="1143000"/>
          </a:xfrm>
          <a:prstGeom prst="roundRect">
            <a:avLst>
              <a:gd fmla="val 4000" name="adj"/>
            </a:avLst>
          </a:prstGeom>
          <a:solidFill>
            <a:srgbClr val="0A1220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868680" y="2834640"/>
            <a:ext cx="4983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sudo swapoff -a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sudo sed -i '/ swap / s/^/#/' /etc/fstab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6217920" y="1874520"/>
            <a:ext cx="5532120" cy="2194560"/>
          </a:xfrm>
          <a:prstGeom prst="roundRect">
            <a:avLst>
              <a:gd fmla="val 3333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"/>
          <p:cNvSpPr/>
          <p:nvPr/>
        </p:nvSpPr>
        <p:spPr>
          <a:xfrm>
            <a:off x="6400800" y="2057400"/>
            <a:ext cx="365760" cy="365760"/>
          </a:xfrm>
          <a:prstGeom prst="ellipse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0"/>
          <p:cNvSpPr/>
          <p:nvPr/>
        </p:nvSpPr>
        <p:spPr>
          <a:xfrm>
            <a:off x="6400800" y="2057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B2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6876288" y="203911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Enable IPv4 forwarding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6876288" y="23774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So pods can talk 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6400800" y="2788920"/>
            <a:ext cx="5166360" cy="1143000"/>
          </a:xfrm>
          <a:prstGeom prst="roundRect">
            <a:avLst>
              <a:gd fmla="val 4000" name="adj"/>
            </a:avLst>
          </a:prstGeom>
          <a:solidFill>
            <a:srgbClr val="0A1220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0"/>
          <p:cNvSpPr/>
          <p:nvPr/>
        </p:nvSpPr>
        <p:spPr>
          <a:xfrm>
            <a:off x="6537960" y="2834640"/>
            <a:ext cx="4983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echo "net.ipv4.ip_forward = 1" |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sudo tee /etc/sysctl.d/k8s.conf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sudo sysctl --system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548640" y="4206240"/>
            <a:ext cx="5532120" cy="2194560"/>
          </a:xfrm>
          <a:prstGeom prst="roundRect">
            <a:avLst>
              <a:gd fmla="val 3333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0"/>
          <p:cNvSpPr/>
          <p:nvPr/>
        </p:nvSpPr>
        <p:spPr>
          <a:xfrm>
            <a:off x="731520" y="4389120"/>
            <a:ext cx="365760" cy="365760"/>
          </a:xfrm>
          <a:prstGeom prst="ellipse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0"/>
          <p:cNvSpPr/>
          <p:nvPr/>
        </p:nvSpPr>
        <p:spPr>
          <a:xfrm>
            <a:off x="731520" y="43891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B2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1207008" y="437083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Load kernel modules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1207008" y="470916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overlay + br_netfilter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731520" y="5120640"/>
            <a:ext cx="5166360" cy="1143000"/>
          </a:xfrm>
          <a:prstGeom prst="roundRect">
            <a:avLst>
              <a:gd fmla="val 4000" name="adj"/>
            </a:avLst>
          </a:prstGeom>
          <a:solidFill>
            <a:srgbClr val="0A1220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0"/>
          <p:cNvSpPr/>
          <p:nvPr/>
        </p:nvSpPr>
        <p:spPr>
          <a:xfrm>
            <a:off x="868680" y="5166360"/>
            <a:ext cx="4983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echo -e "overlay\nbr_netfilter" |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sudo tee /etc/modules-load.d/k8s.conf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sudo modprobe overlay &amp;&amp; sudo modprobe br_netfilter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6217920" y="4206240"/>
            <a:ext cx="5532120" cy="2194560"/>
          </a:xfrm>
          <a:prstGeom prst="roundRect">
            <a:avLst>
              <a:gd fmla="val 3333" name="adj"/>
            </a:avLst>
          </a:prstGeom>
          <a:solidFill>
            <a:srgbClr val="1A2A44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0"/>
          <p:cNvSpPr/>
          <p:nvPr/>
        </p:nvSpPr>
        <p:spPr>
          <a:xfrm>
            <a:off x="6400800" y="4389120"/>
            <a:ext cx="365760" cy="365760"/>
          </a:xfrm>
          <a:prstGeom prst="ellipse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0"/>
          <p:cNvSpPr/>
          <p:nvPr/>
        </p:nvSpPr>
        <p:spPr>
          <a:xfrm>
            <a:off x="6400800" y="43891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B2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6876288" y="437083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Fix DNS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6876288" y="470916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mask systemd-resolved, static resolv.conf, chattr +i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17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1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Install Kubernetes and the runtime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548640" y="128016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1"/>
          <p:cNvSpPr/>
          <p:nvPr/>
        </p:nvSpPr>
        <p:spPr>
          <a:xfrm>
            <a:off x="548640" y="1965960"/>
            <a:ext cx="5394960" cy="4206240"/>
          </a:xfrm>
          <a:prstGeom prst="roundRect">
            <a:avLst>
              <a:gd fmla="val 1739" name="adj"/>
            </a:avLst>
          </a:prstGeom>
          <a:solidFill>
            <a:srgbClr val="1A2A44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1"/>
          <p:cNvSpPr/>
          <p:nvPr/>
        </p:nvSpPr>
        <p:spPr>
          <a:xfrm>
            <a:off x="777240" y="2103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Container runtime + cgroup driver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1"/>
          <p:cNvSpPr/>
          <p:nvPr/>
        </p:nvSpPr>
        <p:spPr>
          <a:xfrm>
            <a:off x="777240" y="279349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1"/>
          <p:cNvSpPr/>
          <p:nvPr/>
        </p:nvSpPr>
        <p:spPr>
          <a:xfrm>
            <a:off x="1097280" y="2651760"/>
            <a:ext cx="4617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Install Docker (standard install)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1"/>
          <p:cNvSpPr/>
          <p:nvPr/>
        </p:nvSpPr>
        <p:spPr>
          <a:xfrm>
            <a:off x="777240" y="357073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1"/>
          <p:cNvSpPr/>
          <p:nvPr/>
        </p:nvSpPr>
        <p:spPr>
          <a:xfrm>
            <a:off x="1097280" y="3429000"/>
            <a:ext cx="4617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Install cri-dockerd (bridges kubelet to Docker since K8s 1.24)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1"/>
          <p:cNvSpPr/>
          <p:nvPr/>
        </p:nvSpPr>
        <p:spPr>
          <a:xfrm>
            <a:off x="777240" y="434797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1"/>
          <p:cNvSpPr/>
          <p:nvPr/>
        </p:nvSpPr>
        <p:spPr>
          <a:xfrm>
            <a:off x="1097280" y="4206240"/>
            <a:ext cx="4617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Both Docker and kubelet must use the systemd cgroup driver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/>
          <p:nvPr/>
        </p:nvSpPr>
        <p:spPr>
          <a:xfrm>
            <a:off x="6217920" y="1965960"/>
            <a:ext cx="5440680" cy="4206240"/>
          </a:xfrm>
          <a:prstGeom prst="roundRect">
            <a:avLst>
              <a:gd fmla="val 1739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1"/>
          <p:cNvSpPr/>
          <p:nvPr/>
        </p:nvSpPr>
        <p:spPr>
          <a:xfrm>
            <a:off x="6446520" y="2103120"/>
            <a:ext cx="5074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Install kubelet, kubeadm, kubectl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6446520" y="2697480"/>
            <a:ext cx="5029200" cy="3246120"/>
          </a:xfrm>
          <a:prstGeom prst="roundRect">
            <a:avLst>
              <a:gd fmla="val 1690" name="adj"/>
            </a:avLst>
          </a:prstGeom>
          <a:solidFill>
            <a:srgbClr val="0A1220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1"/>
          <p:cNvSpPr/>
          <p:nvPr/>
        </p:nvSpPr>
        <p:spPr>
          <a:xfrm>
            <a:off x="6629400" y="2834640"/>
            <a:ext cx="470916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# Add the Kubernetes apt repo (v1.30)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# Then: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sudo apt-get install -y \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kubelet kubeadm kubectl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sudo apt-mark hold \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kubelet kubeadm kubectl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sudo systemctl enable kubelet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18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Bring the cluster up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548640" y="128016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2"/>
          <p:cNvSpPr/>
          <p:nvPr/>
        </p:nvSpPr>
        <p:spPr>
          <a:xfrm>
            <a:off x="548640" y="1874520"/>
            <a:ext cx="411480" cy="411480"/>
          </a:xfrm>
          <a:prstGeom prst="ellipse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2"/>
          <p:cNvSpPr/>
          <p:nvPr/>
        </p:nvSpPr>
        <p:spPr>
          <a:xfrm>
            <a:off x="548640" y="1874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B2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2"/>
          <p:cNvSpPr/>
          <p:nvPr/>
        </p:nvSpPr>
        <p:spPr>
          <a:xfrm>
            <a:off x="1097280" y="187452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Initialise with a custom config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2"/>
          <p:cNvSpPr/>
          <p:nvPr/>
        </p:nvSpPr>
        <p:spPr>
          <a:xfrm>
            <a:off x="1097280" y="2331720"/>
            <a:ext cx="10515600" cy="1234440"/>
          </a:xfrm>
          <a:prstGeom prst="roundRect">
            <a:avLst>
              <a:gd fmla="val 4444" name="adj"/>
            </a:avLst>
          </a:prstGeom>
          <a:solidFill>
            <a:srgbClr val="0A1220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2"/>
          <p:cNvSpPr/>
          <p:nvPr/>
        </p:nvSpPr>
        <p:spPr>
          <a:xfrm>
            <a:off x="1280160" y="2468880"/>
            <a:ext cx="101955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kubeadm config print init-defaults &gt; kubeadm-config.yaml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# edit for cgroup driver, cri-socket, etc.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sudo systemctl start cri-docker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sudo kubeadm init --config=kubeadm-config.yaml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2"/>
          <p:cNvSpPr/>
          <p:nvPr/>
        </p:nvSpPr>
        <p:spPr>
          <a:xfrm>
            <a:off x="548640" y="3703320"/>
            <a:ext cx="411480" cy="411480"/>
          </a:xfrm>
          <a:prstGeom prst="ellipse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2"/>
          <p:cNvSpPr/>
          <p:nvPr/>
        </p:nvSpPr>
        <p:spPr>
          <a:xfrm>
            <a:off x="548640" y="37033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B2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2"/>
          <p:cNvSpPr/>
          <p:nvPr/>
        </p:nvSpPr>
        <p:spPr>
          <a:xfrm>
            <a:off x="1097280" y="37033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Install a CNI plugin (Flannel: follow their GitHub instructions)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2"/>
          <p:cNvSpPr/>
          <p:nvPr/>
        </p:nvSpPr>
        <p:spPr>
          <a:xfrm>
            <a:off x="548640" y="4343400"/>
            <a:ext cx="411480" cy="411480"/>
          </a:xfrm>
          <a:prstGeom prst="ellipse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2"/>
          <p:cNvSpPr/>
          <p:nvPr/>
        </p:nvSpPr>
        <p:spPr>
          <a:xfrm>
            <a:off x="548640" y="43434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B2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1097280" y="434340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2"/>
          <p:cNvSpPr/>
          <p:nvPr/>
        </p:nvSpPr>
        <p:spPr>
          <a:xfrm>
            <a:off x="1097280" y="4800600"/>
            <a:ext cx="10515600" cy="914400"/>
          </a:xfrm>
          <a:prstGeom prst="roundRect">
            <a:avLst>
              <a:gd fmla="val 6000" name="adj"/>
            </a:avLst>
          </a:prstGeom>
          <a:solidFill>
            <a:srgbClr val="0A1220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2"/>
          <p:cNvSpPr/>
          <p:nvPr/>
        </p:nvSpPr>
        <p:spPr>
          <a:xfrm>
            <a:off x="1280160" y="4937760"/>
            <a:ext cx="10195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pod -A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# Everything Running? Cluster is ready.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If it breaks, kubeadm reset and start over. It's fine, we've all been there.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2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19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3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Steps 1-2: Access and describe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/>
          <p:nvPr/>
        </p:nvSpPr>
        <p:spPr>
          <a:xfrm>
            <a:off x="548640" y="128016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3"/>
          <p:cNvSpPr/>
          <p:nvPr/>
        </p:nvSpPr>
        <p:spPr>
          <a:xfrm>
            <a:off x="548640" y="1965960"/>
            <a:ext cx="4937760" cy="4206240"/>
          </a:xfrm>
          <a:prstGeom prst="roundRect">
            <a:avLst>
              <a:gd fmla="val 1739" name="adj"/>
            </a:avLst>
          </a:prstGeom>
          <a:solidFill>
            <a:srgbClr val="1A2A44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3"/>
          <p:cNvSpPr/>
          <p:nvPr/>
        </p:nvSpPr>
        <p:spPr>
          <a:xfrm>
            <a:off x="777240" y="21031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Confirm access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3"/>
          <p:cNvSpPr/>
          <p:nvPr/>
        </p:nvSpPr>
        <p:spPr>
          <a:xfrm>
            <a:off x="777240" y="2560320"/>
            <a:ext cx="4480560" cy="640080"/>
          </a:xfrm>
          <a:prstGeom prst="roundRect">
            <a:avLst>
              <a:gd fmla="val 8571" name="adj"/>
            </a:avLst>
          </a:prstGeom>
          <a:solidFill>
            <a:srgbClr val="0A1220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3"/>
          <p:cNvSpPr/>
          <p:nvPr/>
        </p:nvSpPr>
        <p:spPr>
          <a:xfrm>
            <a:off x="960120" y="2697480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nodes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3"/>
          <p:cNvSpPr/>
          <p:nvPr/>
        </p:nvSpPr>
        <p:spPr>
          <a:xfrm>
            <a:off x="777240" y="32918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Expected: two nodes, both Ready.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3"/>
          <p:cNvSpPr/>
          <p:nvPr/>
        </p:nvSpPr>
        <p:spPr>
          <a:xfrm>
            <a:off x="777240" y="3931920"/>
            <a:ext cx="4572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Sanity check that kubectl is talking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to the right cluster.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3"/>
          <p:cNvSpPr/>
          <p:nvPr/>
        </p:nvSpPr>
        <p:spPr>
          <a:xfrm>
            <a:off x="5760720" y="1965960"/>
            <a:ext cx="5897880" cy="4206240"/>
          </a:xfrm>
          <a:prstGeom prst="roundRect">
            <a:avLst>
              <a:gd fmla="val 1739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3"/>
          <p:cNvSpPr/>
          <p:nvPr/>
        </p:nvSpPr>
        <p:spPr>
          <a:xfrm>
            <a:off x="5989320" y="2103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Save as nginx-deployment.yaml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3"/>
          <p:cNvSpPr/>
          <p:nvPr/>
        </p:nvSpPr>
        <p:spPr>
          <a:xfrm>
            <a:off x="5989320" y="2560320"/>
            <a:ext cx="5486400" cy="3520440"/>
          </a:xfrm>
          <a:prstGeom prst="roundRect">
            <a:avLst>
              <a:gd fmla="val 1558" name="adj"/>
            </a:avLst>
          </a:prstGeom>
          <a:solidFill>
            <a:srgbClr val="0A1220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3"/>
          <p:cNvSpPr/>
          <p:nvPr/>
        </p:nvSpPr>
        <p:spPr>
          <a:xfrm>
            <a:off x="6172200" y="2697480"/>
            <a:ext cx="516636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apiVersion: apps/v1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kind: Deployment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metadata: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name: nginx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spec: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replicas: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selector: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matchLabels: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  app: nginx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template: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metadata: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  labels: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    app: nginx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spec: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  containers: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  - name: nginx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    image: nginx:1.25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    ports: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    - containerPort: 80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3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21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4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Steps 3-4: Apply and watch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4"/>
          <p:cNvSpPr/>
          <p:nvPr/>
        </p:nvSpPr>
        <p:spPr>
          <a:xfrm>
            <a:off x="548640" y="128016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4"/>
          <p:cNvSpPr/>
          <p:nvPr/>
        </p:nvSpPr>
        <p:spPr>
          <a:xfrm>
            <a:off x="548640" y="19659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Apply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548640" y="2377440"/>
            <a:ext cx="11091672" cy="640080"/>
          </a:xfrm>
          <a:prstGeom prst="roundRect">
            <a:avLst>
              <a:gd fmla="val 8571" name="adj"/>
            </a:avLst>
          </a:prstGeom>
          <a:solidFill>
            <a:srgbClr val="0A1220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4"/>
          <p:cNvSpPr/>
          <p:nvPr/>
        </p:nvSpPr>
        <p:spPr>
          <a:xfrm>
            <a:off x="731520" y="2514600"/>
            <a:ext cx="10771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kubectl apply -f nginx-deployment.yaml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4"/>
          <p:cNvSpPr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500"/>
              <a:buFont typeface="Courier New"/>
              <a:buNone/>
            </a:pPr>
            <a:r>
              <a:rPr b="0" i="1" lang="en-US" sz="1500" u="none" cap="none" strike="noStrike">
                <a:solidFill>
                  <a:srgbClr val="A3B0C2"/>
                </a:solidFill>
                <a:latin typeface="Courier New"/>
                <a:ea typeface="Courier New"/>
                <a:cs typeface="Courier New"/>
                <a:sym typeface="Courier New"/>
              </a:rPr>
              <a:t>Expected: deployment.apps/nginx created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548640" y="39319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Watch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4"/>
          <p:cNvSpPr/>
          <p:nvPr/>
        </p:nvSpPr>
        <p:spPr>
          <a:xfrm>
            <a:off x="548640" y="4343400"/>
            <a:ext cx="11091672" cy="640080"/>
          </a:xfrm>
          <a:prstGeom prst="roundRect">
            <a:avLst>
              <a:gd fmla="val 8571" name="adj"/>
            </a:avLst>
          </a:prstGeom>
          <a:solidFill>
            <a:srgbClr val="0A1220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4"/>
          <p:cNvSpPr/>
          <p:nvPr/>
        </p:nvSpPr>
        <p:spPr>
          <a:xfrm>
            <a:off x="731520" y="4480560"/>
            <a:ext cx="10771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pods -w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4"/>
          <p:cNvSpPr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Expected: two pods transitioning from ContainerCreating to Running.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4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22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5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5: Expose the deployment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5"/>
          <p:cNvSpPr/>
          <p:nvPr/>
        </p:nvSpPr>
        <p:spPr>
          <a:xfrm>
            <a:off x="548640" y="128016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5"/>
          <p:cNvSpPr/>
          <p:nvPr/>
        </p:nvSpPr>
        <p:spPr>
          <a:xfrm>
            <a:off x="548640" y="2011680"/>
            <a:ext cx="11091672" cy="1234440"/>
          </a:xfrm>
          <a:prstGeom prst="roundRect">
            <a:avLst>
              <a:gd fmla="val 4444" name="adj"/>
            </a:avLst>
          </a:prstGeom>
          <a:solidFill>
            <a:srgbClr val="0A1220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5"/>
          <p:cNvSpPr/>
          <p:nvPr/>
        </p:nvSpPr>
        <p:spPr>
          <a:xfrm>
            <a:off x="731520" y="2148840"/>
            <a:ext cx="1077163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kubectl expose deployment nginx --type=NodePort --port=80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svc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5"/>
          <p:cNvSpPr/>
          <p:nvPr/>
        </p:nvSpPr>
        <p:spPr>
          <a:xfrm>
            <a:off x="548640" y="34290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Look for the NodePort (e.g. 32104). Then: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5"/>
          <p:cNvSpPr/>
          <p:nvPr/>
        </p:nvSpPr>
        <p:spPr>
          <a:xfrm>
            <a:off x="548640" y="3886200"/>
            <a:ext cx="11091672" cy="685800"/>
          </a:xfrm>
          <a:prstGeom prst="roundRect">
            <a:avLst>
              <a:gd fmla="val 8000" name="adj"/>
            </a:avLst>
          </a:prstGeom>
          <a:solidFill>
            <a:srgbClr val="0A1220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5"/>
          <p:cNvSpPr/>
          <p:nvPr/>
        </p:nvSpPr>
        <p:spPr>
          <a:xfrm>
            <a:off x="731520" y="4023360"/>
            <a:ext cx="107716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curl http://&lt;node-ip&gt;:&lt;nodeport&gt;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5"/>
          <p:cNvSpPr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Expected: the nginx welcome page.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5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23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6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STEP 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6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Watch it heal itself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1371600" y="2468880"/>
            <a:ext cx="9418320" cy="1280160"/>
          </a:xfrm>
          <a:prstGeom prst="roundRect">
            <a:avLst>
              <a:gd fmla="val 4286" name="adj"/>
            </a:avLst>
          </a:prstGeom>
          <a:solidFill>
            <a:srgbClr val="0A1220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6"/>
          <p:cNvSpPr/>
          <p:nvPr/>
        </p:nvSpPr>
        <p:spPr>
          <a:xfrm>
            <a:off x="1554480" y="2606040"/>
            <a:ext cx="9098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kubectl delete pod &lt;pod-name&gt;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pods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6"/>
          <p:cNvSpPr/>
          <p:nvPr/>
        </p:nvSpPr>
        <p:spPr>
          <a:xfrm>
            <a:off x="548640" y="4114800"/>
            <a:ext cx="11091672" cy="2011680"/>
          </a:xfrm>
          <a:prstGeom prst="roundRect">
            <a:avLst>
              <a:gd fmla="val 3636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6"/>
          <p:cNvSpPr/>
          <p:nvPr/>
        </p:nvSpPr>
        <p:spPr>
          <a:xfrm>
            <a:off x="822960" y="4160520"/>
            <a:ext cx="105613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You did not tell it to restart.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FF9900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It restarted the pod because the description said two,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FF9900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and reality had drifted to one.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24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7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Steps 7-8: Scale and clean up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7"/>
          <p:cNvSpPr/>
          <p:nvPr/>
        </p:nvSpPr>
        <p:spPr>
          <a:xfrm>
            <a:off x="548640" y="128016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7"/>
          <p:cNvSpPr/>
          <p:nvPr/>
        </p:nvSpPr>
        <p:spPr>
          <a:xfrm>
            <a:off x="548640" y="19659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Scale up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7"/>
          <p:cNvSpPr/>
          <p:nvPr/>
        </p:nvSpPr>
        <p:spPr>
          <a:xfrm>
            <a:off x="548640" y="2377440"/>
            <a:ext cx="11091672" cy="1234440"/>
          </a:xfrm>
          <a:prstGeom prst="roundRect">
            <a:avLst>
              <a:gd fmla="val 4444" name="adj"/>
            </a:avLst>
          </a:prstGeom>
          <a:solidFill>
            <a:srgbClr val="0A1220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7"/>
          <p:cNvSpPr/>
          <p:nvPr/>
        </p:nvSpPr>
        <p:spPr>
          <a:xfrm>
            <a:off x="731520" y="2514600"/>
            <a:ext cx="1077163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kubectl scale deployment nginx --replicas=4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pods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7"/>
          <p:cNvSpPr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Clean up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7"/>
          <p:cNvSpPr/>
          <p:nvPr/>
        </p:nvSpPr>
        <p:spPr>
          <a:xfrm>
            <a:off x="548640" y="4206240"/>
            <a:ext cx="11091672" cy="1234440"/>
          </a:xfrm>
          <a:prstGeom prst="roundRect">
            <a:avLst>
              <a:gd fmla="val 4444" name="adj"/>
            </a:avLst>
          </a:prstGeom>
          <a:solidFill>
            <a:srgbClr val="0A1220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7"/>
          <p:cNvSpPr/>
          <p:nvPr/>
        </p:nvSpPr>
        <p:spPr>
          <a:xfrm>
            <a:off x="731520" y="4343400"/>
            <a:ext cx="1077163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kubectl delete deployment nginx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kubectl delete service nginx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Same eight commands, same concepts. Only the substrate changed.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7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25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8"/>
          <p:cNvSpPr/>
          <p:nvPr/>
        </p:nvSpPr>
        <p:spPr>
          <a:xfrm>
            <a:off x="548640" y="22860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SECTION 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8"/>
          <p:cNvSpPr/>
          <p:nvPr/>
        </p:nvSpPr>
        <p:spPr>
          <a:xfrm>
            <a:off x="548640" y="2743200"/>
            <a:ext cx="1109167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was actually running underneath?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8"/>
          <p:cNvSpPr/>
          <p:nvPr/>
        </p:nvSpPr>
        <p:spPr>
          <a:xfrm>
            <a:off x="548640" y="411480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A tour of the AWS services behind tonight's cluster.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8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26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9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EC2 and VPC: machines and network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9"/>
          <p:cNvSpPr/>
          <p:nvPr/>
        </p:nvSpPr>
        <p:spPr>
          <a:xfrm>
            <a:off x="548640" y="128016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9"/>
          <p:cNvSpPr/>
          <p:nvPr/>
        </p:nvSpPr>
        <p:spPr>
          <a:xfrm>
            <a:off x="548640" y="1965960"/>
            <a:ext cx="5394960" cy="4206240"/>
          </a:xfrm>
          <a:prstGeom prst="roundRect">
            <a:avLst>
              <a:gd fmla="val 1739" name="adj"/>
            </a:avLst>
          </a:prstGeom>
          <a:solidFill>
            <a:srgbClr val="1A2A44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9"/>
          <p:cNvSpPr/>
          <p:nvPr/>
        </p:nvSpPr>
        <p:spPr>
          <a:xfrm>
            <a:off x="777240" y="2103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EC2: the machines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9"/>
          <p:cNvSpPr/>
          <p:nvPr/>
        </p:nvSpPr>
        <p:spPr>
          <a:xfrm>
            <a:off x="777240" y="2848356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9"/>
          <p:cNvSpPr/>
          <p:nvPr/>
        </p:nvSpPr>
        <p:spPr>
          <a:xfrm>
            <a:off x="1097280" y="2697480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Two t3.large instances (2 vCPU, 8GB RAM)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9"/>
          <p:cNvSpPr/>
          <p:nvPr/>
        </p:nvSpPr>
        <p:spPr>
          <a:xfrm>
            <a:off x="777240" y="3534156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9"/>
          <p:cNvSpPr/>
          <p:nvPr/>
        </p:nvSpPr>
        <p:spPr>
          <a:xfrm>
            <a:off x="1097280" y="3383280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Ubuntu 22.04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9"/>
          <p:cNvSpPr/>
          <p:nvPr/>
        </p:nvSpPr>
        <p:spPr>
          <a:xfrm>
            <a:off x="777240" y="4219956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9"/>
          <p:cNvSpPr/>
          <p:nvPr/>
        </p:nvSpPr>
        <p:spPr>
          <a:xfrm>
            <a:off x="1097280" y="4069080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One control plane, one worker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9"/>
          <p:cNvSpPr/>
          <p:nvPr/>
        </p:nvSpPr>
        <p:spPr>
          <a:xfrm>
            <a:off x="777240" y="4905756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9"/>
          <p:cNvSpPr/>
          <p:nvPr/>
        </p:nvSpPr>
        <p:spPr>
          <a:xfrm>
            <a:off x="1097280" y="4754880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Same idea as a VPS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9"/>
          <p:cNvSpPr/>
          <p:nvPr/>
        </p:nvSpPr>
        <p:spPr>
          <a:xfrm>
            <a:off x="6217920" y="1965960"/>
            <a:ext cx="5440680" cy="4206240"/>
          </a:xfrm>
          <a:prstGeom prst="roundRect">
            <a:avLst>
              <a:gd fmla="val 1739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9"/>
          <p:cNvSpPr/>
          <p:nvPr/>
        </p:nvSpPr>
        <p:spPr>
          <a:xfrm>
            <a:off x="6446520" y="2103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VPC: the network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9"/>
          <p:cNvSpPr/>
          <p:nvPr/>
        </p:nvSpPr>
        <p:spPr>
          <a:xfrm>
            <a:off x="6446520" y="2848356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9"/>
          <p:cNvSpPr/>
          <p:nvPr/>
        </p:nvSpPr>
        <p:spPr>
          <a:xfrm>
            <a:off x="6766560" y="2697480"/>
            <a:ext cx="4709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Range: 10.0.0.0/16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9"/>
          <p:cNvSpPr/>
          <p:nvPr/>
        </p:nvSpPr>
        <p:spPr>
          <a:xfrm>
            <a:off x="6446520" y="3534156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9"/>
          <p:cNvSpPr/>
          <p:nvPr/>
        </p:nvSpPr>
        <p:spPr>
          <a:xfrm>
            <a:off x="6766560" y="3383280"/>
            <a:ext cx="4709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Two public subnets, two AZs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9"/>
          <p:cNvSpPr/>
          <p:nvPr/>
        </p:nvSpPr>
        <p:spPr>
          <a:xfrm>
            <a:off x="6446520" y="4219956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9"/>
          <p:cNvSpPr/>
          <p:nvPr/>
        </p:nvSpPr>
        <p:spPr>
          <a:xfrm>
            <a:off x="6766560" y="4069080"/>
            <a:ext cx="4709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Internet gateway for external access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9"/>
          <p:cNvSpPr/>
          <p:nvPr/>
        </p:nvSpPr>
        <p:spPr>
          <a:xfrm>
            <a:off x="6446520" y="4905756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9"/>
          <p:cNvSpPr/>
          <p:nvPr/>
        </p:nvSpPr>
        <p:spPr>
          <a:xfrm>
            <a:off x="6766560" y="4754880"/>
            <a:ext cx="4709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Everything else in AWS lives inside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9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28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Security groups: firewalls on resources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0"/>
          <p:cNvSpPr/>
          <p:nvPr/>
        </p:nvSpPr>
        <p:spPr>
          <a:xfrm>
            <a:off x="548640" y="128016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0"/>
          <p:cNvSpPr/>
          <p:nvPr/>
        </p:nvSpPr>
        <p:spPr>
          <a:xfrm>
            <a:off x="548640" y="1965960"/>
            <a:ext cx="5394960" cy="3657600"/>
          </a:xfrm>
          <a:prstGeom prst="roundRect">
            <a:avLst>
              <a:gd fmla="val 2000" name="adj"/>
            </a:avLst>
          </a:prstGeom>
          <a:solidFill>
            <a:srgbClr val="1A2A44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0"/>
          <p:cNvSpPr/>
          <p:nvPr/>
        </p:nvSpPr>
        <p:spPr>
          <a:xfrm>
            <a:off x="777240" y="2103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Open to the internet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0"/>
          <p:cNvSpPr/>
          <p:nvPr/>
        </p:nvSpPr>
        <p:spPr>
          <a:xfrm>
            <a:off x="777240" y="278892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0"/>
          <p:cNvSpPr/>
          <p:nvPr/>
        </p:nvSpPr>
        <p:spPr>
          <a:xfrm>
            <a:off x="1005840" y="26974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700"/>
              <a:buFont typeface="Courier New"/>
              <a:buNone/>
            </a:pPr>
            <a:r>
              <a:rPr b="0" i="0" lang="en-US" sz="17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22  (SSH)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0"/>
          <p:cNvSpPr/>
          <p:nvPr/>
        </p:nvSpPr>
        <p:spPr>
          <a:xfrm>
            <a:off x="777240" y="338328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0"/>
          <p:cNvSpPr/>
          <p:nvPr/>
        </p:nvSpPr>
        <p:spPr>
          <a:xfrm>
            <a:off x="1005840" y="32918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700"/>
              <a:buFont typeface="Courier New"/>
              <a:buNone/>
            </a:pPr>
            <a:r>
              <a:rPr b="0" i="0" lang="en-US" sz="17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80  (HTTP)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0"/>
          <p:cNvSpPr/>
          <p:nvPr/>
        </p:nvSpPr>
        <p:spPr>
          <a:xfrm>
            <a:off x="777240" y="397764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0"/>
          <p:cNvSpPr/>
          <p:nvPr/>
        </p:nvSpPr>
        <p:spPr>
          <a:xfrm>
            <a:off x="1005840" y="38862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700"/>
              <a:buFont typeface="Courier New"/>
              <a:buNone/>
            </a:pPr>
            <a:r>
              <a:rPr b="0" i="0" lang="en-US" sz="17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443 (HTTPS)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0"/>
          <p:cNvSpPr/>
          <p:nvPr/>
        </p:nvSpPr>
        <p:spPr>
          <a:xfrm>
            <a:off x="777240" y="457200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0"/>
          <p:cNvSpPr/>
          <p:nvPr/>
        </p:nvSpPr>
        <p:spPr>
          <a:xfrm>
            <a:off x="1005840" y="44805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700"/>
              <a:buFont typeface="Courier New"/>
              <a:buNone/>
            </a:pPr>
            <a:r>
              <a:rPr b="0" i="0" lang="en-US" sz="17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30000-32767  (NodePorts)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0"/>
          <p:cNvSpPr/>
          <p:nvPr/>
        </p:nvSpPr>
        <p:spPr>
          <a:xfrm>
            <a:off x="6217920" y="1965960"/>
            <a:ext cx="5440680" cy="3657600"/>
          </a:xfrm>
          <a:prstGeom prst="roundRect">
            <a:avLst>
              <a:gd fmla="val 2000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0"/>
          <p:cNvSpPr/>
          <p:nvPr/>
        </p:nvSpPr>
        <p:spPr>
          <a:xfrm>
            <a:off x="6446520" y="2103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Restricted to node-to-node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0"/>
          <p:cNvSpPr/>
          <p:nvPr/>
        </p:nvSpPr>
        <p:spPr>
          <a:xfrm>
            <a:off x="6446520" y="278892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0"/>
          <p:cNvSpPr/>
          <p:nvPr/>
        </p:nvSpPr>
        <p:spPr>
          <a:xfrm>
            <a:off x="6675120" y="26974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700"/>
              <a:buFont typeface="Courier New"/>
              <a:buNone/>
            </a:pPr>
            <a:r>
              <a:rPr b="0" i="0" lang="en-US" sz="17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6443  (Kubernetes API)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0"/>
          <p:cNvSpPr/>
          <p:nvPr/>
        </p:nvSpPr>
        <p:spPr>
          <a:xfrm>
            <a:off x="6446520" y="338328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0"/>
          <p:cNvSpPr/>
          <p:nvPr/>
        </p:nvSpPr>
        <p:spPr>
          <a:xfrm>
            <a:off x="6675120" y="32918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700"/>
              <a:buFont typeface="Courier New"/>
              <a:buNone/>
            </a:pPr>
            <a:r>
              <a:rPr b="0" i="0" lang="en-US" sz="17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etcd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0"/>
          <p:cNvSpPr/>
          <p:nvPr/>
        </p:nvSpPr>
        <p:spPr>
          <a:xfrm>
            <a:off x="6446520" y="397764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0"/>
          <p:cNvSpPr/>
          <p:nvPr/>
        </p:nvSpPr>
        <p:spPr>
          <a:xfrm>
            <a:off x="6675120" y="38862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700"/>
              <a:buFont typeface="Courier New"/>
              <a:buNone/>
            </a:pPr>
            <a:r>
              <a:rPr b="0" i="0" lang="en-US" sz="17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kubelet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0"/>
          <p:cNvSpPr/>
          <p:nvPr/>
        </p:nvSpPr>
        <p:spPr>
          <a:xfrm>
            <a:off x="6446520" y="457200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0"/>
          <p:cNvSpPr/>
          <p:nvPr/>
        </p:nvSpPr>
        <p:spPr>
          <a:xfrm>
            <a:off x="6675120" y="44805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700"/>
              <a:buFont typeface="Courier New"/>
              <a:buNone/>
            </a:pPr>
            <a:r>
              <a:rPr b="0" i="0" lang="en-US" sz="17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Flannel overlay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0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Stateful: if traffic is allowed in, the response goes back automatically.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0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29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1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Route 53 and ACM: DNS and certificates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1"/>
          <p:cNvSpPr/>
          <p:nvPr/>
        </p:nvSpPr>
        <p:spPr>
          <a:xfrm>
            <a:off x="548640" y="128016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1"/>
          <p:cNvSpPr/>
          <p:nvPr/>
        </p:nvSpPr>
        <p:spPr>
          <a:xfrm>
            <a:off x="548640" y="1965960"/>
            <a:ext cx="5394960" cy="3657600"/>
          </a:xfrm>
          <a:prstGeom prst="roundRect">
            <a:avLst>
              <a:gd fmla="val 2000" name="adj"/>
            </a:avLst>
          </a:prstGeom>
          <a:solidFill>
            <a:srgbClr val="1A2A44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1"/>
          <p:cNvSpPr/>
          <p:nvPr/>
        </p:nvSpPr>
        <p:spPr>
          <a:xfrm>
            <a:off x="777240" y="2103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Route 53: DNS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1"/>
          <p:cNvSpPr/>
          <p:nvPr/>
        </p:nvSpPr>
        <p:spPr>
          <a:xfrm>
            <a:off x="777240" y="283921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1"/>
          <p:cNvSpPr/>
          <p:nvPr/>
        </p:nvSpPr>
        <p:spPr>
          <a:xfrm>
            <a:off x="1097280" y="2697480"/>
            <a:ext cx="4617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Hosted zone for sallymunga.me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1"/>
          <p:cNvSpPr/>
          <p:nvPr/>
        </p:nvSpPr>
        <p:spPr>
          <a:xfrm>
            <a:off x="777240" y="357073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1"/>
          <p:cNvSpPr/>
          <p:nvPr/>
        </p:nvSpPr>
        <p:spPr>
          <a:xfrm>
            <a:off x="1097280" y="3429000"/>
            <a:ext cx="4617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A record points at the control plane's public IP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1"/>
          <p:cNvSpPr/>
          <p:nvPr/>
        </p:nvSpPr>
        <p:spPr>
          <a:xfrm>
            <a:off x="777240" y="430225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1"/>
          <p:cNvSpPr/>
          <p:nvPr/>
        </p:nvSpPr>
        <p:spPr>
          <a:xfrm>
            <a:off x="1097280" y="4160520"/>
            <a:ext cx="4617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Domain registered at Namecheap, DNS at Route 53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1"/>
          <p:cNvSpPr/>
          <p:nvPr/>
        </p:nvSpPr>
        <p:spPr>
          <a:xfrm>
            <a:off x="6217920" y="1965960"/>
            <a:ext cx="5440680" cy="3657600"/>
          </a:xfrm>
          <a:prstGeom prst="roundRect">
            <a:avLst>
              <a:gd fmla="val 2000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1"/>
          <p:cNvSpPr/>
          <p:nvPr/>
        </p:nvSpPr>
        <p:spPr>
          <a:xfrm>
            <a:off x="6446520" y="2103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ACM: TLS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1"/>
          <p:cNvSpPr/>
          <p:nvPr/>
        </p:nvSpPr>
        <p:spPr>
          <a:xfrm>
            <a:off x="6446520" y="283921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1"/>
          <p:cNvSpPr/>
          <p:nvPr/>
        </p:nvSpPr>
        <p:spPr>
          <a:xfrm>
            <a:off x="6766560" y="2697480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Free certificates for AWS services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1"/>
          <p:cNvSpPr/>
          <p:nvPr/>
        </p:nvSpPr>
        <p:spPr>
          <a:xfrm>
            <a:off x="6446520" y="357073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1"/>
          <p:cNvSpPr/>
          <p:nvPr/>
        </p:nvSpPr>
        <p:spPr>
          <a:xfrm>
            <a:off x="6766560" y="3429000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Auto-renewing, no manual 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1"/>
          <p:cNvSpPr/>
          <p:nvPr/>
        </p:nvSpPr>
        <p:spPr>
          <a:xfrm>
            <a:off x="6446520" y="430225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1"/>
          <p:cNvSpPr/>
          <p:nvPr/>
        </p:nvSpPr>
        <p:spPr>
          <a:xfrm>
            <a:off x="6766560" y="4160520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Validated via a DNS record in Route 53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1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This replaces certbot and cron jobs from the VPS demo.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1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30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ECR and IAM: images and permissions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2"/>
          <p:cNvSpPr/>
          <p:nvPr/>
        </p:nvSpPr>
        <p:spPr>
          <a:xfrm>
            <a:off x="548640" y="128016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2"/>
          <p:cNvSpPr/>
          <p:nvPr/>
        </p:nvSpPr>
        <p:spPr>
          <a:xfrm>
            <a:off x="548640" y="1965960"/>
            <a:ext cx="5394960" cy="3657600"/>
          </a:xfrm>
          <a:prstGeom prst="roundRect">
            <a:avLst>
              <a:gd fmla="val 2000" name="adj"/>
            </a:avLst>
          </a:prstGeom>
          <a:solidFill>
            <a:srgbClr val="1A2A44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2"/>
          <p:cNvSpPr/>
          <p:nvPr/>
        </p:nvSpPr>
        <p:spPr>
          <a:xfrm>
            <a:off x="777240" y="2103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ECR: image registry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2"/>
          <p:cNvSpPr/>
          <p:nvPr/>
        </p:nvSpPr>
        <p:spPr>
          <a:xfrm>
            <a:off x="777240" y="283921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2"/>
          <p:cNvSpPr/>
          <p:nvPr/>
        </p:nvSpPr>
        <p:spPr>
          <a:xfrm>
            <a:off x="1097280" y="2697480"/>
            <a:ext cx="4617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Private Docker registry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2"/>
          <p:cNvSpPr/>
          <p:nvPr/>
        </p:nvSpPr>
        <p:spPr>
          <a:xfrm>
            <a:off x="777240" y="357073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2"/>
          <p:cNvSpPr/>
          <p:nvPr/>
        </p:nvSpPr>
        <p:spPr>
          <a:xfrm>
            <a:off x="1097280" y="3429000"/>
            <a:ext cx="4617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Where you push, cluster pulls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2"/>
          <p:cNvSpPr/>
          <p:nvPr/>
        </p:nvSpPr>
        <p:spPr>
          <a:xfrm>
            <a:off x="777240" y="430225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2"/>
          <p:cNvSpPr/>
          <p:nvPr/>
        </p:nvSpPr>
        <p:spPr>
          <a:xfrm>
            <a:off x="1097280" y="4160520"/>
            <a:ext cx="4617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ECR stores; EC2/EKS/ECS runs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2"/>
          <p:cNvSpPr/>
          <p:nvPr/>
        </p:nvSpPr>
        <p:spPr>
          <a:xfrm>
            <a:off x="6217920" y="1965960"/>
            <a:ext cx="5440680" cy="3657600"/>
          </a:xfrm>
          <a:prstGeom prst="roundRect">
            <a:avLst>
              <a:gd fmla="val 2000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2"/>
          <p:cNvSpPr/>
          <p:nvPr/>
        </p:nvSpPr>
        <p:spPr>
          <a:xfrm>
            <a:off x="6446520" y="2103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IAM: access control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2"/>
          <p:cNvSpPr/>
          <p:nvPr/>
        </p:nvSpPr>
        <p:spPr>
          <a:xfrm>
            <a:off x="6446520" y="283921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2"/>
          <p:cNvSpPr/>
          <p:nvPr/>
        </p:nvSpPr>
        <p:spPr>
          <a:xfrm>
            <a:off x="6766560" y="2697480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Nothing in AWS is allowed by default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2"/>
          <p:cNvSpPr/>
          <p:nvPr/>
        </p:nvSpPr>
        <p:spPr>
          <a:xfrm>
            <a:off x="6446520" y="343357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2"/>
          <p:cNvSpPr/>
          <p:nvPr/>
        </p:nvSpPr>
        <p:spPr>
          <a:xfrm>
            <a:off x="6766560" y="3291840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Our nodes have a scoped role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2"/>
          <p:cNvSpPr/>
          <p:nvPr/>
        </p:nvSpPr>
        <p:spPr>
          <a:xfrm>
            <a:off x="6446520" y="402793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2"/>
          <p:cNvSpPr/>
          <p:nvPr/>
        </p:nvSpPr>
        <p:spPr>
          <a:xfrm>
            <a:off x="6766560" y="3886200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Can read/write one specific parameter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2"/>
          <p:cNvSpPr/>
          <p:nvPr/>
        </p:nvSpPr>
        <p:spPr>
          <a:xfrm>
            <a:off x="6446520" y="4622292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2"/>
          <p:cNvSpPr/>
          <p:nvPr/>
        </p:nvSpPr>
        <p:spPr>
          <a:xfrm>
            <a:off x="6766560" y="4480560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No broader access anywhere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2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Principle of least privilege. Give exactly the permissions needed.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2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31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3"/>
          <p:cNvSpPr/>
          <p:nvPr/>
        </p:nvSpPr>
        <p:spPr>
          <a:xfrm>
            <a:off x="548640" y="1280160"/>
            <a:ext cx="1109167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Kubernetes describes</a:t>
            </a:r>
            <a:b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world you want.</a:t>
            </a:r>
            <a:b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Everything else is machinery</a:t>
            </a:r>
            <a:br>
              <a:rPr b="1" i="0" lang="en-US" sz="4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keeping reality matched.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3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32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4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If you want to keep learning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4"/>
          <p:cNvSpPr/>
          <p:nvPr/>
        </p:nvSpPr>
        <p:spPr>
          <a:xfrm>
            <a:off x="548640" y="1280160"/>
            <a:ext cx="128016" cy="128016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4"/>
          <p:cNvSpPr/>
          <p:nvPr/>
        </p:nvSpPr>
        <p:spPr>
          <a:xfrm>
            <a:off x="548640" y="1965960"/>
            <a:ext cx="5394960" cy="4206240"/>
          </a:xfrm>
          <a:prstGeom prst="roundRect">
            <a:avLst>
              <a:gd fmla="val 1739" name="adj"/>
            </a:avLst>
          </a:prstGeom>
          <a:solidFill>
            <a:srgbClr val="1A2A44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4"/>
          <p:cNvSpPr/>
          <p:nvPr/>
        </p:nvSpPr>
        <p:spPr>
          <a:xfrm>
            <a:off x="777240" y="2103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Kubernetes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4"/>
          <p:cNvSpPr/>
          <p:nvPr/>
        </p:nvSpPr>
        <p:spPr>
          <a:xfrm>
            <a:off x="777240" y="2843784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4"/>
          <p:cNvSpPr/>
          <p:nvPr/>
        </p:nvSpPr>
        <p:spPr>
          <a:xfrm>
            <a:off x="1097280" y="2697480"/>
            <a:ext cx="4617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Install minikube this weekend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4"/>
          <p:cNvSpPr/>
          <p:nvPr/>
        </p:nvSpPr>
        <p:spPr>
          <a:xfrm>
            <a:off x="777240" y="3621024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4"/>
          <p:cNvSpPr/>
          <p:nvPr/>
        </p:nvSpPr>
        <p:spPr>
          <a:xfrm>
            <a:off x="1097280" y="3474720"/>
            <a:ext cx="4617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Run the eight commands on your own laptop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4"/>
          <p:cNvSpPr/>
          <p:nvPr/>
        </p:nvSpPr>
        <p:spPr>
          <a:xfrm>
            <a:off x="777240" y="4398264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4"/>
          <p:cNvSpPr/>
          <p:nvPr/>
        </p:nvSpPr>
        <p:spPr>
          <a:xfrm>
            <a:off x="1097280" y="4251960"/>
            <a:ext cx="4617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Read the official docs "Concepts" section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4"/>
          <p:cNvSpPr/>
          <p:nvPr/>
        </p:nvSpPr>
        <p:spPr>
          <a:xfrm>
            <a:off x="777240" y="5175504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4"/>
          <p:cNvSpPr/>
          <p:nvPr/>
        </p:nvSpPr>
        <p:spPr>
          <a:xfrm>
            <a:off x="1097280" y="5029200"/>
            <a:ext cx="4617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Deploy something you care about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4"/>
          <p:cNvSpPr/>
          <p:nvPr/>
        </p:nvSpPr>
        <p:spPr>
          <a:xfrm>
            <a:off x="6217920" y="1965960"/>
            <a:ext cx="5440680" cy="4206240"/>
          </a:xfrm>
          <a:prstGeom prst="roundRect">
            <a:avLst>
              <a:gd fmla="val 1739" name="adj"/>
            </a:avLst>
          </a:prstGeom>
          <a:solidFill>
            <a:srgbClr val="22344F"/>
          </a:solidFill>
          <a:ln cap="flat" cmpd="sng" w="9525">
            <a:solidFill>
              <a:srgbClr val="2D3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4"/>
          <p:cNvSpPr/>
          <p:nvPr/>
        </p:nvSpPr>
        <p:spPr>
          <a:xfrm>
            <a:off x="6446520" y="2103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AWS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4"/>
          <p:cNvSpPr/>
          <p:nvPr/>
        </p:nvSpPr>
        <p:spPr>
          <a:xfrm>
            <a:off x="6446520" y="2843784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4"/>
          <p:cNvSpPr/>
          <p:nvPr/>
        </p:nvSpPr>
        <p:spPr>
          <a:xfrm>
            <a:off x="6766560" y="2697480"/>
            <a:ext cx="4709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Solutions Architect Associate certification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4"/>
          <p:cNvSpPr/>
          <p:nvPr/>
        </p:nvSpPr>
        <p:spPr>
          <a:xfrm>
            <a:off x="6446520" y="3712464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4"/>
          <p:cNvSpPr/>
          <p:nvPr/>
        </p:nvSpPr>
        <p:spPr>
          <a:xfrm>
            <a:off x="6766560" y="3566160"/>
            <a:ext cx="4709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Build a personal project using EC2, VPC, ACM, Route 53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4"/>
          <p:cNvSpPr/>
          <p:nvPr/>
        </p:nvSpPr>
        <p:spPr>
          <a:xfrm>
            <a:off x="6446520" y="4581144"/>
            <a:ext cx="146304" cy="146304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4"/>
          <p:cNvSpPr/>
          <p:nvPr/>
        </p:nvSpPr>
        <p:spPr>
          <a:xfrm>
            <a:off x="6766560" y="4434840"/>
            <a:ext cx="4709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2F4F7"/>
                </a:solidFill>
                <a:latin typeface="Calibri"/>
                <a:ea typeface="Calibri"/>
                <a:cs typeface="Calibri"/>
                <a:sym typeface="Calibri"/>
              </a:rPr>
              <a:t>You saw the shape tonight. Now build one.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4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34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5"/>
          <p:cNvSpPr/>
          <p:nvPr/>
        </p:nvSpPr>
        <p:spPr>
          <a:xfrm>
            <a:off x="548640" y="2011680"/>
            <a:ext cx="1109167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5"/>
          <p:cNvSpPr/>
          <p:nvPr/>
        </p:nvSpPr>
        <p:spPr>
          <a:xfrm>
            <a:off x="548640" y="3383280"/>
            <a:ext cx="1109167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5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B0C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3B0C2"/>
                </a:solidFill>
                <a:latin typeface="Calibri"/>
                <a:ea typeface="Calibri"/>
                <a:cs typeface="Calibri"/>
                <a:sym typeface="Calibri"/>
              </a:rPr>
              <a:t>Lwala  //  Cloud Forge Week 6  //  AWS Student Builder Group, Egerton University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5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3"/>
                </a:solidFill>
                <a:latin typeface="Calibri"/>
                <a:ea typeface="Calibri"/>
                <a:cs typeface="Calibri"/>
                <a:sym typeface="Calibri"/>
              </a:rPr>
              <a:t>35 /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